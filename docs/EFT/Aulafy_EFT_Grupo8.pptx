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3A1635-8C5A-4749-81F5-ADA47383A0AA}" v="3" dt="2026-07-19T15:48:26.1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0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4836EE1-6516-4B6D-B4DF-CF9E459B9A3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‹Nº›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C317F15-B543-43EE-AE06-0B18AA8BF46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F4C2035-B364-4253-9CD2-A73087F3724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FAB32FE-1167-43C9-9C8E-984576C7344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FA406F-FD15-4070-9007-1298FDCC14B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36F6E6-904B-442F-9316-C0111B5FFC1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F526E6-DE53-41E2-B4CC-43D96ABBB81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E44FEC0-4715-4665-895C-8D8425AA8DC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5E61F9-48E6-4FAE-9F51-1C70FE1F019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B0E591-C6C5-4A1A-88A2-2BE29497389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34AE539-0987-441E-9238-080C8F55658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34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57D99D"/>
          </a:solidFill>
          <a:ln w="12600">
            <a:solidFill>
              <a:srgbClr val="57D9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804600" y="297987"/>
            <a:ext cx="2084400" cy="347040"/>
          </a:xfrm>
          <a:prstGeom prst="rect">
            <a:avLst/>
          </a:prstGeom>
          <a:solidFill>
            <a:srgbClr val="57D99D"/>
          </a:solidFill>
          <a:ln w="0">
            <a:solidFill>
              <a:srgbClr val="57D99D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0" b="1" u="none" strike="noStrike" dirty="0">
                <a:solidFill>
                  <a:srgbClr val="0B2440"/>
                </a:solidFill>
                <a:effectLst/>
                <a:uFillTx/>
                <a:latin typeface="Aptos"/>
              </a:rPr>
              <a:t>EFT · Presentación final · 15 </a:t>
            </a:r>
            <a:r>
              <a:rPr lang="en-US" sz="830" b="1" u="none" strike="noStrike" dirty="0" err="1">
                <a:solidFill>
                  <a:srgbClr val="0B2440"/>
                </a:solidFill>
                <a:effectLst/>
                <a:uFillTx/>
                <a:latin typeface="Aptos"/>
              </a:rPr>
              <a:t>minutos</a:t>
            </a:r>
            <a:endParaRPr lang="en-US" sz="83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777240" y="1874520"/>
            <a:ext cx="34743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Aulafy</a:t>
            </a:r>
            <a:endParaRPr lang="en-US" sz="7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804600" y="2587680"/>
            <a:ext cx="42058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D9EAF7"/>
                </a:solidFill>
                <a:effectLst/>
                <a:uFillTx/>
                <a:latin typeface="Aptos"/>
              </a:rPr>
              <a:t>Plataforma web de comunicación y gestión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D9EAF7"/>
                </a:solidFill>
                <a:effectLst/>
                <a:uFillTx/>
                <a:latin typeface="Aptos"/>
              </a:rPr>
              <a:t>académica escolar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6306270" y="2865963"/>
            <a:ext cx="43887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 dirty="0">
                <a:solidFill>
                  <a:srgbClr val="D9EAF7"/>
                </a:solidFill>
                <a:effectLst/>
                <a:uFillTx/>
                <a:latin typeface="Aptos"/>
              </a:rPr>
              <a:t>Sistema </a:t>
            </a:r>
            <a:r>
              <a:rPr lang="en-US" sz="2400" b="1" u="none" strike="noStrike" dirty="0" err="1">
                <a:solidFill>
                  <a:srgbClr val="D9EAF7"/>
                </a:solidFill>
                <a:effectLst/>
                <a:uFillTx/>
                <a:latin typeface="Aptos"/>
              </a:rPr>
              <a:t>desplegado</a:t>
            </a:r>
            <a:r>
              <a:rPr lang="en-US" sz="2400" b="1" u="none" strike="noStrike" dirty="0">
                <a:solidFill>
                  <a:srgbClr val="D9EAF7"/>
                </a:solidFill>
                <a:effectLst/>
                <a:uFillTx/>
                <a:latin typeface="Aptos"/>
              </a:rPr>
              <a:t> </a:t>
            </a:r>
            <a:r>
              <a:rPr lang="en-US" sz="2400" b="1" u="none" strike="noStrike" dirty="0" err="1">
                <a:solidFill>
                  <a:srgbClr val="D9EAF7"/>
                </a:solidFill>
                <a:effectLst/>
                <a:uFillTx/>
                <a:latin typeface="Aptos"/>
              </a:rPr>
              <a:t>en</a:t>
            </a:r>
            <a:r>
              <a:rPr lang="en-US" sz="2400" b="1" u="none" strike="noStrike" dirty="0">
                <a:solidFill>
                  <a:srgbClr val="D9EAF7"/>
                </a:solidFill>
                <a:effectLst/>
                <a:uFillTx/>
                <a:latin typeface="Aptos"/>
              </a:rPr>
              <a:t> AWS</a:t>
            </a:r>
            <a:endParaRPr lang="en-US" sz="2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6306270" y="3231723"/>
            <a:ext cx="43887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9EAF7"/>
                </a:solidFill>
                <a:effectLst/>
                <a:uFillTx/>
                <a:latin typeface="Aptos"/>
              </a:rPr>
              <a:t>Angular 21 · NestJS 11 · Node 22 · MySQL 8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4367316" y="3963308"/>
            <a:ext cx="2121424" cy="1026609"/>
          </a:xfrm>
          <a:prstGeom prst="rect">
            <a:avLst/>
          </a:prstGeom>
          <a:solidFill>
            <a:srgbClr val="1F7BCB"/>
          </a:solidFill>
          <a:ln w="0">
            <a:solidFill>
              <a:srgbClr val="1F7BC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Frontend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Amazon S3 · Angular SPA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6867559" y="3971638"/>
            <a:ext cx="2272259" cy="1007683"/>
          </a:xfrm>
          <a:prstGeom prst="rect">
            <a:avLst/>
          </a:prstGeom>
          <a:solidFill>
            <a:srgbClr val="F2AA00"/>
          </a:solidFill>
          <a:ln w="0">
            <a:solidFill>
              <a:srgbClr val="F2AA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Backend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Elastic Beanstalk · API REST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9526858" y="3954917"/>
            <a:ext cx="1929265" cy="1024404"/>
          </a:xfrm>
          <a:prstGeom prst="rect">
            <a:avLst/>
          </a:prstGeom>
          <a:solidFill>
            <a:srgbClr val="1E8848"/>
          </a:solidFill>
          <a:ln w="0">
            <a:solidFill>
              <a:srgbClr val="1E884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Datos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Amazon </a:t>
            </a:r>
            <a:r>
              <a:rPr lang="en-US" sz="160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RDS</a:t>
            </a:r>
            <a:r>
              <a:rPr lang="en-US" sz="16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· MySQL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6488740" y="4475480"/>
            <a:ext cx="378819" cy="4"/>
          </a:xfrm>
          <a:prstGeom prst="line">
            <a:avLst/>
          </a:prstGeom>
          <a:ln w="16560">
            <a:solidFill>
              <a:srgbClr val="5D718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0"/>
          <p:cNvSpPr/>
          <p:nvPr/>
        </p:nvSpPr>
        <p:spPr>
          <a:xfrm flipV="1">
            <a:off x="9139818" y="4475479"/>
            <a:ext cx="387040" cy="9638"/>
          </a:xfrm>
          <a:prstGeom prst="line">
            <a:avLst/>
          </a:prstGeom>
          <a:ln w="16560">
            <a:solidFill>
              <a:srgbClr val="5D718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804600" y="5715000"/>
            <a:ext cx="47545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D9EAF7"/>
                </a:solidFill>
                <a:effectLst/>
                <a:uFillTx/>
                <a:latin typeface="Aptos"/>
              </a:rPr>
              <a:t>Katherine Valenzuela Moreno · Sebastián Briceño Inostroza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D9EAF7"/>
                </a:solidFill>
                <a:effectLst/>
                <a:uFillTx/>
                <a:latin typeface="Aptos"/>
              </a:rPr>
              <a:t>Ingeniería en Informática · TSY2201-S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502920" y="6546960"/>
            <a:ext cx="53031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9AB4CC"/>
                </a:solidFill>
                <a:effectLst/>
                <a:uFillTx/>
                <a:latin typeface="Aptos"/>
              </a:rPr>
              <a:t>Aulafy · EFT Taller Aplicado de Software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3"/>
          <p:cNvSpPr/>
          <p:nvPr/>
        </p:nvSpPr>
        <p:spPr>
          <a:xfrm>
            <a:off x="11475720" y="6510600"/>
            <a:ext cx="3470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9AB4CC"/>
                </a:solidFill>
                <a:effectLst/>
                <a:uFillTx/>
                <a:latin typeface="Aptos"/>
              </a:rPr>
              <a:t>01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0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57D99D"/>
          </a:solidFill>
          <a:ln w="12600">
            <a:solidFill>
              <a:srgbClr val="57D9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"/>
          <p:cNvSpPr/>
          <p:nvPr/>
        </p:nvSpPr>
        <p:spPr>
          <a:xfrm>
            <a:off x="960184" y="456331"/>
            <a:ext cx="78634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06345A"/>
                </a:solidFill>
                <a:effectLst/>
                <a:uFillTx/>
                <a:latin typeface="Aptos Display"/>
                <a:ea typeface="Aptos Display"/>
              </a:rPr>
              <a:t>Problema y alcance del MVP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2"/>
          <p:cNvSpPr/>
          <p:nvPr/>
        </p:nvSpPr>
        <p:spPr>
          <a:xfrm>
            <a:off x="987544" y="1032331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5758B"/>
                </a:solidFill>
                <a:effectLst/>
                <a:uFillTx/>
                <a:latin typeface="Aptos"/>
              </a:rPr>
              <a:t>Una solución integrada para coordinación académica, comunicación y seguimiento escolar.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3"/>
          <p:cNvSpPr/>
          <p:nvPr/>
        </p:nvSpPr>
        <p:spPr>
          <a:xfrm>
            <a:off x="960184" y="1746720"/>
            <a:ext cx="3812760" cy="4196880"/>
          </a:xfrm>
          <a:prstGeom prst="rect">
            <a:avLst/>
          </a:prstGeom>
          <a:solidFill>
            <a:srgbClr val="FFFFFF"/>
          </a:solidFill>
          <a:ln w="12600">
            <a:solidFill>
              <a:srgbClr val="D8E3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160" tIns="2160" rIns="2160" bIns="2160" anchor="ctr">
            <a:normAutofit/>
          </a:bodyPr>
          <a:lstStyle/>
          <a:p>
            <a:pPr marL="180000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 err="1">
                <a:solidFill>
                  <a:srgbClr val="19324A"/>
                </a:solidFill>
                <a:effectLst/>
                <a:uFillTx/>
                <a:latin typeface="Aptos"/>
              </a:rPr>
              <a:t>Necesidad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 err="1">
                <a:solidFill>
                  <a:srgbClr val="19324A"/>
                </a:solidFill>
                <a:effectLst/>
                <a:uFillTx/>
                <a:latin typeface="Aptos"/>
              </a:rPr>
              <a:t>Fragmentación</a:t>
            </a:r>
            <a:r>
              <a:rPr lang="en-US" sz="1200" b="0" u="none" strike="noStrike" dirty="0">
                <a:solidFill>
                  <a:srgbClr val="19324A"/>
                </a:solidFill>
                <a:effectLst/>
                <a:uFillTx/>
                <a:latin typeface="Aptos"/>
              </a:rPr>
              <a:t> de </a:t>
            </a:r>
            <a:r>
              <a:rPr lang="en-US" sz="1200" b="0" u="none" strike="noStrike" dirty="0" err="1">
                <a:solidFill>
                  <a:srgbClr val="19324A"/>
                </a:solidFill>
                <a:effectLst/>
                <a:uFillTx/>
                <a:latin typeface="Aptos"/>
              </a:rPr>
              <a:t>comunicados</a:t>
            </a:r>
            <a:r>
              <a:rPr lang="en-US" sz="1200" b="0" u="none" strike="noStrike" dirty="0">
                <a:solidFill>
                  <a:srgbClr val="19324A"/>
                </a:solidFill>
                <a:effectLst/>
                <a:uFillTx/>
                <a:latin typeface="Aptos"/>
              </a:rPr>
              <a:t>, </a:t>
            </a:r>
            <a:r>
              <a:rPr lang="en-US" sz="1200" b="0" u="none" strike="noStrike" dirty="0" err="1">
                <a:solidFill>
                  <a:srgbClr val="19324A"/>
                </a:solidFill>
                <a:effectLst/>
                <a:uFillTx/>
                <a:latin typeface="Aptos"/>
              </a:rPr>
              <a:t>calendario</a:t>
            </a:r>
            <a:r>
              <a:rPr lang="en-US" sz="1200" b="0" u="none" strike="noStrike" dirty="0">
                <a:solidFill>
                  <a:srgbClr val="19324A"/>
                </a:solidFill>
                <a:effectLst/>
                <a:uFillTx/>
                <a:latin typeface="Aptos"/>
              </a:rPr>
              <a:t>, </a:t>
            </a:r>
            <a:r>
              <a:rPr lang="en-US" sz="1200" b="0" u="none" strike="noStrike" dirty="0" err="1">
                <a:solidFill>
                  <a:srgbClr val="19324A"/>
                </a:solidFill>
                <a:effectLst/>
                <a:uFillTx/>
                <a:latin typeface="Aptos"/>
              </a:rPr>
              <a:t>notas</a:t>
            </a:r>
            <a:r>
              <a:rPr lang="en-US" sz="1200" b="0" u="none" strike="noStrike" dirty="0">
                <a:solidFill>
                  <a:srgbClr val="19324A"/>
                </a:solidFill>
                <a:effectLst/>
                <a:uFillTx/>
                <a:latin typeface="Aptos"/>
              </a:rPr>
              <a:t> y </a:t>
            </a:r>
            <a:r>
              <a:rPr lang="en-US" sz="1200" b="0" u="none" strike="noStrike" dirty="0" err="1">
                <a:solidFill>
                  <a:srgbClr val="19324A"/>
                </a:solidFill>
                <a:effectLst/>
                <a:uFillTx/>
                <a:latin typeface="Aptos"/>
              </a:rPr>
              <a:t>asistencia</a:t>
            </a:r>
            <a:r>
              <a:rPr lang="en-US" sz="1200" b="0" u="none" strike="noStrike" dirty="0">
                <a:solidFill>
                  <a:srgbClr val="19324A"/>
                </a:solidFill>
                <a:effectLst/>
                <a:uFillTx/>
                <a:latin typeface="Aptos"/>
              </a:rPr>
              <a:t> </a:t>
            </a:r>
            <a:r>
              <a:rPr lang="en-US" sz="1200" b="0" u="none" strike="noStrike" dirty="0" err="1">
                <a:solidFill>
                  <a:srgbClr val="19324A"/>
                </a:solidFill>
                <a:effectLst/>
                <a:uFillTx/>
                <a:latin typeface="Aptos"/>
              </a:rPr>
              <a:t>en</a:t>
            </a:r>
            <a:r>
              <a:rPr lang="en-US" sz="1200" b="0" u="none" strike="noStrike" dirty="0">
                <a:solidFill>
                  <a:srgbClr val="19324A"/>
                </a:solidFill>
                <a:effectLst/>
                <a:uFillTx/>
                <a:latin typeface="Aptos"/>
              </a:rPr>
              <a:t> </a:t>
            </a:r>
            <a:r>
              <a:rPr lang="en-US" sz="1200" b="0" u="none" strike="noStrike" dirty="0" err="1">
                <a:solidFill>
                  <a:srgbClr val="19324A"/>
                </a:solidFill>
                <a:effectLst/>
                <a:uFillTx/>
                <a:latin typeface="Aptos"/>
              </a:rPr>
              <a:t>varias</a:t>
            </a:r>
            <a:r>
              <a:rPr lang="en-US" sz="1200" b="0" u="none" strike="noStrike" dirty="0">
                <a:solidFill>
                  <a:srgbClr val="19324A"/>
                </a:solidFill>
                <a:effectLst/>
                <a:uFillTx/>
                <a:latin typeface="Aptos"/>
              </a:rPr>
              <a:t> </a:t>
            </a:r>
            <a:r>
              <a:rPr lang="en-US" sz="1200" b="0" u="none" strike="noStrike" dirty="0" err="1">
                <a:solidFill>
                  <a:srgbClr val="19324A"/>
                </a:solidFill>
                <a:effectLst/>
                <a:uFillTx/>
                <a:latin typeface="Aptos"/>
              </a:rPr>
              <a:t>herramientas</a:t>
            </a:r>
            <a:r>
              <a:rPr lang="en-US" sz="1200" b="0" u="none" strike="noStrike" dirty="0">
                <a:solidFill>
                  <a:srgbClr val="19324A"/>
                </a:solidFill>
                <a:effectLst/>
                <a:uFillTx/>
                <a:latin typeface="Aptos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 err="1">
                <a:solidFill>
                  <a:srgbClr val="19324A"/>
                </a:solidFill>
                <a:effectLst/>
                <a:uFillTx/>
                <a:latin typeface="Aptos"/>
              </a:rPr>
              <a:t>Trazabilidad</a:t>
            </a:r>
            <a:r>
              <a:rPr lang="en-US" sz="1200" b="0" u="none" strike="noStrike" dirty="0">
                <a:solidFill>
                  <a:srgbClr val="19324A"/>
                </a:solidFill>
                <a:effectLst/>
                <a:uFillTx/>
                <a:latin typeface="Aptos"/>
              </a:rPr>
              <a:t> </a:t>
            </a:r>
            <a:r>
              <a:rPr lang="en-US" sz="1200" b="0" u="none" strike="noStrike" dirty="0" err="1">
                <a:solidFill>
                  <a:srgbClr val="19324A"/>
                </a:solidFill>
                <a:effectLst/>
                <a:uFillTx/>
                <a:latin typeface="Aptos"/>
              </a:rPr>
              <a:t>requerida</a:t>
            </a:r>
            <a:r>
              <a:rPr lang="en-US" sz="1200" b="0" u="none" strike="noStrike" dirty="0">
                <a:solidFill>
                  <a:srgbClr val="19324A"/>
                </a:solidFill>
                <a:effectLst/>
                <a:uFillTx/>
                <a:latin typeface="Aptos"/>
              </a:rPr>
              <a:t> para </a:t>
            </a:r>
            <a:r>
              <a:rPr lang="en-US" sz="1200" b="0" u="none" strike="noStrike" dirty="0" err="1">
                <a:solidFill>
                  <a:srgbClr val="19324A"/>
                </a:solidFill>
                <a:effectLst/>
                <a:uFillTx/>
                <a:latin typeface="Aptos"/>
              </a:rPr>
              <a:t>publicaciones</a:t>
            </a:r>
            <a:r>
              <a:rPr lang="en-US" sz="1200" b="0" u="none" strike="noStrike" dirty="0">
                <a:solidFill>
                  <a:srgbClr val="19324A"/>
                </a:solidFill>
                <a:effectLst/>
                <a:uFillTx/>
                <a:latin typeface="Aptos"/>
              </a:rPr>
              <a:t>, </a:t>
            </a:r>
            <a:r>
              <a:rPr lang="en-US" sz="1200" b="0" u="none" strike="noStrike" dirty="0" err="1">
                <a:solidFill>
                  <a:srgbClr val="19324A"/>
                </a:solidFill>
                <a:effectLst/>
                <a:uFillTx/>
                <a:latin typeface="Aptos"/>
              </a:rPr>
              <a:t>eventos</a:t>
            </a:r>
            <a:r>
              <a:rPr lang="en-US" sz="1200" b="0" u="none" strike="noStrike" dirty="0">
                <a:solidFill>
                  <a:srgbClr val="19324A"/>
                </a:solidFill>
                <a:effectLst/>
                <a:uFillTx/>
                <a:latin typeface="Aptos"/>
              </a:rPr>
              <a:t>, </a:t>
            </a:r>
            <a:r>
              <a:rPr lang="en-US" sz="1200" b="0" u="none" strike="noStrike" dirty="0" err="1">
                <a:solidFill>
                  <a:srgbClr val="19324A"/>
                </a:solidFill>
                <a:effectLst/>
                <a:uFillTx/>
                <a:latin typeface="Aptos"/>
              </a:rPr>
              <a:t>evaluaciones</a:t>
            </a:r>
            <a:r>
              <a:rPr lang="en-US" sz="1200" b="0" u="none" strike="noStrike" dirty="0">
                <a:solidFill>
                  <a:srgbClr val="19324A"/>
                </a:solidFill>
                <a:effectLst/>
                <a:uFillTx/>
                <a:latin typeface="Aptos"/>
              </a:rPr>
              <a:t> y </a:t>
            </a:r>
            <a:r>
              <a:rPr lang="en-US" sz="1200" b="0" u="none" strike="noStrike" dirty="0" err="1">
                <a:solidFill>
                  <a:srgbClr val="19324A"/>
                </a:solidFill>
                <a:effectLst/>
                <a:uFillTx/>
                <a:latin typeface="Aptos"/>
              </a:rPr>
              <a:t>comunicaciones</a:t>
            </a:r>
            <a:r>
              <a:rPr lang="en-US" sz="1200" b="0" u="none" strike="noStrike" dirty="0">
                <a:solidFill>
                  <a:srgbClr val="19324A"/>
                </a:solidFill>
                <a:effectLst/>
                <a:uFillTx/>
                <a:latin typeface="Aptos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 err="1">
                <a:solidFill>
                  <a:srgbClr val="19324A"/>
                </a:solidFill>
                <a:effectLst/>
                <a:uFillTx/>
                <a:latin typeface="Aptos"/>
              </a:rPr>
              <a:t>Acceso</a:t>
            </a:r>
            <a:r>
              <a:rPr lang="en-US" sz="1200" b="0" u="none" strike="noStrike" dirty="0">
                <a:solidFill>
                  <a:srgbClr val="19324A"/>
                </a:solidFill>
                <a:effectLst/>
                <a:uFillTx/>
                <a:latin typeface="Aptos"/>
              </a:rPr>
              <a:t> </a:t>
            </a:r>
            <a:r>
              <a:rPr lang="en-US" sz="1200" b="0" u="none" strike="noStrike" dirty="0" err="1">
                <a:solidFill>
                  <a:srgbClr val="19324A"/>
                </a:solidFill>
                <a:effectLst/>
                <a:uFillTx/>
                <a:latin typeface="Aptos"/>
              </a:rPr>
              <a:t>diferenciado</a:t>
            </a:r>
            <a:r>
              <a:rPr lang="en-US" sz="1200" b="0" u="none" strike="noStrike" dirty="0">
                <a:solidFill>
                  <a:srgbClr val="19324A"/>
                </a:solidFill>
                <a:effectLst/>
                <a:uFillTx/>
                <a:latin typeface="Aptos"/>
              </a:rPr>
              <a:t> </a:t>
            </a:r>
            <a:r>
              <a:rPr lang="en-US" sz="1200" b="0" u="none" strike="noStrike" dirty="0" err="1">
                <a:solidFill>
                  <a:srgbClr val="19324A"/>
                </a:solidFill>
                <a:effectLst/>
                <a:uFillTx/>
                <a:latin typeface="Aptos"/>
              </a:rPr>
              <a:t>según</a:t>
            </a:r>
            <a:r>
              <a:rPr lang="en-US" sz="1200" b="0" u="none" strike="noStrike" dirty="0">
                <a:solidFill>
                  <a:srgbClr val="19324A"/>
                </a:solidFill>
                <a:effectLst/>
                <a:uFillTx/>
                <a:latin typeface="Aptos"/>
              </a:rPr>
              <a:t> </a:t>
            </a:r>
            <a:r>
              <a:rPr lang="en-US" sz="1200" b="0" u="none" strike="noStrike" dirty="0" err="1">
                <a:solidFill>
                  <a:srgbClr val="19324A"/>
                </a:solidFill>
                <a:effectLst/>
                <a:uFillTx/>
                <a:latin typeface="Aptos"/>
              </a:rPr>
              <a:t>rol</a:t>
            </a:r>
            <a:r>
              <a:rPr lang="en-US" sz="1200" b="0" u="none" strike="noStrike" dirty="0">
                <a:solidFill>
                  <a:srgbClr val="19324A"/>
                </a:solidFill>
                <a:effectLst/>
                <a:uFillTx/>
                <a:latin typeface="Aptos"/>
              </a:rPr>
              <a:t> </a:t>
            </a:r>
            <a:r>
              <a:rPr lang="en-US" sz="1200" b="0" u="none" strike="noStrike" dirty="0" err="1">
                <a:solidFill>
                  <a:srgbClr val="19324A"/>
                </a:solidFill>
                <a:effectLst/>
                <a:uFillTx/>
                <a:latin typeface="Aptos"/>
              </a:rPr>
              <a:t>institucional</a:t>
            </a:r>
            <a:r>
              <a:rPr lang="en-US" sz="1200" b="0" u="none" strike="noStrike" dirty="0">
                <a:solidFill>
                  <a:srgbClr val="19324A"/>
                </a:solidFill>
                <a:effectLst/>
                <a:uFillTx/>
                <a:latin typeface="Aptos"/>
              </a:rPr>
              <a:t> y </a:t>
            </a:r>
            <a:r>
              <a:rPr lang="en-US" sz="1200" b="0" u="none" strike="noStrike" dirty="0" err="1">
                <a:solidFill>
                  <a:srgbClr val="19324A"/>
                </a:solidFill>
                <a:effectLst/>
                <a:uFillTx/>
                <a:latin typeface="Aptos"/>
              </a:rPr>
              <a:t>relación</a:t>
            </a:r>
            <a:r>
              <a:rPr lang="en-US" sz="1200" b="0" u="none" strike="noStrike" dirty="0">
                <a:solidFill>
                  <a:srgbClr val="19324A"/>
                </a:solidFill>
                <a:effectLst/>
                <a:uFillTx/>
                <a:latin typeface="Aptos"/>
              </a:rPr>
              <a:t> con el </a:t>
            </a:r>
            <a:r>
              <a:rPr lang="en-US" sz="1200" b="0" u="none" strike="noStrike" dirty="0" err="1">
                <a:solidFill>
                  <a:srgbClr val="19324A"/>
                </a:solidFill>
                <a:effectLst/>
                <a:uFillTx/>
                <a:latin typeface="Aptos"/>
              </a:rPr>
              <a:t>curso</a:t>
            </a:r>
            <a:r>
              <a:rPr lang="en-US" sz="1200" b="0" u="none" strike="noStrike" dirty="0">
                <a:solidFill>
                  <a:srgbClr val="19324A"/>
                </a:solidFill>
                <a:effectLst/>
                <a:uFillTx/>
                <a:latin typeface="Aptos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4"/>
          <p:cNvSpPr/>
          <p:nvPr/>
        </p:nvSpPr>
        <p:spPr>
          <a:xfrm>
            <a:off x="8163911" y="189465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 err="1">
                <a:solidFill>
                  <a:srgbClr val="06345A"/>
                </a:solidFill>
                <a:effectLst/>
                <a:uFillTx/>
                <a:latin typeface="Aptos"/>
              </a:rPr>
              <a:t>USUARIOS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5"/>
          <p:cNvSpPr/>
          <p:nvPr/>
        </p:nvSpPr>
        <p:spPr>
          <a:xfrm>
            <a:off x="5502777" y="2518649"/>
            <a:ext cx="1858143" cy="826501"/>
          </a:xfrm>
          <a:prstGeom prst="rect">
            <a:avLst/>
          </a:prstGeom>
          <a:solidFill>
            <a:srgbClr val="1F7BCB"/>
          </a:solidFill>
          <a:ln w="0">
            <a:solidFill>
              <a:srgbClr val="1F7BC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ADMIN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gestión total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6"/>
          <p:cNvSpPr/>
          <p:nvPr/>
        </p:nvSpPr>
        <p:spPr>
          <a:xfrm>
            <a:off x="7560177" y="2518649"/>
            <a:ext cx="1858143" cy="826501"/>
          </a:xfrm>
          <a:prstGeom prst="rect">
            <a:avLst/>
          </a:prstGeom>
          <a:solidFill>
            <a:srgbClr val="1F7BCB"/>
          </a:solidFill>
          <a:ln w="0">
            <a:solidFill>
              <a:srgbClr val="1F7BC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COLEGIO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gestión institucional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7"/>
          <p:cNvSpPr/>
          <p:nvPr/>
        </p:nvSpPr>
        <p:spPr>
          <a:xfrm>
            <a:off x="9617577" y="2518649"/>
            <a:ext cx="1858143" cy="826501"/>
          </a:xfrm>
          <a:prstGeom prst="rect">
            <a:avLst/>
          </a:prstGeom>
          <a:solidFill>
            <a:srgbClr val="1E8848"/>
          </a:solidFill>
          <a:ln w="0">
            <a:solidFill>
              <a:srgbClr val="1E884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HEAD_TEACHER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gestión integral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8"/>
          <p:cNvSpPr/>
          <p:nvPr/>
        </p:nvSpPr>
        <p:spPr>
          <a:xfrm>
            <a:off x="5502777" y="3561209"/>
            <a:ext cx="1858143" cy="826501"/>
          </a:xfrm>
          <a:prstGeom prst="rect">
            <a:avLst/>
          </a:prstGeom>
          <a:solidFill>
            <a:srgbClr val="1E8848"/>
          </a:solidFill>
          <a:ln w="0">
            <a:solidFill>
              <a:srgbClr val="1E884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SUBJECT_TEACHER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acceso acotado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9"/>
          <p:cNvSpPr/>
          <p:nvPr/>
        </p:nvSpPr>
        <p:spPr>
          <a:xfrm>
            <a:off x="7560177" y="3561209"/>
            <a:ext cx="1858143" cy="826501"/>
          </a:xfrm>
          <a:prstGeom prst="rect">
            <a:avLst/>
          </a:prstGeom>
          <a:solidFill>
            <a:srgbClr val="F28C28"/>
          </a:solidFill>
          <a:ln w="0">
            <a:solidFill>
              <a:srgbClr val="F28C2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APODERADO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seguimiento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0"/>
          <p:cNvSpPr/>
          <p:nvPr/>
        </p:nvSpPr>
        <p:spPr>
          <a:xfrm>
            <a:off x="9617577" y="3561209"/>
            <a:ext cx="1858143" cy="826501"/>
          </a:xfrm>
          <a:prstGeom prst="rect">
            <a:avLst/>
          </a:prstGeom>
          <a:solidFill>
            <a:srgbClr val="F28C28"/>
          </a:solidFill>
          <a:ln w="0">
            <a:solidFill>
              <a:srgbClr val="F28C2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ESTUDIANTE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información propia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1"/>
          <p:cNvSpPr/>
          <p:nvPr/>
        </p:nvSpPr>
        <p:spPr>
          <a:xfrm>
            <a:off x="6096000" y="4955180"/>
            <a:ext cx="11426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6345A"/>
                </a:solidFill>
                <a:effectLst/>
                <a:uFillTx/>
                <a:latin typeface="Aptos"/>
              </a:rPr>
              <a:t>6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2"/>
          <p:cNvSpPr/>
          <p:nvPr/>
        </p:nvSpPr>
        <p:spPr>
          <a:xfrm>
            <a:off x="5958840" y="5412380"/>
            <a:ext cx="1416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5758B"/>
                </a:solidFill>
                <a:effectLst/>
                <a:uFillTx/>
                <a:latin typeface="Aptos"/>
              </a:rPr>
              <a:t>perfiles funcionales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3"/>
          <p:cNvSpPr/>
          <p:nvPr/>
        </p:nvSpPr>
        <p:spPr>
          <a:xfrm>
            <a:off x="8016240" y="4955180"/>
            <a:ext cx="11426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6345A"/>
                </a:solidFill>
                <a:effectLst/>
                <a:uFillTx/>
                <a:latin typeface="Aptos"/>
              </a:rPr>
              <a:t>10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4"/>
          <p:cNvSpPr/>
          <p:nvPr/>
        </p:nvSpPr>
        <p:spPr>
          <a:xfrm>
            <a:off x="7879080" y="5412380"/>
            <a:ext cx="1416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5758B"/>
                </a:solidFill>
                <a:effectLst/>
                <a:uFillTx/>
                <a:latin typeface="Aptos"/>
              </a:rPr>
              <a:t>módulos del MVP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5"/>
          <p:cNvSpPr/>
          <p:nvPr/>
        </p:nvSpPr>
        <p:spPr>
          <a:xfrm>
            <a:off x="9936480" y="4955180"/>
            <a:ext cx="11426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6345A"/>
                </a:solidFill>
                <a:effectLst/>
                <a:uFillTx/>
                <a:latin typeface="Aptos"/>
              </a:rPr>
              <a:t>8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6"/>
          <p:cNvSpPr/>
          <p:nvPr/>
        </p:nvSpPr>
        <p:spPr>
          <a:xfrm>
            <a:off x="9799320" y="5412380"/>
            <a:ext cx="1416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5758B"/>
                </a:solidFill>
                <a:effectLst/>
                <a:uFillTx/>
                <a:latin typeface="Aptos"/>
              </a:rPr>
              <a:t>ciclos semanales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7"/>
          <p:cNvSpPr/>
          <p:nvPr/>
        </p:nvSpPr>
        <p:spPr>
          <a:xfrm>
            <a:off x="502920" y="6546960"/>
            <a:ext cx="53031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5758B"/>
                </a:solidFill>
                <a:effectLst/>
                <a:uFillTx/>
                <a:latin typeface="Aptos"/>
                <a:ea typeface="Aptos"/>
              </a:rPr>
              <a:t>Aulafy · EFT Taller Aplicado de Software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8"/>
          <p:cNvSpPr/>
          <p:nvPr/>
        </p:nvSpPr>
        <p:spPr>
          <a:xfrm>
            <a:off x="11475720" y="6510600"/>
            <a:ext cx="3470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5758B"/>
                </a:solidFill>
                <a:effectLst/>
                <a:uFillTx/>
                <a:latin typeface="Aptos"/>
                <a:ea typeface="Aptos"/>
              </a:rPr>
              <a:t>02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0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57D99D"/>
          </a:solidFill>
          <a:ln w="12600">
            <a:solidFill>
              <a:srgbClr val="57D9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"/>
          <p:cNvSpPr/>
          <p:nvPr/>
        </p:nvSpPr>
        <p:spPr>
          <a:xfrm>
            <a:off x="777060" y="493920"/>
            <a:ext cx="78634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 err="1">
                <a:solidFill>
                  <a:srgbClr val="06345A"/>
                </a:solidFill>
                <a:effectLst/>
                <a:uFillTx/>
                <a:latin typeface="Aptos Display"/>
                <a:ea typeface="Aptos Display"/>
              </a:rPr>
              <a:t>Solución</a:t>
            </a:r>
            <a:r>
              <a:rPr lang="en-US" sz="2700" b="1" u="none" strike="noStrike" dirty="0">
                <a:solidFill>
                  <a:srgbClr val="06345A"/>
                </a:solidFill>
                <a:effectLst/>
                <a:uFillTx/>
                <a:latin typeface="Aptos Display"/>
                <a:ea typeface="Aptos Display"/>
              </a:rPr>
              <a:t> </a:t>
            </a:r>
            <a:r>
              <a:rPr lang="en-US" sz="2700" b="1" u="none" strike="noStrike" dirty="0" err="1">
                <a:solidFill>
                  <a:srgbClr val="06345A"/>
                </a:solidFill>
                <a:effectLst/>
                <a:uFillTx/>
                <a:latin typeface="Aptos Display"/>
                <a:ea typeface="Aptos Display"/>
              </a:rPr>
              <a:t>implementada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"/>
          <p:cNvSpPr/>
          <p:nvPr/>
        </p:nvSpPr>
        <p:spPr>
          <a:xfrm>
            <a:off x="777240" y="104220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 dirty="0">
                <a:solidFill>
                  <a:srgbClr val="65758B"/>
                </a:solidFill>
                <a:effectLst/>
                <a:uFillTx/>
                <a:latin typeface="Aptos"/>
              </a:rPr>
              <a:t>Aulafy </a:t>
            </a:r>
            <a:r>
              <a:rPr lang="en-US" sz="1350" b="0" u="none" strike="noStrike" dirty="0" err="1">
                <a:solidFill>
                  <a:srgbClr val="65758B"/>
                </a:solidFill>
                <a:effectLst/>
                <a:uFillTx/>
                <a:latin typeface="Aptos"/>
              </a:rPr>
              <a:t>centraliza</a:t>
            </a:r>
            <a:r>
              <a:rPr lang="en-US" sz="1350" b="0" u="none" strike="noStrike" dirty="0">
                <a:solidFill>
                  <a:srgbClr val="65758B"/>
                </a:solidFill>
                <a:effectLst/>
                <a:uFillTx/>
                <a:latin typeface="Aptos"/>
              </a:rPr>
              <a:t> </a:t>
            </a:r>
            <a:r>
              <a:rPr lang="en-US" sz="1350" b="0" u="none" strike="noStrike" dirty="0" err="1">
                <a:solidFill>
                  <a:srgbClr val="65758B"/>
                </a:solidFill>
                <a:effectLst/>
                <a:uFillTx/>
                <a:latin typeface="Aptos"/>
              </a:rPr>
              <a:t>los</a:t>
            </a:r>
            <a:r>
              <a:rPr lang="en-US" sz="1350" b="0" u="none" strike="noStrike" dirty="0">
                <a:solidFill>
                  <a:srgbClr val="65758B"/>
                </a:solidFill>
                <a:effectLst/>
                <a:uFillTx/>
                <a:latin typeface="Aptos"/>
              </a:rPr>
              <a:t> </a:t>
            </a:r>
            <a:r>
              <a:rPr lang="en-US" sz="1350" b="0" u="none" strike="noStrike" dirty="0" err="1">
                <a:solidFill>
                  <a:srgbClr val="65758B"/>
                </a:solidFill>
                <a:effectLst/>
                <a:uFillTx/>
                <a:latin typeface="Aptos"/>
              </a:rPr>
              <a:t>flujos</a:t>
            </a:r>
            <a:r>
              <a:rPr lang="en-US" sz="1350" b="0" u="none" strike="noStrike" dirty="0">
                <a:solidFill>
                  <a:srgbClr val="65758B"/>
                </a:solidFill>
                <a:effectLst/>
                <a:uFillTx/>
                <a:latin typeface="Aptos"/>
              </a:rPr>
              <a:t> </a:t>
            </a:r>
            <a:r>
              <a:rPr lang="en-US" sz="1350" b="0" u="none" strike="noStrike" dirty="0" err="1">
                <a:solidFill>
                  <a:srgbClr val="65758B"/>
                </a:solidFill>
                <a:effectLst/>
                <a:uFillTx/>
                <a:latin typeface="Aptos"/>
              </a:rPr>
              <a:t>críticos</a:t>
            </a:r>
            <a:r>
              <a:rPr lang="en-US" sz="1350" b="0" u="none" strike="noStrike" dirty="0">
                <a:solidFill>
                  <a:srgbClr val="65758B"/>
                </a:solidFill>
                <a:effectLst/>
                <a:uFillTx/>
                <a:latin typeface="Aptos"/>
              </a:rPr>
              <a:t> del </a:t>
            </a:r>
            <a:r>
              <a:rPr lang="en-US" sz="1350" b="0" u="none" strike="noStrike" dirty="0" err="1">
                <a:solidFill>
                  <a:srgbClr val="65758B"/>
                </a:solidFill>
                <a:effectLst/>
                <a:uFillTx/>
                <a:latin typeface="Aptos"/>
              </a:rPr>
              <a:t>establecimiento</a:t>
            </a:r>
            <a:r>
              <a:rPr lang="en-US" sz="1350" b="0" u="none" strike="noStrike" dirty="0">
                <a:solidFill>
                  <a:srgbClr val="65758B"/>
                </a:solidFill>
                <a:effectLst/>
                <a:uFillTx/>
                <a:latin typeface="Aptos"/>
              </a:rPr>
              <a:t> </a:t>
            </a:r>
            <a:r>
              <a:rPr lang="en-US" sz="1350" b="0" u="none" strike="noStrike" dirty="0" err="1">
                <a:solidFill>
                  <a:srgbClr val="65758B"/>
                </a:solidFill>
                <a:effectLst/>
                <a:uFillTx/>
                <a:latin typeface="Aptos"/>
              </a:rPr>
              <a:t>en</a:t>
            </a:r>
            <a:r>
              <a:rPr lang="en-US" sz="1350" b="0" u="none" strike="noStrike" dirty="0">
                <a:solidFill>
                  <a:srgbClr val="65758B"/>
                </a:solidFill>
                <a:effectLst/>
                <a:uFillTx/>
                <a:latin typeface="Aptos"/>
              </a:rPr>
              <a:t> </a:t>
            </a:r>
            <a:r>
              <a:rPr lang="en-US" sz="1350" b="0" u="none" strike="noStrike" dirty="0" err="1">
                <a:solidFill>
                  <a:srgbClr val="65758B"/>
                </a:solidFill>
                <a:effectLst/>
                <a:uFillTx/>
                <a:latin typeface="Aptos"/>
              </a:rPr>
              <a:t>una</a:t>
            </a:r>
            <a:r>
              <a:rPr lang="en-US" sz="1350" b="0" u="none" strike="noStrike" dirty="0">
                <a:solidFill>
                  <a:srgbClr val="65758B"/>
                </a:solidFill>
                <a:effectLst/>
                <a:uFillTx/>
                <a:latin typeface="Aptos"/>
              </a:rPr>
              <a:t> SPA Angular con API REST </a:t>
            </a:r>
            <a:r>
              <a:rPr lang="en-US" sz="1350" b="0" u="none" strike="noStrike" dirty="0" err="1">
                <a:solidFill>
                  <a:srgbClr val="65758B"/>
                </a:solidFill>
                <a:effectLst/>
                <a:uFillTx/>
                <a:latin typeface="Aptos"/>
              </a:rPr>
              <a:t>NestJS</a:t>
            </a:r>
            <a:r>
              <a:rPr lang="en-US" sz="1350" b="0" u="none" strike="noStrike" dirty="0">
                <a:solidFill>
                  <a:srgbClr val="65758B"/>
                </a:solidFill>
                <a:effectLst/>
                <a:uFillTx/>
                <a:latin typeface="Aptos"/>
              </a:rPr>
              <a:t>.</a:t>
            </a:r>
            <a:endParaRPr lang="en-US" sz="13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3"/>
          <p:cNvSpPr/>
          <p:nvPr/>
        </p:nvSpPr>
        <p:spPr>
          <a:xfrm>
            <a:off x="4852831" y="1816470"/>
            <a:ext cx="24685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 err="1">
                <a:solidFill>
                  <a:srgbClr val="06345A"/>
                </a:solidFill>
                <a:effectLst/>
                <a:uFillTx/>
                <a:latin typeface="Aptos"/>
              </a:rPr>
              <a:t>MÓDULOS</a:t>
            </a:r>
            <a:r>
              <a:rPr lang="en-US" sz="1600" b="1" u="none" strike="noStrike" dirty="0">
                <a:solidFill>
                  <a:srgbClr val="06345A"/>
                </a:solidFill>
                <a:effectLst/>
                <a:uFillTx/>
                <a:latin typeface="Aptos"/>
              </a:rPr>
              <a:t> </a:t>
            </a:r>
            <a:r>
              <a:rPr lang="en-US" sz="1600" b="1" u="none" strike="noStrike" dirty="0" err="1">
                <a:solidFill>
                  <a:srgbClr val="06345A"/>
                </a:solidFill>
                <a:effectLst/>
                <a:uFillTx/>
                <a:latin typeface="Aptos"/>
              </a:rPr>
              <a:t>OPERATIVOS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4"/>
          <p:cNvSpPr/>
          <p:nvPr/>
        </p:nvSpPr>
        <p:spPr>
          <a:xfrm>
            <a:off x="614149" y="2524499"/>
            <a:ext cx="2044122" cy="556547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600">
            <a:solidFill>
              <a:srgbClr val="D8E3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5"/>
          <p:cNvSpPr/>
          <p:nvPr/>
        </p:nvSpPr>
        <p:spPr>
          <a:xfrm>
            <a:off x="717424" y="2643300"/>
            <a:ext cx="1849407" cy="1931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9324A"/>
                </a:solidFill>
                <a:effectLst/>
                <a:uFillTx/>
                <a:latin typeface="Aptos"/>
              </a:rPr>
              <a:t>Autenticación JWT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6"/>
          <p:cNvSpPr/>
          <p:nvPr/>
        </p:nvSpPr>
        <p:spPr>
          <a:xfrm>
            <a:off x="2808709" y="2524499"/>
            <a:ext cx="2044122" cy="556547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600">
            <a:solidFill>
              <a:srgbClr val="D8E3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7"/>
          <p:cNvSpPr/>
          <p:nvPr/>
        </p:nvSpPr>
        <p:spPr>
          <a:xfrm>
            <a:off x="2911984" y="2643300"/>
            <a:ext cx="1849407" cy="1931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9324A"/>
                </a:solidFill>
                <a:effectLst/>
                <a:uFillTx/>
                <a:latin typeface="Aptos"/>
              </a:rPr>
              <a:t>Muro académico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8"/>
          <p:cNvSpPr/>
          <p:nvPr/>
        </p:nvSpPr>
        <p:spPr>
          <a:xfrm>
            <a:off x="5003269" y="2524499"/>
            <a:ext cx="2044122" cy="556547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600">
            <a:solidFill>
              <a:srgbClr val="D8E3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9"/>
          <p:cNvSpPr/>
          <p:nvPr/>
        </p:nvSpPr>
        <p:spPr>
          <a:xfrm>
            <a:off x="5106544" y="2643300"/>
            <a:ext cx="1849407" cy="1931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9324A"/>
                </a:solidFill>
                <a:effectLst/>
                <a:uFillTx/>
                <a:latin typeface="Aptos"/>
              </a:rPr>
              <a:t>Calendario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0"/>
          <p:cNvSpPr/>
          <p:nvPr/>
        </p:nvSpPr>
        <p:spPr>
          <a:xfrm>
            <a:off x="7197829" y="2524499"/>
            <a:ext cx="2044122" cy="556547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600">
            <a:solidFill>
              <a:srgbClr val="D8E3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1"/>
          <p:cNvSpPr/>
          <p:nvPr/>
        </p:nvSpPr>
        <p:spPr>
          <a:xfrm>
            <a:off x="7301104" y="2643300"/>
            <a:ext cx="1849407" cy="1931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9324A"/>
                </a:solidFill>
                <a:effectLst/>
                <a:uFillTx/>
                <a:latin typeface="Aptos"/>
              </a:rPr>
              <a:t>Notas y evaluaciones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2"/>
          <p:cNvSpPr/>
          <p:nvPr/>
        </p:nvSpPr>
        <p:spPr>
          <a:xfrm>
            <a:off x="9392389" y="2524499"/>
            <a:ext cx="2044122" cy="556547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600">
            <a:solidFill>
              <a:srgbClr val="D8E3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3"/>
          <p:cNvSpPr/>
          <p:nvPr/>
        </p:nvSpPr>
        <p:spPr>
          <a:xfrm>
            <a:off x="9495664" y="2643300"/>
            <a:ext cx="1849407" cy="1931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9324A"/>
                </a:solidFill>
                <a:effectLst/>
                <a:uFillTx/>
                <a:latin typeface="Aptos"/>
              </a:rPr>
              <a:t>Asistencia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14"/>
          <p:cNvSpPr/>
          <p:nvPr/>
        </p:nvSpPr>
        <p:spPr>
          <a:xfrm>
            <a:off x="614149" y="3182939"/>
            <a:ext cx="2044122" cy="556547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600">
            <a:solidFill>
              <a:srgbClr val="D8E3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5"/>
          <p:cNvSpPr/>
          <p:nvPr/>
        </p:nvSpPr>
        <p:spPr>
          <a:xfrm>
            <a:off x="717424" y="3301740"/>
            <a:ext cx="1849407" cy="1931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9324A"/>
                </a:solidFill>
                <a:effectLst/>
                <a:uFillTx/>
                <a:latin typeface="Aptos"/>
              </a:rPr>
              <a:t>Anotaciones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6"/>
          <p:cNvSpPr/>
          <p:nvPr/>
        </p:nvSpPr>
        <p:spPr>
          <a:xfrm>
            <a:off x="2808709" y="3182939"/>
            <a:ext cx="2044122" cy="556547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600">
            <a:solidFill>
              <a:srgbClr val="D8E3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7"/>
          <p:cNvSpPr/>
          <p:nvPr/>
        </p:nvSpPr>
        <p:spPr>
          <a:xfrm>
            <a:off x="2911984" y="3301740"/>
            <a:ext cx="1849407" cy="1931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9324A"/>
                </a:solidFill>
                <a:effectLst/>
                <a:uFillTx/>
                <a:latin typeface="Aptos"/>
              </a:rPr>
              <a:t>Chat por curso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18"/>
          <p:cNvSpPr/>
          <p:nvPr/>
        </p:nvSpPr>
        <p:spPr>
          <a:xfrm>
            <a:off x="5003269" y="3182939"/>
            <a:ext cx="2044122" cy="556547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600">
            <a:solidFill>
              <a:srgbClr val="D8E3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9"/>
          <p:cNvSpPr/>
          <p:nvPr/>
        </p:nvSpPr>
        <p:spPr>
          <a:xfrm>
            <a:off x="5106544" y="3301740"/>
            <a:ext cx="1849407" cy="1931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9324A"/>
                </a:solidFill>
                <a:effectLst/>
                <a:uFillTx/>
                <a:latin typeface="Aptos"/>
              </a:rPr>
              <a:t>Riesgo académico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20"/>
          <p:cNvSpPr/>
          <p:nvPr/>
        </p:nvSpPr>
        <p:spPr>
          <a:xfrm>
            <a:off x="7197829" y="3182939"/>
            <a:ext cx="2044122" cy="556547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600">
            <a:solidFill>
              <a:srgbClr val="D8E3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1"/>
          <p:cNvSpPr/>
          <p:nvPr/>
        </p:nvSpPr>
        <p:spPr>
          <a:xfrm>
            <a:off x="7301104" y="3301740"/>
            <a:ext cx="1849407" cy="1931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9324A"/>
                </a:solidFill>
                <a:effectLst/>
                <a:uFillTx/>
                <a:latin typeface="Aptos"/>
              </a:rPr>
              <a:t>Usuarios y cursos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22"/>
          <p:cNvSpPr/>
          <p:nvPr/>
        </p:nvSpPr>
        <p:spPr>
          <a:xfrm>
            <a:off x="9392389" y="3182939"/>
            <a:ext cx="2044122" cy="556547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600">
            <a:solidFill>
              <a:srgbClr val="D8E3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3"/>
          <p:cNvSpPr/>
          <p:nvPr/>
        </p:nvSpPr>
        <p:spPr>
          <a:xfrm>
            <a:off x="9495664" y="3301740"/>
            <a:ext cx="1849407" cy="1931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9324A"/>
                </a:solidFill>
                <a:effectLst/>
                <a:uFillTx/>
                <a:latin typeface="Aptos"/>
              </a:rPr>
              <a:t>Notificaciones internas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4"/>
          <p:cNvSpPr/>
          <p:nvPr/>
        </p:nvSpPr>
        <p:spPr>
          <a:xfrm>
            <a:off x="738391" y="4399020"/>
            <a:ext cx="3291480" cy="1188360"/>
          </a:xfrm>
          <a:prstGeom prst="rect">
            <a:avLst/>
          </a:prstGeom>
          <a:solidFill>
            <a:srgbClr val="FFFFFF"/>
          </a:solidFill>
          <a:ln w="12600">
            <a:solidFill>
              <a:srgbClr val="D8E3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160" tIns="2160" rIns="2160" bIns="2160" anchor="ctr">
            <a:normAutofit/>
          </a:bodyPr>
          <a:lstStyle/>
          <a:p>
            <a:pPr marL="36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324A"/>
                </a:solidFill>
                <a:effectLst/>
                <a:uFillTx/>
                <a:latin typeface="Aptos"/>
              </a:rPr>
              <a:t>Resultado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324A"/>
                </a:solidFill>
                <a:effectLst/>
                <a:uFillTx/>
                <a:latin typeface="Aptos"/>
              </a:rPr>
              <a:t>10 módulos activos con navegación protegida por rol y relaciones de datos persistentes.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25"/>
          <p:cNvSpPr/>
          <p:nvPr/>
        </p:nvSpPr>
        <p:spPr>
          <a:xfrm>
            <a:off x="4395991" y="4399020"/>
            <a:ext cx="3291480" cy="1188360"/>
          </a:xfrm>
          <a:prstGeom prst="rect">
            <a:avLst/>
          </a:prstGeom>
          <a:solidFill>
            <a:srgbClr val="FFFFFF"/>
          </a:solidFill>
          <a:ln w="12600">
            <a:solidFill>
              <a:srgbClr val="D8E3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160" tIns="2160" rIns="2160" bIns="2160" anchor="ctr">
            <a:normAutofit/>
          </a:bodyPr>
          <a:lstStyle/>
          <a:p>
            <a:pPr marL="36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324A"/>
                </a:solidFill>
                <a:effectLst/>
                <a:uFillTx/>
                <a:latin typeface="Aptos"/>
              </a:rPr>
              <a:t>Validación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324A"/>
                </a:solidFill>
                <a:effectLst/>
                <a:uFillTx/>
                <a:latin typeface="Aptos"/>
              </a:rPr>
              <a:t>99 pruebas automatizadas, 12 suites Jest y smoke test final de 18 escenarios.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6"/>
          <p:cNvSpPr/>
          <p:nvPr/>
        </p:nvSpPr>
        <p:spPr>
          <a:xfrm>
            <a:off x="8053591" y="4399020"/>
            <a:ext cx="3291480" cy="1188360"/>
          </a:xfrm>
          <a:prstGeom prst="rect">
            <a:avLst/>
          </a:prstGeom>
          <a:solidFill>
            <a:srgbClr val="FFFFFF"/>
          </a:solidFill>
          <a:ln w="12600">
            <a:solidFill>
              <a:srgbClr val="D8E3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160" tIns="2160" rIns="2160" bIns="2160" anchor="ctr">
            <a:normAutofit/>
          </a:bodyPr>
          <a:lstStyle/>
          <a:p>
            <a:pPr marL="36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 err="1">
                <a:solidFill>
                  <a:srgbClr val="19324A"/>
                </a:solidFill>
                <a:effectLst/>
                <a:uFillTx/>
                <a:latin typeface="Aptos"/>
              </a:rPr>
              <a:t>Metodología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19324A"/>
                </a:solidFill>
                <a:effectLst/>
                <a:uFillTx/>
                <a:latin typeface="Aptos"/>
              </a:rPr>
              <a:t>Desarrollo </a:t>
            </a:r>
            <a:r>
              <a:rPr lang="en-US" sz="1200" b="0" u="none" strike="noStrike" dirty="0" err="1">
                <a:solidFill>
                  <a:srgbClr val="19324A"/>
                </a:solidFill>
                <a:effectLst/>
                <a:uFillTx/>
                <a:latin typeface="Aptos"/>
              </a:rPr>
              <a:t>iterativo</a:t>
            </a:r>
            <a:r>
              <a:rPr lang="en-US" sz="1200" b="0" u="none" strike="noStrike" dirty="0">
                <a:solidFill>
                  <a:srgbClr val="19324A"/>
                </a:solidFill>
                <a:effectLst/>
                <a:uFillTx/>
                <a:latin typeface="Aptos"/>
              </a:rPr>
              <a:t> e incremental con </a:t>
            </a:r>
            <a:r>
              <a:rPr lang="en-US" sz="1200" b="0" u="none" strike="noStrike" dirty="0" err="1">
                <a:solidFill>
                  <a:srgbClr val="19324A"/>
                </a:solidFill>
                <a:effectLst/>
                <a:uFillTx/>
                <a:latin typeface="Aptos"/>
              </a:rPr>
              <a:t>ramas</a:t>
            </a:r>
            <a:r>
              <a:rPr lang="en-US" sz="1200" b="0" u="none" strike="noStrike" dirty="0">
                <a:solidFill>
                  <a:srgbClr val="19324A"/>
                </a:solidFill>
                <a:effectLst/>
                <a:uFillTx/>
                <a:latin typeface="Aptos"/>
              </a:rPr>
              <a:t>, pull requests, QA y </a:t>
            </a:r>
            <a:r>
              <a:rPr lang="en-US" sz="1200" b="0" u="none" strike="noStrike" dirty="0" err="1">
                <a:solidFill>
                  <a:srgbClr val="19324A"/>
                </a:solidFill>
                <a:effectLst/>
                <a:uFillTx/>
                <a:latin typeface="Aptos"/>
              </a:rPr>
              <a:t>actualización</a:t>
            </a:r>
            <a:r>
              <a:rPr lang="en-US" sz="1200" b="0" u="none" strike="noStrike" dirty="0">
                <a:solidFill>
                  <a:srgbClr val="19324A"/>
                </a:solidFill>
                <a:effectLst/>
                <a:uFillTx/>
                <a:latin typeface="Aptos"/>
              </a:rPr>
              <a:t> documental.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7"/>
          <p:cNvSpPr/>
          <p:nvPr/>
        </p:nvSpPr>
        <p:spPr>
          <a:xfrm>
            <a:off x="502920" y="6546960"/>
            <a:ext cx="53031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5758B"/>
                </a:solidFill>
                <a:effectLst/>
                <a:uFillTx/>
                <a:latin typeface="Aptos"/>
                <a:ea typeface="Aptos"/>
              </a:rPr>
              <a:t>Aulafy · EFT Taller Aplicado de Software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8"/>
          <p:cNvSpPr/>
          <p:nvPr/>
        </p:nvSpPr>
        <p:spPr>
          <a:xfrm>
            <a:off x="11475720" y="6510600"/>
            <a:ext cx="3470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5758B"/>
                </a:solidFill>
                <a:effectLst/>
                <a:uFillTx/>
                <a:latin typeface="Aptos"/>
                <a:ea typeface="Aptos"/>
              </a:rPr>
              <a:t>03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0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57D99D"/>
          </a:solidFill>
          <a:ln w="12600">
            <a:solidFill>
              <a:srgbClr val="57D9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"/>
          <p:cNvSpPr/>
          <p:nvPr/>
        </p:nvSpPr>
        <p:spPr>
          <a:xfrm>
            <a:off x="502920" y="475560"/>
            <a:ext cx="78634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06345A"/>
                </a:solidFill>
                <a:effectLst/>
                <a:uFillTx/>
                <a:latin typeface="Aptos Display"/>
                <a:ea typeface="Aptos Display"/>
              </a:rPr>
              <a:t>Arquitectura actual en AWS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2"/>
          <p:cNvSpPr/>
          <p:nvPr/>
        </p:nvSpPr>
        <p:spPr>
          <a:xfrm>
            <a:off x="530280" y="105156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5758B"/>
                </a:solidFill>
                <a:effectLst/>
                <a:uFillTx/>
                <a:latin typeface="Aptos"/>
              </a:rPr>
              <a:t>Cliente-servidor de 3 capas: frontend estático, API REST y base de datos relacional.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3"/>
          <p:cNvSpPr/>
          <p:nvPr/>
        </p:nvSpPr>
        <p:spPr>
          <a:xfrm>
            <a:off x="1058447" y="3353580"/>
            <a:ext cx="1874160" cy="776880"/>
          </a:xfrm>
          <a:prstGeom prst="rect">
            <a:avLst/>
          </a:prstGeom>
          <a:solidFill>
            <a:srgbClr val="14212E"/>
          </a:solidFill>
          <a:ln w="0">
            <a:solidFill>
              <a:srgbClr val="14212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Usuario / navegador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Chrome · Desktop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4"/>
          <p:cNvSpPr/>
          <p:nvPr/>
        </p:nvSpPr>
        <p:spPr>
          <a:xfrm>
            <a:off x="3657960" y="1632240"/>
            <a:ext cx="2057040" cy="776880"/>
          </a:xfrm>
          <a:prstGeom prst="rect">
            <a:avLst/>
          </a:prstGeom>
          <a:solidFill>
            <a:srgbClr val="1F7BCB"/>
          </a:solidFill>
          <a:ln w="0">
            <a:solidFill>
              <a:srgbClr val="1F7BC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Amazon S3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Static Website · Angular 21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5"/>
          <p:cNvSpPr/>
          <p:nvPr/>
        </p:nvSpPr>
        <p:spPr>
          <a:xfrm>
            <a:off x="6995520" y="1632240"/>
            <a:ext cx="2239920" cy="776880"/>
          </a:xfrm>
          <a:prstGeom prst="rect">
            <a:avLst/>
          </a:prstGeom>
          <a:solidFill>
            <a:srgbClr val="F2AA00"/>
          </a:solidFill>
          <a:ln w="0">
            <a:solidFill>
              <a:srgbClr val="F2AA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Elastic Beanstalk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NestJS 11 · Node 22 · API REST /api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6"/>
          <p:cNvSpPr/>
          <p:nvPr/>
        </p:nvSpPr>
        <p:spPr>
          <a:xfrm>
            <a:off x="9555840" y="3232440"/>
            <a:ext cx="1919880" cy="776880"/>
          </a:xfrm>
          <a:prstGeom prst="rect">
            <a:avLst/>
          </a:prstGeom>
          <a:solidFill>
            <a:srgbClr val="1E8848"/>
          </a:solidFill>
          <a:ln w="0">
            <a:solidFill>
              <a:srgbClr val="1E884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Amazon RDS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MySQL 8 · 21 tablas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7"/>
          <p:cNvSpPr/>
          <p:nvPr/>
        </p:nvSpPr>
        <p:spPr>
          <a:xfrm>
            <a:off x="3657960" y="4786920"/>
            <a:ext cx="2057040" cy="685440"/>
          </a:xfrm>
          <a:prstGeom prst="rect">
            <a:avLst/>
          </a:prstGeom>
          <a:solidFill>
            <a:srgbClr val="14212E"/>
          </a:solidFill>
          <a:ln w="0">
            <a:solidFill>
              <a:srgbClr val="14212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GitHub Actions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4 workflows CI/CD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8"/>
          <p:cNvSpPr/>
          <p:nvPr/>
        </p:nvSpPr>
        <p:spPr>
          <a:xfrm>
            <a:off x="6172560" y="4786920"/>
            <a:ext cx="1965600" cy="685440"/>
          </a:xfrm>
          <a:prstGeom prst="rect">
            <a:avLst/>
          </a:prstGeom>
          <a:solidFill>
            <a:srgbClr val="14212E"/>
          </a:solidFill>
          <a:ln w="0">
            <a:solidFill>
              <a:srgbClr val="14212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GitHub Repository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develop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9"/>
          <p:cNvSpPr/>
          <p:nvPr/>
        </p:nvSpPr>
        <p:spPr>
          <a:xfrm flipV="1">
            <a:off x="2932607" y="2477880"/>
            <a:ext cx="677226" cy="871482"/>
          </a:xfrm>
          <a:prstGeom prst="line">
            <a:avLst/>
          </a:prstGeom>
          <a:ln w="16560">
            <a:solidFill>
              <a:srgbClr val="5D718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0"/>
          <p:cNvSpPr/>
          <p:nvPr/>
        </p:nvSpPr>
        <p:spPr>
          <a:xfrm>
            <a:off x="2722760" y="2323284"/>
            <a:ext cx="109692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 dirty="0" err="1">
                <a:solidFill>
                  <a:srgbClr val="65758B"/>
                </a:solidFill>
                <a:effectLst/>
                <a:uFillTx/>
                <a:latin typeface="Aptos"/>
              </a:rPr>
              <a:t>descarga</a:t>
            </a:r>
            <a:r>
              <a:rPr lang="en-US" sz="710" b="0" u="none" strike="noStrike" dirty="0">
                <a:solidFill>
                  <a:srgbClr val="65758B"/>
                </a:solidFill>
                <a:effectLst/>
                <a:uFillTx/>
                <a:latin typeface="Aptos"/>
              </a:rPr>
              <a:t> Angular</a:t>
            </a:r>
            <a:endParaRPr lang="en-US" sz="71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1"/>
          <p:cNvSpPr/>
          <p:nvPr/>
        </p:nvSpPr>
        <p:spPr>
          <a:xfrm flipV="1">
            <a:off x="2932607" y="2478240"/>
            <a:ext cx="3966696" cy="1329276"/>
          </a:xfrm>
          <a:prstGeom prst="line">
            <a:avLst/>
          </a:prstGeom>
          <a:ln w="16560">
            <a:solidFill>
              <a:srgbClr val="5D718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2"/>
          <p:cNvSpPr/>
          <p:nvPr/>
        </p:nvSpPr>
        <p:spPr>
          <a:xfrm>
            <a:off x="5928542" y="2230372"/>
            <a:ext cx="109692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 dirty="0">
                <a:solidFill>
                  <a:srgbClr val="65758B"/>
                </a:solidFill>
                <a:effectLst/>
                <a:uFillTx/>
                <a:latin typeface="Aptos"/>
              </a:rPr>
              <a:t>HTTP REST /</a:t>
            </a:r>
            <a:r>
              <a:rPr lang="en-US" sz="710" b="0" u="none" strike="noStrike" dirty="0" err="1">
                <a:solidFill>
                  <a:srgbClr val="65758B"/>
                </a:solidFill>
                <a:effectLst/>
                <a:uFillTx/>
                <a:latin typeface="Aptos"/>
              </a:rPr>
              <a:t>api</a:t>
            </a:r>
            <a:endParaRPr lang="en-US" sz="71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3"/>
          <p:cNvSpPr/>
          <p:nvPr/>
        </p:nvSpPr>
        <p:spPr>
          <a:xfrm>
            <a:off x="8120160" y="2409480"/>
            <a:ext cx="1892880" cy="795240"/>
          </a:xfrm>
          <a:prstGeom prst="line">
            <a:avLst/>
          </a:prstGeom>
          <a:ln w="16560">
            <a:solidFill>
              <a:srgbClr val="5D718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4"/>
          <p:cNvSpPr/>
          <p:nvPr/>
        </p:nvSpPr>
        <p:spPr>
          <a:xfrm>
            <a:off x="9075793" y="2656620"/>
            <a:ext cx="6854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 dirty="0" err="1">
                <a:solidFill>
                  <a:srgbClr val="65758B"/>
                </a:solidFill>
                <a:effectLst/>
                <a:uFillTx/>
                <a:latin typeface="Aptos"/>
              </a:rPr>
              <a:t>TypeORM</a:t>
            </a:r>
            <a:endParaRPr lang="en-US" sz="71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5"/>
          <p:cNvSpPr/>
          <p:nvPr/>
        </p:nvSpPr>
        <p:spPr>
          <a:xfrm>
            <a:off x="5715360" y="5124960"/>
            <a:ext cx="429480" cy="360"/>
          </a:xfrm>
          <a:prstGeom prst="line">
            <a:avLst/>
          </a:prstGeom>
          <a:ln w="16560">
            <a:solidFill>
              <a:srgbClr val="5D718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6"/>
          <p:cNvSpPr/>
          <p:nvPr/>
        </p:nvSpPr>
        <p:spPr>
          <a:xfrm flipV="1">
            <a:off x="7132680" y="2409480"/>
            <a:ext cx="548640" cy="2349720"/>
          </a:xfrm>
          <a:prstGeom prst="line">
            <a:avLst/>
          </a:prstGeom>
          <a:ln w="16560">
            <a:solidFill>
              <a:srgbClr val="5D718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7"/>
          <p:cNvSpPr/>
          <p:nvPr/>
        </p:nvSpPr>
        <p:spPr>
          <a:xfrm flipH="1" flipV="1">
            <a:off x="4663800" y="2409480"/>
            <a:ext cx="365760" cy="2349720"/>
          </a:xfrm>
          <a:prstGeom prst="line">
            <a:avLst/>
          </a:prstGeom>
          <a:ln w="16560">
            <a:solidFill>
              <a:srgbClr val="5D718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8"/>
          <p:cNvSpPr/>
          <p:nvPr/>
        </p:nvSpPr>
        <p:spPr>
          <a:xfrm>
            <a:off x="333688" y="6016320"/>
            <a:ext cx="3154320" cy="347040"/>
          </a:xfrm>
          <a:prstGeom prst="rect">
            <a:avLst/>
          </a:prstGeom>
          <a:solidFill>
            <a:srgbClr val="C9F3DF"/>
          </a:solidFill>
          <a:ln w="0">
            <a:solidFill>
              <a:srgbClr val="C9F3D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0" b="1" u="none" strike="noStrike">
                <a:solidFill>
                  <a:srgbClr val="0B2440"/>
                </a:solidFill>
                <a:effectLst/>
                <a:uFillTx/>
                <a:latin typeface="Aptos"/>
              </a:rPr>
              <a:t>Sin microservicios · sin WebSocket · staging académico</a:t>
            </a:r>
            <a:endParaRPr lang="en-US" sz="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9"/>
          <p:cNvSpPr/>
          <p:nvPr/>
        </p:nvSpPr>
        <p:spPr>
          <a:xfrm>
            <a:off x="5925060" y="5888520"/>
            <a:ext cx="66290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19324A"/>
                </a:solidFill>
                <a:effectLst/>
                <a:uFillTx/>
                <a:latin typeface="Aptos"/>
              </a:rPr>
              <a:t>Decisión — monolito modular suficiente para el tamaño del equipo y alcance MVP.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19324A"/>
                </a:solidFill>
                <a:effectLst/>
                <a:uFillTx/>
                <a:latin typeface="Aptos"/>
              </a:rPr>
              <a:t>Limitación — S3 Static Website funciona por HTTP; CloudFront + HTTPS queda como mejora futura.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0"/>
          <p:cNvSpPr/>
          <p:nvPr/>
        </p:nvSpPr>
        <p:spPr>
          <a:xfrm>
            <a:off x="502920" y="6546960"/>
            <a:ext cx="53031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5758B"/>
                </a:solidFill>
                <a:effectLst/>
                <a:uFillTx/>
                <a:latin typeface="Aptos"/>
                <a:ea typeface="Aptos"/>
              </a:rPr>
              <a:t>Aulafy · EFT Taller Aplicado de Software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1"/>
          <p:cNvSpPr/>
          <p:nvPr/>
        </p:nvSpPr>
        <p:spPr>
          <a:xfrm>
            <a:off x="11475720" y="6510600"/>
            <a:ext cx="3470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5758B"/>
                </a:solidFill>
                <a:effectLst/>
                <a:uFillTx/>
                <a:latin typeface="Aptos"/>
                <a:ea typeface="Aptos"/>
              </a:rPr>
              <a:t>04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0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57D99D"/>
          </a:solidFill>
          <a:ln w="12600">
            <a:solidFill>
              <a:srgbClr val="57D9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"/>
          <p:cNvSpPr/>
          <p:nvPr/>
        </p:nvSpPr>
        <p:spPr>
          <a:xfrm>
            <a:off x="686160" y="439749"/>
            <a:ext cx="78634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06345A"/>
                </a:solidFill>
                <a:effectLst/>
                <a:uFillTx/>
                <a:latin typeface="Aptos Display"/>
                <a:ea typeface="Aptos Display"/>
              </a:rPr>
              <a:t>Autorización contextual por curso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"/>
          <p:cNvSpPr/>
          <p:nvPr/>
        </p:nvSpPr>
        <p:spPr>
          <a:xfrm>
            <a:off x="686160" y="100493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5758B"/>
                </a:solidFill>
                <a:effectLst/>
                <a:uFillTx/>
                <a:latin typeface="Aptos"/>
              </a:rPr>
              <a:t>La regla crítica fue diferenciar profesor jefe y profesor de asignatura.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3"/>
          <p:cNvSpPr/>
          <p:nvPr/>
        </p:nvSpPr>
        <p:spPr>
          <a:xfrm>
            <a:off x="685799" y="1627559"/>
            <a:ext cx="3489279" cy="4069651"/>
          </a:xfrm>
          <a:prstGeom prst="rect">
            <a:avLst/>
          </a:prstGeom>
          <a:solidFill>
            <a:srgbClr val="FFFFFF"/>
          </a:solidFill>
          <a:ln w="12600">
            <a:solidFill>
              <a:srgbClr val="D8E3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160" tIns="2160" rIns="2160" bIns="2160" anchor="ctr">
            <a:normAutofit/>
          </a:bodyPr>
          <a:lstStyle/>
          <a:p>
            <a:pPr marL="360000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19324A"/>
                </a:solidFill>
                <a:effectLst/>
                <a:uFillTx/>
                <a:latin typeface="Aptos"/>
              </a:rPr>
              <a:t>Regla de </a:t>
            </a:r>
            <a:r>
              <a:rPr lang="en-US" sz="1200" b="0" u="none" strike="noStrike" dirty="0" err="1">
                <a:solidFill>
                  <a:srgbClr val="19324A"/>
                </a:solidFill>
                <a:effectLst/>
                <a:uFillTx/>
                <a:latin typeface="Aptos"/>
              </a:rPr>
              <a:t>negocio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 err="1">
                <a:solidFill>
                  <a:srgbClr val="19324A"/>
                </a:solidFill>
                <a:effectLst/>
                <a:uFillTx/>
                <a:latin typeface="Aptos"/>
              </a:rPr>
              <a:t>role_in_course</a:t>
            </a:r>
            <a:r>
              <a:rPr lang="en-US" sz="1200" b="0" u="none" strike="noStrike" dirty="0">
                <a:solidFill>
                  <a:srgbClr val="19324A"/>
                </a:solidFill>
                <a:effectLst/>
                <a:uFillTx/>
                <a:latin typeface="Aptos"/>
              </a:rPr>
              <a:t> define el </a:t>
            </a:r>
            <a:r>
              <a:rPr lang="en-US" sz="1200" b="0" u="none" strike="noStrike" dirty="0" err="1">
                <a:solidFill>
                  <a:srgbClr val="19324A"/>
                </a:solidFill>
                <a:effectLst/>
                <a:uFillTx/>
                <a:latin typeface="Aptos"/>
              </a:rPr>
              <a:t>rol</a:t>
            </a:r>
            <a:r>
              <a:rPr lang="en-US" sz="1200" b="0" u="none" strike="noStrike" dirty="0">
                <a:solidFill>
                  <a:srgbClr val="19324A"/>
                </a:solidFill>
                <a:effectLst/>
                <a:uFillTx/>
                <a:latin typeface="Aptos"/>
              </a:rPr>
              <a:t> real del </a:t>
            </a:r>
            <a:r>
              <a:rPr lang="en-US" sz="1200" b="0" u="none" strike="noStrike" dirty="0" err="1">
                <a:solidFill>
                  <a:srgbClr val="19324A"/>
                </a:solidFill>
                <a:effectLst/>
                <a:uFillTx/>
                <a:latin typeface="Aptos"/>
              </a:rPr>
              <a:t>docente</a:t>
            </a:r>
            <a:r>
              <a:rPr lang="en-US" sz="1200" b="0" u="none" strike="noStrike" dirty="0">
                <a:solidFill>
                  <a:srgbClr val="19324A"/>
                </a:solidFill>
                <a:effectLst/>
                <a:uFillTx/>
                <a:latin typeface="Aptos"/>
              </a:rPr>
              <a:t> </a:t>
            </a:r>
            <a:r>
              <a:rPr lang="en-US" sz="1200" b="0" u="none" strike="noStrike" dirty="0" err="1">
                <a:solidFill>
                  <a:srgbClr val="19324A"/>
                </a:solidFill>
                <a:effectLst/>
                <a:uFillTx/>
                <a:latin typeface="Aptos"/>
              </a:rPr>
              <a:t>dentro</a:t>
            </a:r>
            <a:r>
              <a:rPr lang="en-US" sz="1200" b="0" u="none" strike="noStrike" dirty="0">
                <a:solidFill>
                  <a:srgbClr val="19324A"/>
                </a:solidFill>
                <a:effectLst/>
                <a:uFillTx/>
                <a:latin typeface="Aptos"/>
              </a:rPr>
              <a:t> de </a:t>
            </a:r>
            <a:r>
              <a:rPr lang="en-US" sz="1200" b="0" u="none" strike="noStrike" dirty="0" err="1">
                <a:solidFill>
                  <a:srgbClr val="19324A"/>
                </a:solidFill>
                <a:effectLst/>
                <a:uFillTx/>
                <a:latin typeface="Aptos"/>
              </a:rPr>
              <a:t>cada</a:t>
            </a:r>
            <a:r>
              <a:rPr lang="en-US" sz="1200" b="0" u="none" strike="noStrike" dirty="0">
                <a:solidFill>
                  <a:srgbClr val="19324A"/>
                </a:solidFill>
                <a:effectLst/>
                <a:uFillTx/>
                <a:latin typeface="Aptos"/>
              </a:rPr>
              <a:t> </a:t>
            </a:r>
            <a:r>
              <a:rPr lang="en-US" sz="1200" b="0" u="none" strike="noStrike" dirty="0" err="1">
                <a:solidFill>
                  <a:srgbClr val="19324A"/>
                </a:solidFill>
                <a:effectLst/>
                <a:uFillTx/>
                <a:latin typeface="Aptos"/>
              </a:rPr>
              <a:t>curso</a:t>
            </a:r>
            <a:r>
              <a:rPr lang="en-US" sz="1200" b="0" u="none" strike="noStrike" dirty="0">
                <a:solidFill>
                  <a:srgbClr val="19324A"/>
                </a:solidFill>
                <a:effectLst/>
                <a:uFillTx/>
                <a:latin typeface="Aptos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19324A"/>
                </a:solidFill>
                <a:effectLst/>
                <a:uFillTx/>
                <a:latin typeface="Aptos"/>
              </a:rPr>
              <a:t>El backend es la </a:t>
            </a:r>
            <a:r>
              <a:rPr lang="en-US" sz="1200" b="0" u="none" strike="noStrike" dirty="0" err="1">
                <a:solidFill>
                  <a:srgbClr val="19324A"/>
                </a:solidFill>
                <a:effectLst/>
                <a:uFillTx/>
                <a:latin typeface="Aptos"/>
              </a:rPr>
              <a:t>autoridad</a:t>
            </a:r>
            <a:r>
              <a:rPr lang="en-US" sz="1200" b="0" u="none" strike="noStrike" dirty="0">
                <a:solidFill>
                  <a:srgbClr val="19324A"/>
                </a:solidFill>
                <a:effectLst/>
                <a:uFillTx/>
                <a:latin typeface="Aptos"/>
              </a:rPr>
              <a:t> final de </a:t>
            </a:r>
            <a:r>
              <a:rPr lang="en-US" sz="1200" b="0" u="none" strike="noStrike" dirty="0" err="1">
                <a:solidFill>
                  <a:srgbClr val="19324A"/>
                </a:solidFill>
                <a:effectLst/>
                <a:uFillTx/>
                <a:latin typeface="Aptos"/>
              </a:rPr>
              <a:t>permisos</a:t>
            </a:r>
            <a:r>
              <a:rPr lang="en-US" sz="1200" b="0" u="none" strike="noStrike" dirty="0">
                <a:solidFill>
                  <a:srgbClr val="19324A"/>
                </a:solidFill>
                <a:effectLst/>
                <a:uFillTx/>
                <a:latin typeface="Aptos"/>
              </a:rPr>
              <a:t>;</a:t>
            </a:r>
          </a:p>
          <a:p>
            <a:pPr marL="360000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19324A"/>
                </a:solidFill>
                <a:effectLst/>
                <a:uFillTx/>
                <a:latin typeface="Aptos"/>
              </a:rPr>
              <a:t>el frontend solo </a:t>
            </a:r>
            <a:r>
              <a:rPr lang="en-US" sz="1200" b="0" u="none" strike="noStrike" dirty="0" err="1">
                <a:solidFill>
                  <a:srgbClr val="19324A"/>
                </a:solidFill>
                <a:effectLst/>
                <a:uFillTx/>
                <a:latin typeface="Aptos"/>
              </a:rPr>
              <a:t>refleja</a:t>
            </a:r>
            <a:r>
              <a:rPr lang="en-US" sz="1200" b="0" u="none" strike="noStrike" dirty="0">
                <a:solidFill>
                  <a:srgbClr val="19324A"/>
                </a:solidFill>
                <a:effectLst/>
                <a:uFillTx/>
                <a:latin typeface="Aptos"/>
              </a:rPr>
              <a:t> las </a:t>
            </a:r>
            <a:r>
              <a:rPr lang="en-US" sz="1200" b="0" u="none" strike="noStrike" dirty="0" err="1">
                <a:solidFill>
                  <a:srgbClr val="19324A"/>
                </a:solidFill>
                <a:effectLst/>
                <a:uFillTx/>
                <a:latin typeface="Aptos"/>
              </a:rPr>
              <a:t>restricciones</a:t>
            </a:r>
            <a:r>
              <a:rPr lang="en-US" sz="1200" b="0" u="none" strike="noStrike" dirty="0">
                <a:solidFill>
                  <a:srgbClr val="19324A"/>
                </a:solidFill>
                <a:effectLst/>
                <a:uFillTx/>
                <a:latin typeface="Aptos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4"/>
          <p:cNvSpPr/>
          <p:nvPr/>
        </p:nvSpPr>
        <p:spPr>
          <a:xfrm>
            <a:off x="4343400" y="1691639"/>
            <a:ext cx="3190164" cy="860491"/>
          </a:xfrm>
          <a:prstGeom prst="rect">
            <a:avLst/>
          </a:prstGeom>
          <a:solidFill>
            <a:srgbClr val="1E8848"/>
          </a:solidFill>
          <a:ln w="0">
            <a:solidFill>
              <a:srgbClr val="1E884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marL="360000"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HEAD_TEACHER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60000"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Administra salas generales de Chat de sus cursos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5"/>
          <p:cNvSpPr/>
          <p:nvPr/>
        </p:nvSpPr>
        <p:spPr>
          <a:xfrm>
            <a:off x="7635240" y="1691639"/>
            <a:ext cx="3190164" cy="860491"/>
          </a:xfrm>
          <a:prstGeom prst="rect">
            <a:avLst/>
          </a:prstGeom>
          <a:solidFill>
            <a:srgbClr val="F28C28"/>
          </a:solidFill>
          <a:ln w="0">
            <a:solidFill>
              <a:srgbClr val="F28C2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marL="360000"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SUBJECT_TEACHER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Acceso académico acotado; sin administración de Chat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6"/>
          <p:cNvSpPr/>
          <p:nvPr/>
        </p:nvSpPr>
        <p:spPr>
          <a:xfrm>
            <a:off x="4343400" y="2971800"/>
            <a:ext cx="6779540" cy="1141182"/>
          </a:xfrm>
          <a:prstGeom prst="rect">
            <a:avLst/>
          </a:prstGeom>
          <a:solidFill>
            <a:srgbClr val="FFFFFF"/>
          </a:solidFill>
          <a:ln w="12600">
            <a:solidFill>
              <a:srgbClr val="D8E3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160" tIns="2160" rIns="2160" bIns="2160" anchor="ctr">
            <a:normAutofit/>
          </a:bodyPr>
          <a:lstStyle/>
          <a:p>
            <a:pPr marL="360000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324A"/>
                </a:solidFill>
                <a:effectLst/>
                <a:uFillTx/>
                <a:latin typeface="Aptos"/>
              </a:rPr>
              <a:t>Riesgo académico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324A"/>
                </a:solidFill>
                <a:effectLst/>
                <a:uFillTx/>
                <a:latin typeface="Aptos"/>
              </a:rPr>
              <a:t>ADMIN y COLEGIO poseen acceso general. HEAD_TEACHER consulta únicamente sus propios cursos. SUBJECT_TEACHER no posee el mismo acceso.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7"/>
          <p:cNvSpPr/>
          <p:nvPr/>
        </p:nvSpPr>
        <p:spPr>
          <a:xfrm>
            <a:off x="4343400" y="4407480"/>
            <a:ext cx="6779540" cy="888486"/>
          </a:xfrm>
          <a:prstGeom prst="rect">
            <a:avLst/>
          </a:prstGeom>
          <a:solidFill>
            <a:srgbClr val="FFFFFF"/>
          </a:solidFill>
          <a:ln w="12600">
            <a:solidFill>
              <a:srgbClr val="D8E3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160" tIns="2160" rIns="2160" bIns="2160" anchor="ctr">
            <a:normAutofit/>
          </a:bodyPr>
          <a:lstStyle/>
          <a:p>
            <a:pPr marL="360000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324A"/>
                </a:solidFill>
                <a:effectLst/>
                <a:uFillTx/>
                <a:latin typeface="Aptos"/>
              </a:rPr>
              <a:t>Validación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324A"/>
                </a:solidFill>
                <a:effectLst/>
                <a:uFillTx/>
                <a:latin typeface="Aptos"/>
              </a:rPr>
              <a:t>Autorización validada mediante pruebas unitarias, regresión y smoke test por perfil.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8"/>
          <p:cNvSpPr/>
          <p:nvPr/>
        </p:nvSpPr>
        <p:spPr>
          <a:xfrm>
            <a:off x="502920" y="6546960"/>
            <a:ext cx="53031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5758B"/>
                </a:solidFill>
                <a:effectLst/>
                <a:uFillTx/>
                <a:latin typeface="Aptos"/>
                <a:ea typeface="Aptos"/>
              </a:rPr>
              <a:t>Aulafy · EFT Taller Aplicado de Software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9"/>
          <p:cNvSpPr/>
          <p:nvPr/>
        </p:nvSpPr>
        <p:spPr>
          <a:xfrm>
            <a:off x="11475720" y="6510600"/>
            <a:ext cx="3470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5758B"/>
                </a:solidFill>
                <a:effectLst/>
                <a:uFillTx/>
                <a:latin typeface="Aptos"/>
                <a:ea typeface="Aptos"/>
              </a:rPr>
              <a:t>05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0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57D99D"/>
          </a:solidFill>
          <a:ln w="12600">
            <a:solidFill>
              <a:srgbClr val="57D9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"/>
          <p:cNvSpPr/>
          <p:nvPr/>
        </p:nvSpPr>
        <p:spPr>
          <a:xfrm>
            <a:off x="926000" y="619650"/>
            <a:ext cx="78634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06345A"/>
                </a:solidFill>
                <a:effectLst/>
                <a:uFillTx/>
                <a:latin typeface="Aptos Display"/>
                <a:ea typeface="Aptos Display"/>
              </a:rPr>
              <a:t>Funcionalidad clave: Chat por curso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2"/>
          <p:cNvSpPr/>
          <p:nvPr/>
        </p:nvSpPr>
        <p:spPr>
          <a:xfrm>
            <a:off x="953360" y="119565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5758B"/>
                </a:solidFill>
                <a:effectLst/>
                <a:uFillTx/>
                <a:latin typeface="Aptos"/>
              </a:rPr>
              <a:t>Múltiples salas activas, eliminación lógica, validación de nombres y restricción por rol docente.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3"/>
          <p:cNvSpPr/>
          <p:nvPr/>
        </p:nvSpPr>
        <p:spPr>
          <a:xfrm>
            <a:off x="613467" y="3200400"/>
            <a:ext cx="1508400" cy="685440"/>
          </a:xfrm>
          <a:prstGeom prst="rect">
            <a:avLst/>
          </a:prstGeom>
          <a:solidFill>
            <a:srgbClr val="06345A"/>
          </a:solidFill>
          <a:ln w="0">
            <a:solidFill>
              <a:srgbClr val="06345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Curso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6 Básico B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4"/>
          <p:cNvSpPr/>
          <p:nvPr/>
        </p:nvSpPr>
        <p:spPr>
          <a:xfrm>
            <a:off x="2670867" y="2286000"/>
            <a:ext cx="2057040" cy="639720"/>
          </a:xfrm>
          <a:prstGeom prst="rect">
            <a:avLst/>
          </a:prstGeom>
          <a:solidFill>
            <a:srgbClr val="1F7BCB"/>
          </a:solidFill>
          <a:ln w="0">
            <a:solidFill>
              <a:srgbClr val="1F7BC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Sala 1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Comunicados generales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5"/>
          <p:cNvSpPr/>
          <p:nvPr/>
        </p:nvSpPr>
        <p:spPr>
          <a:xfrm>
            <a:off x="2670867" y="3200400"/>
            <a:ext cx="2057040" cy="639720"/>
          </a:xfrm>
          <a:prstGeom prst="rect">
            <a:avLst/>
          </a:prstGeom>
          <a:solidFill>
            <a:srgbClr val="1F7BCB"/>
          </a:solidFill>
          <a:ln w="0">
            <a:solidFill>
              <a:srgbClr val="1F7BC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Sala 2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Reunión apoderados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6"/>
          <p:cNvSpPr/>
          <p:nvPr/>
        </p:nvSpPr>
        <p:spPr>
          <a:xfrm>
            <a:off x="2670867" y="4114800"/>
            <a:ext cx="2057040" cy="639720"/>
          </a:xfrm>
          <a:prstGeom prst="rect">
            <a:avLst/>
          </a:prstGeom>
          <a:solidFill>
            <a:srgbClr val="1F7BCB"/>
          </a:solidFill>
          <a:ln w="0">
            <a:solidFill>
              <a:srgbClr val="1F7BC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Sala 3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Demostración EFT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7"/>
          <p:cNvSpPr/>
          <p:nvPr/>
        </p:nvSpPr>
        <p:spPr>
          <a:xfrm flipV="1">
            <a:off x="2122227" y="2606040"/>
            <a:ext cx="530280" cy="941760"/>
          </a:xfrm>
          <a:prstGeom prst="line">
            <a:avLst/>
          </a:prstGeom>
          <a:ln w="16560">
            <a:solidFill>
              <a:srgbClr val="5D718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8"/>
          <p:cNvSpPr/>
          <p:nvPr/>
        </p:nvSpPr>
        <p:spPr>
          <a:xfrm flipV="1">
            <a:off x="2122227" y="3520440"/>
            <a:ext cx="530280" cy="27360"/>
          </a:xfrm>
          <a:prstGeom prst="line">
            <a:avLst/>
          </a:prstGeom>
          <a:ln w="16560">
            <a:solidFill>
              <a:srgbClr val="5D718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7640" rIns="90000" bIns="-17640" anchor="t" anchorCtr="1">
            <a:noAutofit/>
          </a:bodyPr>
          <a:lstStyle/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9"/>
          <p:cNvSpPr/>
          <p:nvPr/>
        </p:nvSpPr>
        <p:spPr>
          <a:xfrm>
            <a:off x="2122227" y="3547800"/>
            <a:ext cx="530280" cy="887040"/>
          </a:xfrm>
          <a:prstGeom prst="line">
            <a:avLst/>
          </a:prstGeom>
          <a:ln w="16560">
            <a:solidFill>
              <a:srgbClr val="5D718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0"/>
          <p:cNvSpPr/>
          <p:nvPr/>
        </p:nvSpPr>
        <p:spPr>
          <a:xfrm>
            <a:off x="5605200" y="1916100"/>
            <a:ext cx="2925720" cy="2834280"/>
          </a:xfrm>
          <a:prstGeom prst="rect">
            <a:avLst/>
          </a:prstGeom>
          <a:solidFill>
            <a:srgbClr val="FFFFFF"/>
          </a:solidFill>
          <a:ln w="12600">
            <a:solidFill>
              <a:srgbClr val="D8E3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160" tIns="2160" rIns="2160" bIns="2160" anchor="ctr">
            <a:normAutofit/>
          </a:bodyPr>
          <a:lstStyle/>
          <a:p>
            <a:pPr marL="360000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324A"/>
                </a:solidFill>
                <a:effectLst/>
                <a:uFillTx/>
                <a:latin typeface="Aptos"/>
              </a:rPr>
              <a:t>Cambios finales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324A"/>
                </a:solidFill>
                <a:effectLst/>
                <a:uFillTx/>
                <a:latin typeface="Aptos"/>
              </a:rPr>
              <a:t>Múltiples salas por curso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324A"/>
                </a:solidFill>
                <a:effectLst/>
                <a:uFillTx/>
                <a:latin typeface="Aptos"/>
              </a:rPr>
              <a:t>Eliminación lógica: active = false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324A"/>
                </a:solidFill>
                <a:effectLst/>
                <a:uFillTx/>
                <a:latin typeface="Aptos"/>
              </a:rPr>
              <a:t>MaxLength(160) y nombres requeridos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324A"/>
                </a:solidFill>
                <a:effectLst/>
                <a:uFillTx/>
                <a:latin typeface="Aptos"/>
              </a:rPr>
              <a:t>Duplicados case-insensitive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324A"/>
                </a:solidFill>
                <a:effectLst/>
                <a:uFillTx/>
                <a:latin typeface="Aptos"/>
              </a:rPr>
              <a:t>Crear/eliminar solo HEAD_TEACHER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1"/>
          <p:cNvSpPr/>
          <p:nvPr/>
        </p:nvSpPr>
        <p:spPr>
          <a:xfrm>
            <a:off x="8851320" y="1916100"/>
            <a:ext cx="2468520" cy="1234080"/>
          </a:xfrm>
          <a:prstGeom prst="rect">
            <a:avLst/>
          </a:prstGeom>
          <a:solidFill>
            <a:srgbClr val="FFFFFF"/>
          </a:solidFill>
          <a:ln w="12600">
            <a:solidFill>
              <a:srgbClr val="D8E3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160" tIns="2160" rIns="2160" bIns="2160" anchor="ctr">
            <a:normAutofit/>
          </a:bodyPr>
          <a:lstStyle/>
          <a:p>
            <a:pPr marL="360000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324A"/>
                </a:solidFill>
                <a:effectLst/>
                <a:uFillTx/>
                <a:latin typeface="Aptos"/>
              </a:rPr>
              <a:t>Trazabilidad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324A"/>
                </a:solidFill>
                <a:effectLst/>
                <a:uFillTx/>
                <a:latin typeface="Aptos"/>
              </a:rPr>
              <a:t>La eliminación lógica evita borrar historial y mantiene evidencia de comunicaciones.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2"/>
          <p:cNvSpPr/>
          <p:nvPr/>
        </p:nvSpPr>
        <p:spPr>
          <a:xfrm>
            <a:off x="8184240" y="5806440"/>
            <a:ext cx="3291480" cy="347040"/>
          </a:xfrm>
          <a:prstGeom prst="rect">
            <a:avLst/>
          </a:prstGeom>
          <a:solidFill>
            <a:srgbClr val="C9F3DF"/>
          </a:solidFill>
          <a:ln w="0">
            <a:solidFill>
              <a:srgbClr val="C9F3D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0" b="1" u="none" strike="noStrike">
                <a:solidFill>
                  <a:srgbClr val="0B2440"/>
                </a:solidFill>
                <a:effectLst/>
                <a:uFillTx/>
                <a:latin typeface="Aptos"/>
              </a:rPr>
              <a:t>commit 265b2cb · gestión de salas por profesor jefe</a:t>
            </a:r>
            <a:endParaRPr lang="en-US" sz="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3"/>
          <p:cNvSpPr/>
          <p:nvPr/>
        </p:nvSpPr>
        <p:spPr>
          <a:xfrm>
            <a:off x="502920" y="6546960"/>
            <a:ext cx="53031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5758B"/>
                </a:solidFill>
                <a:effectLst/>
                <a:uFillTx/>
                <a:latin typeface="Aptos"/>
                <a:ea typeface="Aptos"/>
              </a:rPr>
              <a:t>Aulafy · EFT Taller Aplicado de Software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4"/>
          <p:cNvSpPr/>
          <p:nvPr/>
        </p:nvSpPr>
        <p:spPr>
          <a:xfrm>
            <a:off x="11475720" y="6510600"/>
            <a:ext cx="3470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5758B"/>
                </a:solidFill>
                <a:effectLst/>
                <a:uFillTx/>
                <a:latin typeface="Aptos"/>
                <a:ea typeface="Aptos"/>
              </a:rPr>
              <a:t>06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0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57D99D"/>
          </a:solidFill>
          <a:ln w="12600">
            <a:solidFill>
              <a:srgbClr val="57D9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"/>
          <p:cNvSpPr/>
          <p:nvPr/>
        </p:nvSpPr>
        <p:spPr>
          <a:xfrm>
            <a:off x="1033200" y="531973"/>
            <a:ext cx="78634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06345A"/>
                </a:solidFill>
                <a:effectLst/>
                <a:uFillTx/>
                <a:latin typeface="Aptos Display"/>
                <a:ea typeface="Aptos Display"/>
              </a:rPr>
              <a:t>Calidad, pruebas y corrección de defectos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"/>
          <p:cNvSpPr/>
          <p:nvPr/>
        </p:nvSpPr>
        <p:spPr>
          <a:xfrm>
            <a:off x="1060560" y="1107973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5758B"/>
                </a:solidFill>
                <a:effectLst/>
                <a:uFillTx/>
                <a:latin typeface="Aptos"/>
              </a:rPr>
              <a:t>La validación combinó pruebas automatizadas, smoke test manual y trazabilidad de defectos.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3"/>
          <p:cNvSpPr/>
          <p:nvPr/>
        </p:nvSpPr>
        <p:spPr>
          <a:xfrm>
            <a:off x="2743200" y="1931808"/>
            <a:ext cx="11426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 dirty="0">
                <a:solidFill>
                  <a:srgbClr val="06345A"/>
                </a:solidFill>
                <a:effectLst/>
                <a:uFillTx/>
                <a:latin typeface="Aptos"/>
              </a:rPr>
              <a:t>99/99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4"/>
          <p:cNvSpPr/>
          <p:nvPr/>
        </p:nvSpPr>
        <p:spPr>
          <a:xfrm>
            <a:off x="2606040" y="2389008"/>
            <a:ext cx="1416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5758B"/>
                </a:solidFill>
                <a:effectLst/>
                <a:uFillTx/>
                <a:latin typeface="Aptos"/>
              </a:rPr>
              <a:t>pruebas automatizadas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5"/>
          <p:cNvSpPr/>
          <p:nvPr/>
        </p:nvSpPr>
        <p:spPr>
          <a:xfrm>
            <a:off x="4663440" y="1931808"/>
            <a:ext cx="11426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6345A"/>
                </a:solidFill>
                <a:effectLst/>
                <a:uFillTx/>
                <a:latin typeface="Aptos"/>
              </a:rPr>
              <a:t>12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6"/>
          <p:cNvSpPr/>
          <p:nvPr/>
        </p:nvSpPr>
        <p:spPr>
          <a:xfrm>
            <a:off x="4526280" y="2389008"/>
            <a:ext cx="1416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5758B"/>
                </a:solidFill>
                <a:effectLst/>
                <a:uFillTx/>
                <a:latin typeface="Aptos"/>
              </a:rPr>
              <a:t>suites Jest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7"/>
          <p:cNvSpPr/>
          <p:nvPr/>
        </p:nvSpPr>
        <p:spPr>
          <a:xfrm>
            <a:off x="6583680" y="1931808"/>
            <a:ext cx="11426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6345A"/>
                </a:solidFill>
                <a:effectLst/>
                <a:uFillTx/>
                <a:latin typeface="Aptos"/>
              </a:rPr>
              <a:t>18/18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8"/>
          <p:cNvSpPr/>
          <p:nvPr/>
        </p:nvSpPr>
        <p:spPr>
          <a:xfrm>
            <a:off x="6446520" y="2389008"/>
            <a:ext cx="1416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5758B"/>
                </a:solidFill>
                <a:effectLst/>
                <a:uFillTx/>
                <a:latin typeface="Aptos"/>
              </a:rPr>
              <a:t>escenarios smoke test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9"/>
          <p:cNvSpPr/>
          <p:nvPr/>
        </p:nvSpPr>
        <p:spPr>
          <a:xfrm>
            <a:off x="8503920" y="1931808"/>
            <a:ext cx="11426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6345A"/>
                </a:solidFill>
                <a:effectLst/>
                <a:uFillTx/>
                <a:latin typeface="Aptos"/>
              </a:rPr>
              <a:t>10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0"/>
          <p:cNvSpPr/>
          <p:nvPr/>
        </p:nvSpPr>
        <p:spPr>
          <a:xfrm>
            <a:off x="8366760" y="2389008"/>
            <a:ext cx="1416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5758B"/>
                </a:solidFill>
                <a:effectLst/>
                <a:uFillTx/>
                <a:latin typeface="Aptos"/>
              </a:rPr>
              <a:t>defectos corregidos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1"/>
          <p:cNvSpPr/>
          <p:nvPr/>
        </p:nvSpPr>
        <p:spPr>
          <a:xfrm>
            <a:off x="1033200" y="3514981"/>
            <a:ext cx="4297320" cy="1874160"/>
          </a:xfrm>
          <a:prstGeom prst="rect">
            <a:avLst/>
          </a:prstGeom>
          <a:solidFill>
            <a:srgbClr val="FFFFFF"/>
          </a:solidFill>
          <a:ln w="12600">
            <a:solidFill>
              <a:srgbClr val="D8E3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160" tIns="2160" rIns="2160" bIns="2160" anchor="ctr">
            <a:normAutofit/>
          </a:bodyPr>
          <a:lstStyle/>
          <a:p>
            <a:pPr marL="180000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324A"/>
                </a:solidFill>
                <a:effectLst/>
                <a:uFillTx/>
                <a:latin typeface="Aptos"/>
              </a:rPr>
              <a:t>Defectos clave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324A"/>
                </a:solidFill>
                <a:effectLst/>
                <a:uFillTx/>
                <a:latin typeface="Aptos"/>
              </a:rPr>
              <a:t>Permisos: SUBJECT_TEACHER sin acceso indebido a Chat.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324A"/>
                </a:solidFill>
                <a:effectLst/>
                <a:uFillTx/>
                <a:latin typeface="Aptos"/>
              </a:rPr>
              <a:t>Logout: apoderado y estudiante vuelven a /login.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324A"/>
                </a:solidFill>
                <a:effectLst/>
                <a:uFillTx/>
                <a:latin typeface="Aptos"/>
              </a:rPr>
              <a:t>Chat: recarga directa, múltiples salas y eliminación lógica.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324A"/>
                </a:solidFill>
                <a:effectLst/>
                <a:uFillTx/>
                <a:latin typeface="Aptos"/>
              </a:rPr>
              <a:t>Validación: largo máximo y duplicados normalizados.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2"/>
          <p:cNvSpPr/>
          <p:nvPr/>
        </p:nvSpPr>
        <p:spPr>
          <a:xfrm>
            <a:off x="5788080" y="3514981"/>
            <a:ext cx="3200040" cy="1874160"/>
          </a:xfrm>
          <a:prstGeom prst="rect">
            <a:avLst/>
          </a:prstGeom>
          <a:solidFill>
            <a:srgbClr val="FFFFFF"/>
          </a:solidFill>
          <a:ln w="12600">
            <a:solidFill>
              <a:srgbClr val="D8E3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160" tIns="2160" rIns="2160" bIns="2160" anchor="ctr">
            <a:normAutofit/>
          </a:bodyPr>
          <a:lstStyle/>
          <a:p>
            <a:pPr marL="180000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324A"/>
                </a:solidFill>
                <a:effectLst/>
                <a:uFillTx/>
                <a:latin typeface="Aptos"/>
              </a:rPr>
              <a:t>Retroalimentación aplicada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324A"/>
                </a:solidFill>
                <a:effectLst/>
                <a:uFillTx/>
                <a:latin typeface="Aptos"/>
              </a:rPr>
              <a:t>La observación de Semana 8 se respondió con un registro consolidado de 10 defectos reales entre semanas 6 a 8, con gravedad e impacto separados.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3"/>
          <p:cNvSpPr/>
          <p:nvPr/>
        </p:nvSpPr>
        <p:spPr>
          <a:xfrm>
            <a:off x="9262800" y="3514981"/>
            <a:ext cx="2057040" cy="1874160"/>
          </a:xfrm>
          <a:prstGeom prst="rect">
            <a:avLst/>
          </a:prstGeom>
          <a:solidFill>
            <a:srgbClr val="FFFFFF"/>
          </a:solidFill>
          <a:ln w="12600">
            <a:solidFill>
              <a:srgbClr val="D8E3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160" tIns="2160" rIns="2160" bIns="2160" anchor="ctr">
            <a:normAutofit/>
          </a:bodyPr>
          <a:lstStyle/>
          <a:p>
            <a:pPr marL="180000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324A"/>
                </a:solidFill>
                <a:effectLst/>
                <a:uFillTx/>
                <a:latin typeface="Aptos"/>
              </a:rPr>
              <a:t>Cobertura global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324A"/>
                </a:solidFill>
                <a:effectLst/>
                <a:uFillTx/>
                <a:latin typeface="Aptos"/>
              </a:rPr>
              <a:t>Statements 69,30%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324A"/>
                </a:solidFill>
                <a:effectLst/>
                <a:uFillTx/>
                <a:latin typeface="Aptos"/>
              </a:rPr>
              <a:t>Branches 48,12%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324A"/>
                </a:solidFill>
                <a:effectLst/>
                <a:uFillTx/>
                <a:latin typeface="Aptos"/>
              </a:rPr>
              <a:t>Functions 59,66%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324A"/>
                </a:solidFill>
                <a:effectLst/>
                <a:uFillTx/>
                <a:latin typeface="Aptos"/>
              </a:rPr>
              <a:t>Lines 68,24%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4"/>
          <p:cNvSpPr/>
          <p:nvPr/>
        </p:nvSpPr>
        <p:spPr>
          <a:xfrm>
            <a:off x="502920" y="6546960"/>
            <a:ext cx="53031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5758B"/>
                </a:solidFill>
                <a:effectLst/>
                <a:uFillTx/>
                <a:latin typeface="Aptos"/>
                <a:ea typeface="Aptos"/>
              </a:rPr>
              <a:t>Aulafy · EFT Taller Aplicado de Software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5"/>
          <p:cNvSpPr/>
          <p:nvPr/>
        </p:nvSpPr>
        <p:spPr>
          <a:xfrm>
            <a:off x="11475720" y="6510600"/>
            <a:ext cx="3470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5758B"/>
                </a:solidFill>
                <a:effectLst/>
                <a:uFillTx/>
                <a:latin typeface="Aptos"/>
                <a:ea typeface="Aptos"/>
              </a:rPr>
              <a:t>07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0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57D99D"/>
          </a:solidFill>
          <a:ln w="12600">
            <a:solidFill>
              <a:srgbClr val="57D9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"/>
          <p:cNvSpPr/>
          <p:nvPr/>
        </p:nvSpPr>
        <p:spPr>
          <a:xfrm>
            <a:off x="1216080" y="756507"/>
            <a:ext cx="78634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06345A"/>
                </a:solidFill>
                <a:effectLst/>
                <a:uFillTx/>
                <a:latin typeface="Aptos Display"/>
                <a:ea typeface="Aptos Display"/>
              </a:rPr>
              <a:t>Rendimiento y operación en staging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2"/>
          <p:cNvSpPr/>
          <p:nvPr/>
        </p:nvSpPr>
        <p:spPr>
          <a:xfrm>
            <a:off x="1243440" y="1332507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5758B"/>
                </a:solidFill>
                <a:effectLst/>
                <a:uFillTx/>
                <a:latin typeface="Aptos"/>
              </a:rPr>
              <a:t>El sistema fue medido en AWS considerando tiempos de respuesta, recursos y eficiencia general.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3"/>
          <p:cNvSpPr/>
          <p:nvPr/>
        </p:nvSpPr>
        <p:spPr>
          <a:xfrm>
            <a:off x="1329975" y="2272500"/>
            <a:ext cx="1965278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 dirty="0">
                <a:solidFill>
                  <a:srgbClr val="06345A"/>
                </a:solidFill>
                <a:effectLst/>
                <a:uFillTx/>
                <a:latin typeface="Aptos"/>
              </a:rPr>
              <a:t>190,97 </a:t>
            </a:r>
            <a:r>
              <a:rPr lang="en-US" sz="3200" b="1" u="none" strike="noStrike" dirty="0" err="1">
                <a:solidFill>
                  <a:srgbClr val="06345A"/>
                </a:solidFill>
                <a:effectLst/>
                <a:uFillTx/>
                <a:latin typeface="Aptos"/>
              </a:rPr>
              <a:t>ms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4"/>
          <p:cNvSpPr/>
          <p:nvPr/>
        </p:nvSpPr>
        <p:spPr>
          <a:xfrm>
            <a:off x="1707335" y="2699527"/>
            <a:ext cx="1416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5758B"/>
                </a:solidFill>
                <a:effectLst/>
                <a:uFillTx/>
                <a:latin typeface="Aptos"/>
              </a:rPr>
              <a:t>promedio health check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5"/>
          <p:cNvSpPr/>
          <p:nvPr/>
        </p:nvSpPr>
        <p:spPr>
          <a:xfrm>
            <a:off x="3719015" y="2272500"/>
            <a:ext cx="1477371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E8848"/>
                </a:solidFill>
                <a:effectLst/>
                <a:uFillTx/>
                <a:latin typeface="Aptos"/>
              </a:rPr>
              <a:t>200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6"/>
          <p:cNvSpPr/>
          <p:nvPr/>
        </p:nvSpPr>
        <p:spPr>
          <a:xfrm>
            <a:off x="3719015" y="2699527"/>
            <a:ext cx="1416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5758B"/>
                </a:solidFill>
                <a:effectLst/>
                <a:uFillTx/>
                <a:latin typeface="Aptos"/>
              </a:rPr>
              <a:t>HTTP en todas las pruebas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7"/>
          <p:cNvSpPr/>
          <p:nvPr/>
        </p:nvSpPr>
        <p:spPr>
          <a:xfrm>
            <a:off x="5730695" y="2272500"/>
            <a:ext cx="1477371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6345A"/>
                </a:solidFill>
                <a:effectLst/>
                <a:uFillTx/>
                <a:latin typeface="Aptos"/>
              </a:rPr>
              <a:t>75/100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8"/>
          <p:cNvSpPr/>
          <p:nvPr/>
        </p:nvSpPr>
        <p:spPr>
          <a:xfrm>
            <a:off x="5730695" y="2699527"/>
            <a:ext cx="1416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5758B"/>
                </a:solidFill>
                <a:effectLst/>
                <a:uFillTx/>
                <a:latin typeface="Aptos"/>
              </a:rPr>
              <a:t>Lighthouse reportado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9"/>
          <p:cNvSpPr/>
          <p:nvPr/>
        </p:nvSpPr>
        <p:spPr>
          <a:xfrm>
            <a:off x="7742375" y="2272500"/>
            <a:ext cx="1477371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6345A"/>
                </a:solidFill>
                <a:effectLst/>
                <a:uFillTx/>
                <a:latin typeface="Aptos"/>
              </a:rPr>
              <a:t>0,31%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0"/>
          <p:cNvSpPr/>
          <p:nvPr/>
        </p:nvSpPr>
        <p:spPr>
          <a:xfrm>
            <a:off x="7742375" y="2699527"/>
            <a:ext cx="1416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5758B"/>
                </a:solidFill>
                <a:effectLst/>
                <a:uFillTx/>
                <a:latin typeface="Aptos"/>
              </a:rPr>
              <a:t>CPU EB observado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1"/>
          <p:cNvSpPr/>
          <p:nvPr/>
        </p:nvSpPr>
        <p:spPr>
          <a:xfrm>
            <a:off x="9754055" y="2272500"/>
            <a:ext cx="1477371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6345A"/>
                </a:solidFill>
                <a:effectLst/>
                <a:uFillTx/>
                <a:latin typeface="Aptos"/>
              </a:rPr>
              <a:t>4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2"/>
          <p:cNvSpPr/>
          <p:nvPr/>
        </p:nvSpPr>
        <p:spPr>
          <a:xfrm>
            <a:off x="9754055" y="2699527"/>
            <a:ext cx="1416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5758B"/>
                </a:solidFill>
                <a:effectLst/>
                <a:uFillTx/>
                <a:latin typeface="Aptos"/>
              </a:rPr>
              <a:t>conexiones RDS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3"/>
          <p:cNvSpPr/>
          <p:nvPr/>
        </p:nvSpPr>
        <p:spPr>
          <a:xfrm>
            <a:off x="1216080" y="3929873"/>
            <a:ext cx="3382920" cy="1234080"/>
          </a:xfrm>
          <a:prstGeom prst="rect">
            <a:avLst/>
          </a:prstGeom>
          <a:solidFill>
            <a:srgbClr val="FFFFFF"/>
          </a:solidFill>
          <a:ln w="12600">
            <a:solidFill>
              <a:srgbClr val="D8E3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160" tIns="2160" rIns="2160" bIns="2160" anchor="ctr">
            <a:normAutofit fontScale="92500"/>
          </a:bodyPr>
          <a:lstStyle/>
          <a:p>
            <a:pPr marL="180000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324A"/>
                </a:solidFill>
                <a:effectLst/>
                <a:uFillTx/>
                <a:latin typeface="Aptos"/>
              </a:rPr>
              <a:t>Lectura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324A"/>
                </a:solidFill>
                <a:effectLst/>
                <a:uFillTx/>
                <a:latin typeface="Aptos"/>
              </a:rPr>
              <a:t>Las peticiones críticas respondieron con HTTP 200 en el smoke test. El endpoint /api/health se usó como prueba de disponibilidad del backend.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4"/>
          <p:cNvSpPr/>
          <p:nvPr/>
        </p:nvSpPr>
        <p:spPr>
          <a:xfrm>
            <a:off x="4919400" y="3929873"/>
            <a:ext cx="3200040" cy="1234080"/>
          </a:xfrm>
          <a:prstGeom prst="rect">
            <a:avLst/>
          </a:prstGeom>
          <a:solidFill>
            <a:srgbClr val="FFFFFF"/>
          </a:solidFill>
          <a:ln w="12600">
            <a:solidFill>
              <a:srgbClr val="D8E3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160" tIns="2160" rIns="2160" bIns="2160" anchor="ctr">
            <a:normAutofit/>
          </a:bodyPr>
          <a:lstStyle/>
          <a:p>
            <a:pPr marL="180000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324A"/>
                </a:solidFill>
                <a:effectLst/>
                <a:uFillTx/>
                <a:latin typeface="Aptos"/>
              </a:rPr>
              <a:t>Eficiencia frontend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324A"/>
                </a:solidFill>
                <a:effectLst/>
                <a:uFillTx/>
                <a:latin typeface="Aptos"/>
              </a:rPr>
              <a:t>Bundle inicial aproximado 295,76 KB; el módulo Chat se carga de forma diferida mediante chunk independiente.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5"/>
          <p:cNvSpPr/>
          <p:nvPr/>
        </p:nvSpPr>
        <p:spPr>
          <a:xfrm>
            <a:off x="8485560" y="3929873"/>
            <a:ext cx="2834280" cy="1234080"/>
          </a:xfrm>
          <a:prstGeom prst="rect">
            <a:avLst/>
          </a:prstGeom>
          <a:solidFill>
            <a:srgbClr val="FFFFFF"/>
          </a:solidFill>
          <a:ln w="12600">
            <a:solidFill>
              <a:srgbClr val="D8E3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160" tIns="2160" rIns="2160" bIns="2160" anchor="ctr">
            <a:normAutofit/>
          </a:bodyPr>
          <a:lstStyle/>
          <a:p>
            <a:pPr marL="180000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324A"/>
                </a:solidFill>
                <a:effectLst/>
                <a:uFillTx/>
                <a:latin typeface="Aptos"/>
              </a:rPr>
              <a:t>Límite documentado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324A"/>
                </a:solidFill>
                <a:effectLst/>
                <a:uFillTx/>
                <a:latin typeface="Aptos"/>
              </a:rPr>
              <a:t>Entorno académico S3 + EB + RDS. HTTPS mediante CloudFront queda como mejora operativa futura.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6"/>
          <p:cNvSpPr/>
          <p:nvPr/>
        </p:nvSpPr>
        <p:spPr>
          <a:xfrm>
            <a:off x="502920" y="6546960"/>
            <a:ext cx="53031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5758B"/>
                </a:solidFill>
                <a:effectLst/>
                <a:uFillTx/>
                <a:latin typeface="Aptos"/>
                <a:ea typeface="Aptos"/>
              </a:rPr>
              <a:t>Aulafy · EFT Taller Aplicado de Software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7"/>
          <p:cNvSpPr/>
          <p:nvPr/>
        </p:nvSpPr>
        <p:spPr>
          <a:xfrm>
            <a:off x="11475720" y="6510600"/>
            <a:ext cx="3470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5758B"/>
                </a:solidFill>
                <a:effectLst/>
                <a:uFillTx/>
                <a:latin typeface="Aptos"/>
                <a:ea typeface="Aptos"/>
              </a:rPr>
              <a:t>08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0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57D99D"/>
          </a:solidFill>
          <a:ln w="12600">
            <a:solidFill>
              <a:srgbClr val="57D9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"/>
          <p:cNvSpPr/>
          <p:nvPr/>
        </p:nvSpPr>
        <p:spPr>
          <a:xfrm>
            <a:off x="1078920" y="621810"/>
            <a:ext cx="78634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06345A"/>
                </a:solidFill>
                <a:effectLst/>
                <a:uFillTx/>
                <a:latin typeface="Aptos Display"/>
                <a:ea typeface="Aptos Display"/>
              </a:rPr>
              <a:t>Entrega final y evidencias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"/>
          <p:cNvSpPr/>
          <p:nvPr/>
        </p:nvSpPr>
        <p:spPr>
          <a:xfrm>
            <a:off x="1106280" y="119781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5758B"/>
                </a:solidFill>
                <a:effectLst/>
                <a:uFillTx/>
                <a:latin typeface="Aptos"/>
              </a:rPr>
              <a:t>El paquete EFT consolida documentación, código, pruebas, capturas, enlaces y videos.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3"/>
          <p:cNvSpPr/>
          <p:nvPr/>
        </p:nvSpPr>
        <p:spPr>
          <a:xfrm>
            <a:off x="1353240" y="2002500"/>
            <a:ext cx="3017160" cy="1142640"/>
          </a:xfrm>
          <a:prstGeom prst="rect">
            <a:avLst/>
          </a:prstGeom>
          <a:solidFill>
            <a:srgbClr val="FFFFFF"/>
          </a:solidFill>
          <a:ln w="12600">
            <a:solidFill>
              <a:srgbClr val="D8E3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160" tIns="2160" rIns="2160" bIns="2160" anchor="ctr">
            <a:normAutofit/>
          </a:bodyPr>
          <a:lstStyle/>
          <a:p>
            <a:pPr marL="180000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324A"/>
                </a:solidFill>
                <a:effectLst/>
                <a:uFillTx/>
                <a:latin typeface="Aptos"/>
              </a:rPr>
              <a:t>Documentación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324A"/>
                </a:solidFill>
                <a:effectLst/>
                <a:uFillTx/>
                <a:latin typeface="Aptos"/>
              </a:rPr>
              <a:t>EFT + documentos S1 a S8 + resultados smoke test + defectos + referencias APA.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4"/>
          <p:cNvSpPr/>
          <p:nvPr/>
        </p:nvSpPr>
        <p:spPr>
          <a:xfrm>
            <a:off x="4553640" y="2002500"/>
            <a:ext cx="3017160" cy="1142640"/>
          </a:xfrm>
          <a:prstGeom prst="rect">
            <a:avLst/>
          </a:prstGeom>
          <a:solidFill>
            <a:srgbClr val="FFFFFF"/>
          </a:solidFill>
          <a:ln w="12600">
            <a:solidFill>
              <a:srgbClr val="D8E3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160" tIns="2160" rIns="2160" bIns="2160" anchor="ctr">
            <a:normAutofit/>
          </a:bodyPr>
          <a:lstStyle/>
          <a:p>
            <a:pPr marL="180000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324A"/>
                </a:solidFill>
                <a:effectLst/>
                <a:uFillTx/>
                <a:latin typeface="Aptos"/>
              </a:rPr>
              <a:t>Aplicación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324A"/>
                </a:solidFill>
                <a:effectLst/>
                <a:uFillTx/>
                <a:latin typeface="Aptos"/>
              </a:rPr>
              <a:t>backend NestJS + frontend Angular + workflows GitHub Actions + README.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5"/>
          <p:cNvSpPr/>
          <p:nvPr/>
        </p:nvSpPr>
        <p:spPr>
          <a:xfrm>
            <a:off x="7754040" y="2002500"/>
            <a:ext cx="3017160" cy="1142640"/>
          </a:xfrm>
          <a:prstGeom prst="rect">
            <a:avLst/>
          </a:prstGeom>
          <a:solidFill>
            <a:srgbClr val="FFFFFF"/>
          </a:solidFill>
          <a:ln w="12600">
            <a:solidFill>
              <a:srgbClr val="D8E3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160" tIns="2160" rIns="2160" bIns="2160" anchor="ctr">
            <a:normAutofit/>
          </a:bodyPr>
          <a:lstStyle/>
          <a:p>
            <a:pPr marL="180000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324A"/>
                </a:solidFill>
                <a:effectLst/>
                <a:uFillTx/>
                <a:latin typeface="Aptos"/>
              </a:rPr>
              <a:t>Base de datos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324A"/>
                </a:solidFill>
                <a:effectLst/>
                <a:uFillTx/>
                <a:latin typeface="Aptos"/>
              </a:rPr>
              <a:t>schema.sql + seed.sql + migraciones + diagramas ER.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6"/>
          <p:cNvSpPr/>
          <p:nvPr/>
        </p:nvSpPr>
        <p:spPr>
          <a:xfrm>
            <a:off x="1353240" y="3511260"/>
            <a:ext cx="3017160" cy="1142640"/>
          </a:xfrm>
          <a:prstGeom prst="rect">
            <a:avLst/>
          </a:prstGeom>
          <a:solidFill>
            <a:srgbClr val="FFFFFF"/>
          </a:solidFill>
          <a:ln w="12600">
            <a:solidFill>
              <a:srgbClr val="D8E3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160" tIns="2160" rIns="2160" bIns="2160" anchor="ctr">
            <a:normAutofit/>
          </a:bodyPr>
          <a:lstStyle/>
          <a:p>
            <a:pPr marL="180000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324A"/>
                </a:solidFill>
                <a:effectLst/>
                <a:uFillTx/>
                <a:latin typeface="Aptos"/>
              </a:rPr>
              <a:t>Presentación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324A"/>
                </a:solidFill>
                <a:effectLst/>
                <a:uFillTx/>
                <a:latin typeface="Aptos"/>
              </a:rPr>
              <a:t>PPT + PDF + video EFT final. videoS8.mp4 queda como evidencia complementaria de Semana 8.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7"/>
          <p:cNvSpPr/>
          <p:nvPr/>
        </p:nvSpPr>
        <p:spPr>
          <a:xfrm>
            <a:off x="4553640" y="3511260"/>
            <a:ext cx="3017160" cy="1142640"/>
          </a:xfrm>
          <a:prstGeom prst="rect">
            <a:avLst/>
          </a:prstGeom>
          <a:solidFill>
            <a:srgbClr val="FFFFFF"/>
          </a:solidFill>
          <a:ln w="12600">
            <a:solidFill>
              <a:srgbClr val="D8E3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160" tIns="2160" rIns="2160" bIns="2160" anchor="ctr">
            <a:normAutofit/>
          </a:bodyPr>
          <a:lstStyle/>
          <a:p>
            <a:pPr marL="180000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324A"/>
                </a:solidFill>
                <a:effectLst/>
                <a:uFillTx/>
                <a:latin typeface="Aptos"/>
              </a:rPr>
              <a:t>Sistema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324A"/>
                </a:solidFill>
                <a:effectLst/>
                <a:uFillTx/>
                <a:latin typeface="Aptos"/>
              </a:rPr>
              <a:t>Capturas, URLs, métricas, smoke test, Swagger y evidencia AWS.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8"/>
          <p:cNvSpPr/>
          <p:nvPr/>
        </p:nvSpPr>
        <p:spPr>
          <a:xfrm>
            <a:off x="7754040" y="3511260"/>
            <a:ext cx="3017160" cy="1142640"/>
          </a:xfrm>
          <a:prstGeom prst="rect">
            <a:avLst/>
          </a:prstGeom>
          <a:solidFill>
            <a:srgbClr val="FFFFFF"/>
          </a:solidFill>
          <a:ln w="12600">
            <a:solidFill>
              <a:srgbClr val="D8E3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160" tIns="2160" rIns="2160" bIns="2160" anchor="ctr">
            <a:normAutofit/>
          </a:bodyPr>
          <a:lstStyle/>
          <a:p>
            <a:pPr marL="180000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324A"/>
                </a:solidFill>
                <a:effectLst/>
                <a:uFillTx/>
                <a:latin typeface="Aptos"/>
              </a:rPr>
              <a:t>Repositorio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324A"/>
                </a:solidFill>
                <a:effectLst/>
                <a:uFillTx/>
                <a:latin typeface="Aptos"/>
              </a:rPr>
              <a:t>Rama principal: develop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324A"/>
                </a:solidFill>
                <a:effectLst/>
                <a:uFillTx/>
                <a:latin typeface="Aptos"/>
              </a:rPr>
              <a:t>Frontend S3 · Backend EB · Swagger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9"/>
          <p:cNvSpPr/>
          <p:nvPr/>
        </p:nvSpPr>
        <p:spPr>
          <a:xfrm>
            <a:off x="1078920" y="5538944"/>
            <a:ext cx="969228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6345A"/>
                </a:solidFill>
                <a:effectLst/>
                <a:uFillTx/>
                <a:latin typeface="Aptos"/>
              </a:rPr>
              <a:t>Relación objetivos–resultados: interfaz por perfiles, autenticación contextual, módulos integrados, despliegue cloud y calidad verificable.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0"/>
          <p:cNvSpPr/>
          <p:nvPr/>
        </p:nvSpPr>
        <p:spPr>
          <a:xfrm>
            <a:off x="502920" y="6546960"/>
            <a:ext cx="53031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5758B"/>
                </a:solidFill>
                <a:effectLst/>
                <a:uFillTx/>
                <a:latin typeface="Aptos"/>
                <a:ea typeface="Aptos"/>
              </a:rPr>
              <a:t>Aulafy · EFT Taller Aplicado de Software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1"/>
          <p:cNvSpPr/>
          <p:nvPr/>
        </p:nvSpPr>
        <p:spPr>
          <a:xfrm>
            <a:off x="11475720" y="6510600"/>
            <a:ext cx="3470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5758B"/>
                </a:solidFill>
                <a:effectLst/>
                <a:uFillTx/>
                <a:latin typeface="Aptos"/>
                <a:ea typeface="Aptos"/>
              </a:rPr>
              <a:t>09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0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57D99D"/>
          </a:solidFill>
          <a:ln w="12600">
            <a:solidFill>
              <a:srgbClr val="57D9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"/>
          <p:cNvSpPr/>
          <p:nvPr/>
        </p:nvSpPr>
        <p:spPr>
          <a:xfrm>
            <a:off x="987480" y="759060"/>
            <a:ext cx="78634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06345A"/>
                </a:solidFill>
                <a:effectLst/>
                <a:uFillTx/>
                <a:latin typeface="Aptos Display"/>
                <a:ea typeface="Aptos Display"/>
              </a:rPr>
              <a:t>Conclusión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2"/>
          <p:cNvSpPr/>
          <p:nvPr/>
        </p:nvSpPr>
        <p:spPr>
          <a:xfrm>
            <a:off x="1014840" y="133506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5758B"/>
                </a:solidFill>
                <a:effectLst/>
                <a:uFillTx/>
                <a:latin typeface="Aptos"/>
              </a:rPr>
              <a:t>Aulafy cumple el objetivo de MVP funcional, desplegado y validado para gestión académica escolar.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3"/>
          <p:cNvSpPr/>
          <p:nvPr/>
        </p:nvSpPr>
        <p:spPr>
          <a:xfrm>
            <a:off x="2008950" y="1961280"/>
            <a:ext cx="11426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6345A"/>
                </a:solidFill>
                <a:effectLst/>
                <a:uFillTx/>
                <a:latin typeface="Aptos"/>
              </a:rPr>
              <a:t>MVP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4"/>
          <p:cNvSpPr/>
          <p:nvPr/>
        </p:nvSpPr>
        <p:spPr>
          <a:xfrm>
            <a:off x="1871790" y="2418480"/>
            <a:ext cx="1416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5758B"/>
                </a:solidFill>
                <a:effectLst/>
                <a:uFillTx/>
                <a:latin typeface="Aptos"/>
              </a:rPr>
              <a:t>funcional en AWS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5"/>
          <p:cNvSpPr/>
          <p:nvPr/>
        </p:nvSpPr>
        <p:spPr>
          <a:xfrm>
            <a:off x="4340670" y="1961280"/>
            <a:ext cx="11426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6345A"/>
                </a:solidFill>
                <a:effectLst/>
                <a:uFillTx/>
                <a:latin typeface="Aptos"/>
              </a:rPr>
              <a:t>10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6"/>
          <p:cNvSpPr/>
          <p:nvPr/>
        </p:nvSpPr>
        <p:spPr>
          <a:xfrm>
            <a:off x="4203510" y="2418480"/>
            <a:ext cx="1416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5758B"/>
                </a:solidFill>
                <a:effectLst/>
                <a:uFillTx/>
                <a:latin typeface="Aptos"/>
              </a:rPr>
              <a:t>módulos integrados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7"/>
          <p:cNvSpPr/>
          <p:nvPr/>
        </p:nvSpPr>
        <p:spPr>
          <a:xfrm>
            <a:off x="6672390" y="1961280"/>
            <a:ext cx="11426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6345A"/>
                </a:solidFill>
                <a:effectLst/>
                <a:uFillTx/>
                <a:latin typeface="Aptos"/>
              </a:rPr>
              <a:t>6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8"/>
          <p:cNvSpPr/>
          <p:nvPr/>
        </p:nvSpPr>
        <p:spPr>
          <a:xfrm>
            <a:off x="6535230" y="2418480"/>
            <a:ext cx="1416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5758B"/>
                </a:solidFill>
                <a:effectLst/>
                <a:uFillTx/>
                <a:latin typeface="Aptos"/>
              </a:rPr>
              <a:t>perfiles diferenciados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9"/>
          <p:cNvSpPr/>
          <p:nvPr/>
        </p:nvSpPr>
        <p:spPr>
          <a:xfrm>
            <a:off x="9004110" y="1961280"/>
            <a:ext cx="11426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E8848"/>
                </a:solidFill>
                <a:effectLst/>
                <a:uFillTx/>
                <a:latin typeface="Aptos"/>
              </a:rPr>
              <a:t>0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0"/>
          <p:cNvSpPr/>
          <p:nvPr/>
        </p:nvSpPr>
        <p:spPr>
          <a:xfrm>
            <a:off x="8866950" y="2418480"/>
            <a:ext cx="1416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5758B"/>
                </a:solidFill>
                <a:effectLst/>
                <a:uFillTx/>
                <a:latin typeface="Aptos"/>
              </a:rPr>
              <a:t>deuda técnica bloqueante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1"/>
          <p:cNvSpPr/>
          <p:nvPr/>
        </p:nvSpPr>
        <p:spPr>
          <a:xfrm>
            <a:off x="1490400" y="3269160"/>
            <a:ext cx="4480200" cy="1234080"/>
          </a:xfrm>
          <a:prstGeom prst="rect">
            <a:avLst/>
          </a:prstGeom>
          <a:solidFill>
            <a:srgbClr val="FFFFFF"/>
          </a:solidFill>
          <a:ln w="12600">
            <a:solidFill>
              <a:srgbClr val="D8E3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160" tIns="2160" rIns="2160" bIns="2160" anchor="ctr">
            <a:normAutofit/>
          </a:bodyPr>
          <a:lstStyle/>
          <a:p>
            <a:pPr marL="180000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324A"/>
                </a:solidFill>
                <a:effectLst/>
                <a:uFillTx/>
                <a:latin typeface="Aptos"/>
              </a:rPr>
              <a:t>Cierre técnico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324A"/>
                </a:solidFill>
                <a:effectLst/>
                <a:uFillTx/>
                <a:latin typeface="Aptos"/>
              </a:rPr>
              <a:t>Logrado: gestión académica, comunicación, permisos contextuales, AWS, pruebas y documentación consolidada.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2"/>
          <p:cNvSpPr/>
          <p:nvPr/>
        </p:nvSpPr>
        <p:spPr>
          <a:xfrm>
            <a:off x="6382440" y="3269160"/>
            <a:ext cx="4480200" cy="1234080"/>
          </a:xfrm>
          <a:prstGeom prst="rect">
            <a:avLst/>
          </a:prstGeom>
          <a:solidFill>
            <a:srgbClr val="FFFFFF"/>
          </a:solidFill>
          <a:ln w="12600">
            <a:solidFill>
              <a:srgbClr val="D8E3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160" tIns="2160" rIns="2160" bIns="2160" anchor="ctr">
            <a:normAutofit/>
          </a:bodyPr>
          <a:lstStyle/>
          <a:p>
            <a:pPr marL="180000">
              <a:lnSpc>
                <a:spcPct val="150000"/>
              </a:lnSpc>
              <a:tabLst>
                <a:tab pos="0" algn="l"/>
              </a:tabLst>
            </a:pPr>
            <a:r>
              <a:rPr lang="en-US" sz="1200">
                <a:solidFill>
                  <a:srgbClr val="19324A"/>
                </a:solidFill>
                <a:latin typeface="Aptos"/>
              </a:rPr>
              <a:t>Deuda técnica registrada</a:t>
            </a:r>
            <a:endParaRPr lang="en-US" sz="1200" dirty="0">
              <a:solidFill>
                <a:srgbClr val="19324A"/>
              </a:solidFill>
              <a:latin typeface="Aptos"/>
            </a:endParaRPr>
          </a:p>
          <a:p>
            <a:pPr marL="180000">
              <a:lnSpc>
                <a:spcPct val="150000"/>
              </a:lnSpc>
              <a:tabLst>
                <a:tab pos="0" algn="l"/>
              </a:tabLst>
            </a:pPr>
            <a:r>
              <a:rPr lang="en-US" sz="1200" dirty="0">
                <a:solidFill>
                  <a:srgbClr val="19324A"/>
                </a:solidFill>
                <a:latin typeface="Aptos"/>
              </a:rPr>
              <a:t>SonarQube Cloud: Quality Gate </a:t>
            </a:r>
            <a:r>
              <a:rPr lang="es-CL" sz="1200" dirty="0" err="1">
                <a:solidFill>
                  <a:srgbClr val="19324A"/>
                </a:solidFill>
                <a:latin typeface="Aptos"/>
              </a:rPr>
              <a:t>SonarCloud</a:t>
            </a:r>
            <a:r>
              <a:rPr lang="es-CL" sz="1200" dirty="0">
                <a:solidFill>
                  <a:srgbClr val="19324A"/>
                </a:solidFill>
                <a:latin typeface="Aptos"/>
              </a:rPr>
              <a:t>: </a:t>
            </a:r>
            <a:r>
              <a:rPr lang="es-CL" sz="1200" dirty="0" err="1">
                <a:solidFill>
                  <a:srgbClr val="19324A"/>
                </a:solidFill>
                <a:latin typeface="Aptos"/>
              </a:rPr>
              <a:t>Quality</a:t>
            </a:r>
            <a:r>
              <a:rPr lang="es-CL" sz="1200" dirty="0">
                <a:solidFill>
                  <a:srgbClr val="19324A"/>
                </a:solidFill>
                <a:latin typeface="Aptos"/>
              </a:rPr>
              <a:t> Gate superado. Cobertura de pruebas no importada y seguridad en código heredado quedan como mejora </a:t>
            </a:r>
            <a:r>
              <a:rPr lang="es-CL" sz="1200">
                <a:solidFill>
                  <a:srgbClr val="19324A"/>
                </a:solidFill>
                <a:latin typeface="Aptos"/>
              </a:rPr>
              <a:t>posterior.</a:t>
            </a:r>
            <a:endParaRPr lang="en-US" sz="1200" dirty="0">
              <a:solidFill>
                <a:srgbClr val="19324A"/>
              </a:solidFill>
              <a:latin typeface="Aptos"/>
            </a:endParaRPr>
          </a:p>
        </p:txBody>
      </p:sp>
      <p:sp>
        <p:nvSpPr>
          <p:cNvPr id="178" name="Text 13"/>
          <p:cNvSpPr/>
          <p:nvPr/>
        </p:nvSpPr>
        <p:spPr>
          <a:xfrm>
            <a:off x="987480" y="5120640"/>
            <a:ext cx="98751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dirty="0" err="1">
                <a:solidFill>
                  <a:srgbClr val="06345A"/>
                </a:solidFill>
                <a:effectLst/>
                <a:uFillTx/>
                <a:latin typeface="Aptos"/>
              </a:rPr>
              <a:t>Siguiente</a:t>
            </a:r>
            <a:r>
              <a:rPr lang="en-US" sz="1300" b="1" u="none" strike="noStrike" dirty="0">
                <a:solidFill>
                  <a:srgbClr val="06345A"/>
                </a:solidFill>
                <a:effectLst/>
                <a:uFillTx/>
                <a:latin typeface="Aptos"/>
              </a:rPr>
              <a:t> </a:t>
            </a:r>
            <a:r>
              <a:rPr lang="en-US" sz="1300" b="1" u="none" strike="noStrike" dirty="0" err="1">
                <a:solidFill>
                  <a:srgbClr val="06345A"/>
                </a:solidFill>
                <a:effectLst/>
                <a:uFillTx/>
                <a:latin typeface="Aptos"/>
              </a:rPr>
              <a:t>mejora</a:t>
            </a:r>
            <a:r>
              <a:rPr lang="en-US" sz="1300" b="1" u="none" strike="noStrike" dirty="0">
                <a:solidFill>
                  <a:srgbClr val="06345A"/>
                </a:solidFill>
                <a:effectLst/>
                <a:uFillTx/>
                <a:latin typeface="Aptos"/>
              </a:rPr>
              <a:t> — CloudFront + HTTPS, WebSocket </a:t>
            </a:r>
            <a:r>
              <a:rPr lang="en-US" sz="1600" b="1" u="none" strike="noStrike" dirty="0">
                <a:solidFill>
                  <a:srgbClr val="06345A"/>
                </a:solidFill>
                <a:effectLst/>
                <a:uFillTx/>
                <a:latin typeface="Aptos"/>
              </a:rPr>
              <a:t>para</a:t>
            </a:r>
            <a:r>
              <a:rPr lang="en-US" sz="1300" b="1" u="none" strike="noStrike" dirty="0">
                <a:solidFill>
                  <a:srgbClr val="06345A"/>
                </a:solidFill>
                <a:effectLst/>
                <a:uFillTx/>
                <a:latin typeface="Aptos"/>
              </a:rPr>
              <a:t> Chat, </a:t>
            </a:r>
            <a:r>
              <a:rPr lang="en-US" sz="1300" b="1" u="none" strike="noStrike" dirty="0" err="1">
                <a:solidFill>
                  <a:srgbClr val="06345A"/>
                </a:solidFill>
                <a:effectLst/>
                <a:uFillTx/>
                <a:latin typeface="Aptos"/>
              </a:rPr>
              <a:t>métricas</a:t>
            </a:r>
            <a:r>
              <a:rPr lang="en-US" sz="1300" b="1" u="none" strike="noStrike" dirty="0">
                <a:solidFill>
                  <a:srgbClr val="06345A"/>
                </a:solidFill>
                <a:effectLst/>
                <a:uFillTx/>
                <a:latin typeface="Aptos"/>
              </a:rPr>
              <a:t> </a:t>
            </a:r>
            <a:r>
              <a:rPr lang="en-US" sz="1300" b="1" u="none" strike="noStrike" dirty="0" err="1">
                <a:solidFill>
                  <a:srgbClr val="06345A"/>
                </a:solidFill>
                <a:effectLst/>
                <a:uFillTx/>
                <a:latin typeface="Aptos"/>
              </a:rPr>
              <a:t>ampliadas</a:t>
            </a:r>
            <a:r>
              <a:rPr lang="en-US" sz="1300" b="1" u="none" strike="noStrike" dirty="0">
                <a:solidFill>
                  <a:srgbClr val="06345A"/>
                </a:solidFill>
                <a:effectLst/>
                <a:uFillTx/>
                <a:latin typeface="Aptos"/>
              </a:rPr>
              <a:t> y mayor </a:t>
            </a:r>
            <a:r>
              <a:rPr lang="en-US" sz="1300" b="1" u="none" strike="noStrike" dirty="0" err="1">
                <a:solidFill>
                  <a:srgbClr val="06345A"/>
                </a:solidFill>
                <a:effectLst/>
                <a:uFillTx/>
                <a:latin typeface="Aptos"/>
              </a:rPr>
              <a:t>cobertura</a:t>
            </a:r>
            <a:r>
              <a:rPr lang="en-US" sz="1300" b="1" u="none" strike="noStrike" dirty="0">
                <a:solidFill>
                  <a:srgbClr val="06345A"/>
                </a:solidFill>
                <a:effectLst/>
                <a:uFillTx/>
                <a:latin typeface="Aptos"/>
              </a:rPr>
              <a:t> de branches.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4"/>
          <p:cNvSpPr/>
          <p:nvPr/>
        </p:nvSpPr>
        <p:spPr>
          <a:xfrm>
            <a:off x="5349240" y="5559480"/>
            <a:ext cx="15541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6345A"/>
                </a:solidFill>
                <a:effectLst/>
                <a:uFillTx/>
                <a:latin typeface="Aptos"/>
              </a:rPr>
              <a:t>Gracias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5"/>
          <p:cNvSpPr/>
          <p:nvPr/>
        </p:nvSpPr>
        <p:spPr>
          <a:xfrm>
            <a:off x="502920" y="6546960"/>
            <a:ext cx="53031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5758B"/>
                </a:solidFill>
                <a:effectLst/>
                <a:uFillTx/>
                <a:latin typeface="Aptos"/>
                <a:ea typeface="Aptos"/>
              </a:rPr>
              <a:t>Aulafy · EFT Taller Aplicado de Software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6"/>
          <p:cNvSpPr/>
          <p:nvPr/>
        </p:nvSpPr>
        <p:spPr>
          <a:xfrm>
            <a:off x="11475720" y="6510600"/>
            <a:ext cx="3470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65758B"/>
                </a:solidFill>
                <a:effectLst/>
                <a:uFillTx/>
                <a:latin typeface="Aptos"/>
                <a:ea typeface="Aptos"/>
              </a:rPr>
              <a:t>10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604</TotalTime>
  <Words>1094</Words>
  <Application>Microsoft Office PowerPoint</Application>
  <PresentationFormat>Panorámica</PresentationFormat>
  <Paragraphs>216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Symbol</vt:lpstr>
      <vt:lpstr>Times New Roman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Duoc UC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Katherine Valenzuela Moreno</dc:creator>
  <cp:lastModifiedBy>Katherine Gisselle Valenzuela Moreno</cp:lastModifiedBy>
  <cp:revision>2</cp:revision>
  <dcterms:modified xsi:type="dcterms:W3CDTF">2026-07-19T15:57:07Z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2026-07-19T03:29:00Z</dcterms:created>
  <dc:creator>Kath Valenzuela / Sebastian Briceno</dc:creator>
  <dc:description/>
  <dc:language>en-US</dc:language>
  <cp:lastModifiedBy>Kath Valenzuela / Sebastian Briceno</cp:lastModifiedBy>
  <dcterms:modified xsi:type="dcterms:W3CDTF">2026-07-19T03:29:00Z</dcterms:modified>
  <cp:revision>1</cp:revision>
  <dc:subject>Aulafy - Presentacion EFT</dc:subject>
  <dc:title>Aulafy - Presentacion EFT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10</vt:r8>
  </property>
  <property fmtid="{D5CDD505-2E9C-101B-9397-08002B2CF9AE}" pid="3" name="PresentationFormat">
    <vt:lpwstr>On-screen Show (16:9)</vt:lpwstr>
  </property>
  <property fmtid="{D5CDD505-2E9C-101B-9397-08002B2CF9AE}" pid="4" name="Slides">
    <vt:r8>10</vt:r8>
  </property>
</Properties>
</file>