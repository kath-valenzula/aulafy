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Cobertura</c:v>
                </c:pt>
              </c:strCache>
            </c:strRef>
          </c:tx>
          <c:spPr>
            <a:solidFill>
              <a:srgbClr val="C050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Statements</c:v>
                  </c:pt>
                  <c:pt idx="1">
                    <c:v>Branches</c:v>
                  </c:pt>
                  <c:pt idx="2">
                    <c:v>Functions</c:v>
                  </c:pt>
                  <c:pt idx="3">
                    <c:v>Lines</c:v>
                  </c:pt>
                </c:lvl>
              </c:multiLvlStrCache>
            </c:multiLvlStrRef>
          </c:cat>
          <c:val>
            <c:numRef>
              <c:f>Sheet1!$B$2:$B$5</c:f>
              <c:numCache>
                <c:formatCode>General</c:formatCode>
                <c:ptCount val="4"/>
                <c:pt idx="0">
                  <c:v>69.3</c:v>
                </c:pt>
                <c:pt idx="1">
                  <c:v>48.12</c:v>
                </c:pt>
                <c:pt idx="2">
                  <c:v>59.66</c:v>
                </c:pt>
                <c:pt idx="3">
                  <c:v>68.24</c:v>
                </c:pt>
              </c:numCache>
            </c:numRef>
          </c:val>
        </c:ser>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ptos"/>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E6EEF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sugerido: 1:00. Presenta Katherine.
Abrir con el propósito: explicar el desarrollo final de Aulafy, desde la definición del problema hasta el despliegue y validación.
Aulafy es un MVP académico para centralizar comunicación, calendario, notas, asistencia, anotaciones, chat y riesgo académico en un entorno escolar.
Indicar que el sistema se presenta como staging académico en AWS, no como producción comercial.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sugerido: 1:20. Presenta Katherine.
Explicar que el problema no era solo construir pantallas, sino ordenar comunicación y gestión académica en un flujo único.
Enfatizar los seis perfiles: administrador, colegio, profesor jefe, profesor de asignatura, apoderado y estudiante.
Cerrar diciendo que el alcance se definió como MVP funcional: suficiente para demostrar valor, no una suite comercial completa.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sugerido: 1:30. Presenta Katherine.
Mostrar el dashboard como evidencia de que los módulos están integrados, no aislados.
Explicar que el sistema funciona como una aplicación de una sola página en Angular y consume una API REST.
Conectar con la siguiente diapositiva: cómo se sostiene técnicamente esta solución.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sugerido: 1:45. Presenta Sebastián.
Explicar el flujo: usuario navega al frontend en S3; Angular consume la API REST en Elastic Beanstalk; NestJS usa TypeORM contra MySQL en RDS.
Aclarar que AWS es staging académico, no producción comercial. El frontend se sirve por HTTP desde S3 Static Website.
Indicar que GitHub Actions valida y despliega backend y frontend. No se implementaron microservicios porque para el MVP era más apropiado un monolito modular.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sugerido: 1:30. Presenta Katherine.
Explicar que la corrección central del proyecto fue pasar de un rol general PROFESOR a una regla contextual por curso.
HEAD_TEACHER administra el curso; SUBJECT_TEACHER accede de forma acotada. Esto evita mostrar o permitir acciones que no correspondan.
Subrayar que la autorización está en backend. El frontend mejora la experiencia, pero no reemplaza las validaciones del servidor.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sugerido: 1:40. Presenta Katherine.
Mostrar el chat como la funcionalidad diferenciadora de la semana final. Antes había limitaciones de permisos y creación de salas; se cerraron con reglas explícitas.
Explicar que la eliminación es lógica y conserva historial para auditoría. Esto evita perder evidencia de comunicaciones.
Indicar que se agregaron pruebas para duplicados, nombres vacíos, reutilización de nombre tras eliminar y restricción de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sugerido: 1:50. Presenta Sebastián.
Explicar la estrategia de calidad: pruebas unitarias backend, smoke test manual en AWS y registro de defectos con corrección y evidencia.
Dar los números principales: 99 pruebas, 12 suites, 18 escenarios y 10 defectos corregidos entre semanas 6 y 8.
Mencionar la cobertura: statements 69,30%; branches 48,12% queda como deuda técnica conocida, no como bloqueo funcional.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sugerido: 1:30. Presenta Sebastián.
Explicar que la medición de rendimiento no se limitó a decir que el sistema cargaba; se midieron endpoints, DevTools, Lighthouse y métricas AWS.
El health check promedió aproximadamente 190,97 ms. También se revisó que los recursos de Elastic Beanstalk y RDS estuvieran estables.
Cerrar indicando que no hay HTTPS por decisión de staging académico y que CloudFront sería la mejora operativa natural.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sugerido: 1:20. Presenta Katherine.
Explicar que la entrega no es solo el código, sino un paquete verificable: documentación, aplicación, base de datos, presentación y evidencia del sistema.
Mencionar que el ZIP final debe contener el proyecto, los documentos, diagramas, resultados de pruebas, capturas y video.
Indicar que el repositorio GitHub y las URLs de AWS permiten revisar el sistema desplegado.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sugerido: 1:15. Presentan ambos.
Katherine: cerrar indicando que el objetivo general se logró: plataforma web MVP desplegada, con roles, módulos y pruebas.
Sebastián: agregar las mejoras futuras: HTTPS con CloudFront, WebSocket para chat, más cobertura de branches y monitoreo formal.
Cierre final: Aulafy queda como una base técnica funcional y documentada, lista para revisión académica y evolución posterior.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2B4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54D99B"/>
          </a:solidFill>
          <a:ln w="12700">
            <a:solidFill>
              <a:srgbClr val="54D99B"/>
            </a:solidFill>
            <a:prstDash val="solid"/>
          </a:ln>
        </p:spPr>
      </p:sp>
      <p:sp>
        <p:nvSpPr>
          <p:cNvPr id="3" name="Shape 1"/>
          <p:cNvSpPr/>
          <p:nvPr/>
        </p:nvSpPr>
        <p:spPr>
          <a:xfrm>
            <a:off x="566928" y="502920"/>
            <a:ext cx="2743200" cy="292608"/>
          </a:xfrm>
          <a:prstGeom prst="roundRect">
            <a:avLst>
              <a:gd name="adj" fmla="val 18750"/>
            </a:avLst>
          </a:prstGeom>
          <a:solidFill>
            <a:srgbClr val="54D99B"/>
          </a:solidFill>
          <a:ln w="12700">
            <a:solidFill>
              <a:srgbClr val="54D99B">
                <a:alpha val="0"/>
              </a:srgbClr>
            </a:solidFill>
            <a:prstDash val="solid"/>
          </a:ln>
        </p:spPr>
      </p:sp>
      <p:sp>
        <p:nvSpPr>
          <p:cNvPr id="4" name="Text 2"/>
          <p:cNvSpPr/>
          <p:nvPr/>
        </p:nvSpPr>
        <p:spPr>
          <a:xfrm>
            <a:off x="658368" y="571500"/>
            <a:ext cx="2560320" cy="146304"/>
          </a:xfrm>
          <a:prstGeom prst="rect">
            <a:avLst/>
          </a:prstGeom>
          <a:noFill/>
          <a:ln/>
        </p:spPr>
        <p:txBody>
          <a:bodyPr wrap="square" lIns="0" tIns="0" rIns="0" bIns="0" rtlCol="0" anchor="ctr"/>
          <a:lstStyle/>
          <a:p>
            <a:pPr algn="ctr" indent="0" marL="0">
              <a:buNone/>
            </a:pPr>
            <a:r>
              <a:rPr lang="en-US" sz="870" b="1" dirty="0">
                <a:solidFill>
                  <a:srgbClr val="062B4F"/>
                </a:solidFill>
              </a:rPr>
              <a:t>EFT · Presentación final · 15 minutos</a:t>
            </a:r>
            <a:endParaRPr lang="en-US" sz="870" dirty="0"/>
          </a:p>
        </p:txBody>
      </p:sp>
      <p:sp>
        <p:nvSpPr>
          <p:cNvPr id="5" name="Text 3"/>
          <p:cNvSpPr/>
          <p:nvPr/>
        </p:nvSpPr>
        <p:spPr>
          <a:xfrm>
            <a:off x="566928" y="1207008"/>
            <a:ext cx="3931920" cy="658368"/>
          </a:xfrm>
          <a:prstGeom prst="rect">
            <a:avLst/>
          </a:prstGeom>
          <a:noFill/>
          <a:ln/>
        </p:spPr>
        <p:txBody>
          <a:bodyPr wrap="square" lIns="0" tIns="0" rIns="0" bIns="0" rtlCol="0" anchor="ctr"/>
          <a:lstStyle/>
          <a:p>
            <a:pPr indent="0" marL="0">
              <a:buNone/>
            </a:pPr>
            <a:r>
              <a:rPr lang="en-US" sz="4300" b="1" dirty="0">
                <a:solidFill>
                  <a:srgbClr val="FFFFFF"/>
                </a:solidFill>
                <a:latin typeface="Aptos Display" pitchFamily="34" charset="0"/>
                <a:ea typeface="Aptos Display" pitchFamily="34" charset="-122"/>
                <a:cs typeface="Aptos Display" pitchFamily="34" charset="-120"/>
              </a:rPr>
              <a:t>Aulafy</a:t>
            </a:r>
            <a:endParaRPr lang="en-US" sz="4300" dirty="0"/>
          </a:p>
        </p:txBody>
      </p:sp>
      <p:sp>
        <p:nvSpPr>
          <p:cNvPr id="6" name="Text 4"/>
          <p:cNvSpPr/>
          <p:nvPr/>
        </p:nvSpPr>
        <p:spPr>
          <a:xfrm>
            <a:off x="594360" y="1901952"/>
            <a:ext cx="4663440" cy="548640"/>
          </a:xfrm>
          <a:prstGeom prst="rect">
            <a:avLst/>
          </a:prstGeom>
          <a:noFill/>
          <a:ln/>
        </p:spPr>
        <p:txBody>
          <a:bodyPr wrap="square" lIns="0" tIns="0" rIns="0" bIns="0" rtlCol="0" anchor="ctr">
            <a:normAutofit/>
          </a:bodyPr>
          <a:lstStyle/>
          <a:p>
            <a:pPr indent="0" marL="0">
              <a:buNone/>
            </a:pPr>
            <a:r>
              <a:rPr lang="en-US" sz="1800" dirty="0">
                <a:solidFill>
                  <a:srgbClr val="D7E8F7"/>
                </a:solidFill>
              </a:rPr>
              <a:t>Plataforma web de comunicación y gestión académica escolar</a:t>
            </a:r>
            <a:endParaRPr lang="en-US" sz="1800" dirty="0"/>
          </a:p>
        </p:txBody>
      </p:sp>
      <p:sp>
        <p:nvSpPr>
          <p:cNvPr id="7" name="Text 5"/>
          <p:cNvSpPr/>
          <p:nvPr/>
        </p:nvSpPr>
        <p:spPr>
          <a:xfrm>
            <a:off x="594360" y="5349240"/>
            <a:ext cx="4937760" cy="457200"/>
          </a:xfrm>
          <a:prstGeom prst="rect">
            <a:avLst/>
          </a:prstGeom>
          <a:noFill/>
          <a:ln/>
        </p:spPr>
        <p:txBody>
          <a:bodyPr wrap="square" lIns="0" tIns="0" rIns="0" bIns="0" rtlCol="0" anchor="ctr"/>
          <a:lstStyle/>
          <a:p>
            <a:pPr indent="0" marL="0">
              <a:buNone/>
            </a:pPr>
            <a:r>
              <a:rPr lang="en-US" sz="1250" dirty="0">
                <a:solidFill>
                  <a:srgbClr val="D7E8F7"/>
                </a:solidFill>
              </a:rPr>
              <a:t>Katherine Valenzuela Moreno · Sebastián Briceño Inostroza</a:t>
            </a:r>
            <a:endParaRPr lang="en-US" sz="1250" dirty="0"/>
          </a:p>
          <a:p>
            <a:pPr indent="0" marL="0">
              <a:buNone/>
            </a:pPr>
            <a:r>
              <a:rPr lang="en-US" sz="1250" dirty="0">
                <a:solidFill>
                  <a:srgbClr val="D7E8F7"/>
                </a:solidFill>
              </a:rPr>
              <a:t>Ingeniería en Informática · TSY2201-S</a:t>
            </a:r>
            <a:endParaRPr lang="en-US" sz="1250" dirty="0"/>
          </a:p>
        </p:txBody>
      </p:sp>
      <p:sp>
        <p:nvSpPr>
          <p:cNvPr id="8" name="Shape 6"/>
          <p:cNvSpPr/>
          <p:nvPr/>
        </p:nvSpPr>
        <p:spPr>
          <a:xfrm>
            <a:off x="5678424" y="621792"/>
            <a:ext cx="5980176" cy="5486400"/>
          </a:xfrm>
          <a:prstGeom prst="roundRect">
            <a:avLst>
              <a:gd name="adj" fmla="val 667"/>
            </a:avLst>
          </a:prstGeom>
          <a:solidFill>
            <a:srgbClr val="FFFFFF"/>
          </a:solidFill>
          <a:ln w="8890">
            <a:solidFill>
              <a:srgbClr val="D8E3EE"/>
            </a:solidFill>
            <a:prstDash val="solid"/>
          </a:ln>
        </p:spPr>
      </p:sp>
      <p:pic>
        <p:nvPicPr>
          <p:cNvPr id="9" name="Image 0" descr="/mnt/data/edc2d029-d106-4b2d-ba05-18d88924f3d3.png">    </p:cNvPr>
          <p:cNvPicPr>
            <a:picLocks noChangeAspect="1"/>
          </p:cNvPicPr>
          <p:nvPr/>
        </p:nvPicPr>
        <p:blipFill>
          <a:blip r:embed="rId1"/>
          <a:srcRect l="20055" r="20055" t="0" b="0"/>
          <a:stretch/>
        </p:blipFill>
        <p:spPr>
          <a:xfrm>
            <a:off x="5715000" y="658368"/>
            <a:ext cx="5907024" cy="5413248"/>
          </a:xfrm>
          <a:prstGeom prst="rect">
            <a:avLst/>
          </a:prstGeom>
        </p:spPr>
      </p:pic>
      <p:sp>
        <p:nvSpPr>
          <p:cNvPr id="10" name="Text 7"/>
          <p:cNvSpPr/>
          <p:nvPr/>
        </p:nvSpPr>
        <p:spPr>
          <a:xfrm>
            <a:off x="502920" y="6565392"/>
            <a:ext cx="5120640" cy="164592"/>
          </a:xfrm>
          <a:prstGeom prst="rect">
            <a:avLst/>
          </a:prstGeom>
          <a:noFill/>
          <a:ln/>
        </p:spPr>
        <p:txBody>
          <a:bodyPr wrap="square" lIns="0" tIns="0" rIns="0" bIns="0" rtlCol="0" anchor="ctr"/>
          <a:lstStyle/>
          <a:p>
            <a:pPr indent="0" marL="0">
              <a:buNone/>
            </a:pPr>
            <a:r>
              <a:rPr lang="en-US" sz="780" dirty="0">
                <a:solidFill>
                  <a:srgbClr val="CFE5F5"/>
                </a:solidFill>
              </a:rPr>
              <a:t>Aulafy · EFT Taller Aplicado de Software</a:t>
            </a:r>
            <a:endParaRPr lang="en-US" sz="780" dirty="0"/>
          </a:p>
        </p:txBody>
      </p:sp>
      <p:sp>
        <p:nvSpPr>
          <p:cNvPr id="11" name="Text 8"/>
          <p:cNvSpPr/>
          <p:nvPr/>
        </p:nvSpPr>
        <p:spPr>
          <a:xfrm>
            <a:off x="11201400" y="6519672"/>
            <a:ext cx="502920" cy="201168"/>
          </a:xfrm>
          <a:prstGeom prst="rect">
            <a:avLst/>
          </a:prstGeom>
          <a:noFill/>
          <a:ln/>
        </p:spPr>
        <p:txBody>
          <a:bodyPr wrap="square" lIns="0" tIns="0" rIns="0" bIns="0" rtlCol="0" anchor="ctr"/>
          <a:lstStyle/>
          <a:p>
            <a:pPr algn="r" indent="0" marL="0">
              <a:buNone/>
            </a:pPr>
            <a:r>
              <a:rPr lang="en-US" sz="850" dirty="0">
                <a:solidFill>
                  <a:srgbClr val="CFE5F5"/>
                </a:solidFill>
              </a:rPr>
              <a:t>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62B4F"/>
          </a:solidFill>
          <a:ln w="12700">
            <a:solidFill>
              <a:srgbClr val="062B4F"/>
            </a:solidFill>
            <a:prstDash val="solid"/>
          </a:ln>
        </p:spPr>
      </p:sp>
      <p:sp>
        <p:nvSpPr>
          <p:cNvPr id="3" name="Text 1"/>
          <p:cNvSpPr/>
          <p:nvPr/>
        </p:nvSpPr>
        <p:spPr>
          <a:xfrm>
            <a:off x="502920" y="347472"/>
            <a:ext cx="7955280" cy="438912"/>
          </a:xfrm>
          <a:prstGeom prst="rect">
            <a:avLst/>
          </a:prstGeom>
          <a:noFill/>
          <a:ln/>
        </p:spPr>
        <p:txBody>
          <a:bodyPr wrap="square" lIns="0" tIns="0" rIns="0" bIns="0" rtlCol="0" anchor="ctr"/>
          <a:lstStyle/>
          <a:p>
            <a:pPr indent="0" marL="0">
              <a:buNone/>
            </a:pPr>
            <a:r>
              <a:rPr lang="en-US" sz="2700" b="1" dirty="0">
                <a:solidFill>
                  <a:srgbClr val="062B4F"/>
                </a:solidFill>
                <a:latin typeface="Aptos Display" pitchFamily="34" charset="0"/>
                <a:ea typeface="Aptos Display" pitchFamily="34" charset="-122"/>
                <a:cs typeface="Aptos Display" pitchFamily="34" charset="-120"/>
              </a:rPr>
              <a:t>Problema y alcance del MVP</a:t>
            </a:r>
            <a:endParaRPr lang="en-US" sz="2700" dirty="0"/>
          </a:p>
        </p:txBody>
      </p:sp>
      <p:sp>
        <p:nvSpPr>
          <p:cNvPr id="4" name="Text 2"/>
          <p:cNvSpPr/>
          <p:nvPr/>
        </p:nvSpPr>
        <p:spPr>
          <a:xfrm>
            <a:off x="530352" y="832104"/>
            <a:ext cx="8412480" cy="320040"/>
          </a:xfrm>
          <a:prstGeom prst="rect">
            <a:avLst/>
          </a:prstGeom>
          <a:noFill/>
          <a:ln/>
        </p:spPr>
        <p:txBody>
          <a:bodyPr wrap="square" lIns="0" tIns="0" rIns="0" bIns="0" rtlCol="0" anchor="ctr"/>
          <a:lstStyle/>
          <a:p>
            <a:pPr indent="0" marL="0">
              <a:buNone/>
            </a:pPr>
            <a:r>
              <a:rPr lang="en-US" sz="1280" dirty="0">
                <a:solidFill>
                  <a:srgbClr val="53657A"/>
                </a:solidFill>
              </a:rPr>
              <a:t>Una solución integrada para coordinación académica, comunicación y seguimiento escolar.</a:t>
            </a:r>
            <a:endParaRPr lang="en-US" sz="1280" dirty="0"/>
          </a:p>
        </p:txBody>
      </p:sp>
      <p:sp>
        <p:nvSpPr>
          <p:cNvPr id="5" name="Text 3"/>
          <p:cNvSpPr/>
          <p:nvPr/>
        </p:nvSpPr>
        <p:spPr>
          <a:xfrm>
            <a:off x="594360" y="1417320"/>
            <a:ext cx="2834640" cy="201168"/>
          </a:xfrm>
          <a:prstGeom prst="rect">
            <a:avLst/>
          </a:prstGeom>
          <a:noFill/>
          <a:ln/>
        </p:spPr>
        <p:txBody>
          <a:bodyPr wrap="square" lIns="0" tIns="0" rIns="0" bIns="0" rtlCol="0" anchor="ctr"/>
          <a:lstStyle/>
          <a:p>
            <a:pPr indent="0" marL="0">
              <a:buNone/>
            </a:pPr>
            <a:r>
              <a:rPr lang="en-US" sz="850" b="1" dirty="0">
                <a:solidFill>
                  <a:srgbClr val="1377C9"/>
                </a:solidFill>
              </a:rPr>
              <a:t>NECESIDAD</a:t>
            </a:r>
            <a:endParaRPr lang="en-US" sz="850" dirty="0"/>
          </a:p>
        </p:txBody>
      </p:sp>
      <p:sp>
        <p:nvSpPr>
          <p:cNvPr id="6" name="Text 4"/>
          <p:cNvSpPr/>
          <p:nvPr/>
        </p:nvSpPr>
        <p:spPr>
          <a:xfrm>
            <a:off x="621792" y="1737360"/>
            <a:ext cx="4617720" cy="2377440"/>
          </a:xfrm>
          <a:prstGeom prst="rect">
            <a:avLst/>
          </a:prstGeom>
          <a:noFill/>
          <a:ln/>
        </p:spPr>
        <p:txBody>
          <a:bodyPr wrap="square" lIns="254" tIns="254" rIns="254" bIns="254" rtlCol="0" anchor="t">
            <a:normAutofit/>
          </a:bodyPr>
          <a:lstStyle/>
          <a:p>
            <a:pPr indent="0" marL="0">
              <a:buNone/>
            </a:pPr>
            <a:r>
              <a:rPr lang="en-US" sz="1500" b="1" dirty="0">
                <a:solidFill>
                  <a:srgbClr val="062B4F"/>
                </a:solidFill>
              </a:rPr>
              <a:t>Fragmentación</a:t>
            </a:r>
            <a:pPr indent="0" marL="0">
              <a:buNone/>
            </a:pPr>
            <a:r>
              <a:rPr lang="en-US" sz="1500" dirty="0">
                <a:solidFill>
                  <a:srgbClr val="53657A"/>
                </a:solidFill>
              </a:rPr>
              <a:t> — comunicados, calendario, notas y asistencia quedan separados entre varias herramientas.
</a:t>
            </a:r>
            <a:pPr indent="0" marL="0">
              <a:buNone/>
            </a:pPr>
            <a:r>
              <a:rPr lang="en-US" sz="1500" b="1" dirty="0">
                <a:solidFill>
                  <a:srgbClr val="062B4F"/>
                </a:solidFill>
              </a:rPr>
              <a:t>Trazabilidad</a:t>
            </a:r>
            <a:pPr indent="0" marL="0">
              <a:buNone/>
            </a:pPr>
            <a:r>
              <a:rPr lang="en-US" sz="1500" dirty="0">
                <a:solidFill>
                  <a:srgbClr val="53657A"/>
                </a:solidFill>
              </a:rPr>
              <a:t> — el establecimiento requiere evidencia de publicaciones, eventos, evaluaciones y comunicaciones.
</a:t>
            </a:r>
            <a:pPr indent="0" marL="0">
              <a:buNone/>
            </a:pPr>
            <a:r>
              <a:rPr lang="en-US" sz="1500" b="1" dirty="0">
                <a:solidFill>
                  <a:srgbClr val="062B4F"/>
                </a:solidFill>
              </a:rPr>
              <a:t>Acceso diferenciado</a:t>
            </a:r>
            <a:pPr indent="0" marL="0">
              <a:buNone/>
            </a:pPr>
            <a:r>
              <a:rPr lang="en-US" sz="1500" dirty="0">
                <a:solidFill>
                  <a:srgbClr val="53657A"/>
                </a:solidFill>
              </a:rPr>
              <a:t> — cada actor necesita permisos distintos según rol institucional y relación con el curso.</a:t>
            </a:r>
            <a:endParaRPr lang="en-US" sz="1500" dirty="0"/>
          </a:p>
        </p:txBody>
      </p:sp>
      <p:sp>
        <p:nvSpPr>
          <p:cNvPr id="7" name="Text 5"/>
          <p:cNvSpPr/>
          <p:nvPr/>
        </p:nvSpPr>
        <p:spPr>
          <a:xfrm>
            <a:off x="5852160" y="1417320"/>
            <a:ext cx="2834640" cy="201168"/>
          </a:xfrm>
          <a:prstGeom prst="rect">
            <a:avLst/>
          </a:prstGeom>
          <a:noFill/>
          <a:ln/>
        </p:spPr>
        <p:txBody>
          <a:bodyPr wrap="square" lIns="0" tIns="0" rIns="0" bIns="0" rtlCol="0" anchor="ctr"/>
          <a:lstStyle/>
          <a:p>
            <a:pPr indent="0" marL="0">
              <a:buNone/>
            </a:pPr>
            <a:r>
              <a:rPr lang="en-US" sz="850" b="1" dirty="0">
                <a:solidFill>
                  <a:srgbClr val="1377C9"/>
                </a:solidFill>
              </a:rPr>
              <a:t>USUARIOS</a:t>
            </a:r>
            <a:endParaRPr lang="en-US" sz="850" dirty="0"/>
          </a:p>
        </p:txBody>
      </p:sp>
      <p:sp>
        <p:nvSpPr>
          <p:cNvPr id="8" name="Shape 6"/>
          <p:cNvSpPr/>
          <p:nvPr/>
        </p:nvSpPr>
        <p:spPr>
          <a:xfrm>
            <a:off x="5897880" y="1783080"/>
            <a:ext cx="2331720" cy="457200"/>
          </a:xfrm>
          <a:prstGeom prst="roundRect">
            <a:avLst>
              <a:gd name="adj" fmla="val 8000"/>
            </a:avLst>
          </a:prstGeom>
          <a:solidFill>
            <a:srgbClr val="FFFFFF"/>
          </a:solidFill>
          <a:ln w="12700">
            <a:solidFill>
              <a:srgbClr val="D8E3EE"/>
            </a:solidFill>
            <a:prstDash val="solid"/>
          </a:ln>
        </p:spPr>
      </p:sp>
      <p:sp>
        <p:nvSpPr>
          <p:cNvPr id="9" name="Text 7"/>
          <p:cNvSpPr/>
          <p:nvPr/>
        </p:nvSpPr>
        <p:spPr>
          <a:xfrm>
            <a:off x="6016752" y="1856232"/>
            <a:ext cx="1143000" cy="164592"/>
          </a:xfrm>
          <a:prstGeom prst="rect">
            <a:avLst/>
          </a:prstGeom>
          <a:noFill/>
          <a:ln/>
        </p:spPr>
        <p:txBody>
          <a:bodyPr wrap="square" lIns="0" tIns="0" rIns="0" bIns="0" rtlCol="0" anchor="ctr"/>
          <a:lstStyle/>
          <a:p>
            <a:pPr indent="0" marL="0">
              <a:buNone/>
            </a:pPr>
            <a:r>
              <a:rPr lang="en-US" sz="960" b="1" dirty="0">
                <a:solidFill>
                  <a:srgbClr val="062B4F"/>
                </a:solidFill>
              </a:rPr>
              <a:t>ADMIN</a:t>
            </a:r>
            <a:endParaRPr lang="en-US" sz="960" dirty="0"/>
          </a:p>
        </p:txBody>
      </p:sp>
      <p:sp>
        <p:nvSpPr>
          <p:cNvPr id="10" name="Text 8"/>
          <p:cNvSpPr/>
          <p:nvPr/>
        </p:nvSpPr>
        <p:spPr>
          <a:xfrm>
            <a:off x="6016752" y="2048256"/>
            <a:ext cx="2011680" cy="128016"/>
          </a:xfrm>
          <a:prstGeom prst="rect">
            <a:avLst/>
          </a:prstGeom>
          <a:noFill/>
          <a:ln/>
        </p:spPr>
        <p:txBody>
          <a:bodyPr wrap="square" lIns="0" tIns="0" rIns="0" bIns="0" rtlCol="0" anchor="ctr"/>
          <a:lstStyle/>
          <a:p>
            <a:pPr indent="0" marL="0">
              <a:buNone/>
            </a:pPr>
            <a:r>
              <a:rPr lang="en-US" sz="780" dirty="0">
                <a:solidFill>
                  <a:srgbClr val="53657A"/>
                </a:solidFill>
              </a:rPr>
              <a:t>gestión total</a:t>
            </a:r>
            <a:endParaRPr lang="en-US" sz="780" dirty="0"/>
          </a:p>
        </p:txBody>
      </p:sp>
      <p:sp>
        <p:nvSpPr>
          <p:cNvPr id="11" name="Shape 9"/>
          <p:cNvSpPr/>
          <p:nvPr/>
        </p:nvSpPr>
        <p:spPr>
          <a:xfrm>
            <a:off x="8503920" y="1783080"/>
            <a:ext cx="2331720" cy="457200"/>
          </a:xfrm>
          <a:prstGeom prst="roundRect">
            <a:avLst>
              <a:gd name="adj" fmla="val 8000"/>
            </a:avLst>
          </a:prstGeom>
          <a:solidFill>
            <a:srgbClr val="FFFFFF"/>
          </a:solidFill>
          <a:ln w="12700">
            <a:solidFill>
              <a:srgbClr val="D8E3EE"/>
            </a:solidFill>
            <a:prstDash val="solid"/>
          </a:ln>
        </p:spPr>
      </p:sp>
      <p:sp>
        <p:nvSpPr>
          <p:cNvPr id="12" name="Text 10"/>
          <p:cNvSpPr/>
          <p:nvPr/>
        </p:nvSpPr>
        <p:spPr>
          <a:xfrm>
            <a:off x="8622792" y="1856232"/>
            <a:ext cx="1143000" cy="164592"/>
          </a:xfrm>
          <a:prstGeom prst="rect">
            <a:avLst/>
          </a:prstGeom>
          <a:noFill/>
          <a:ln/>
        </p:spPr>
        <p:txBody>
          <a:bodyPr wrap="square" lIns="0" tIns="0" rIns="0" bIns="0" rtlCol="0" anchor="ctr"/>
          <a:lstStyle/>
          <a:p>
            <a:pPr indent="0" marL="0">
              <a:buNone/>
            </a:pPr>
            <a:r>
              <a:rPr lang="en-US" sz="960" b="1" dirty="0">
                <a:solidFill>
                  <a:srgbClr val="062B4F"/>
                </a:solidFill>
              </a:rPr>
              <a:t>COLEGIO</a:t>
            </a:r>
            <a:endParaRPr lang="en-US" sz="960" dirty="0"/>
          </a:p>
        </p:txBody>
      </p:sp>
      <p:sp>
        <p:nvSpPr>
          <p:cNvPr id="13" name="Text 11"/>
          <p:cNvSpPr/>
          <p:nvPr/>
        </p:nvSpPr>
        <p:spPr>
          <a:xfrm>
            <a:off x="8622792" y="2048256"/>
            <a:ext cx="2011680" cy="128016"/>
          </a:xfrm>
          <a:prstGeom prst="rect">
            <a:avLst/>
          </a:prstGeom>
          <a:noFill/>
          <a:ln/>
        </p:spPr>
        <p:txBody>
          <a:bodyPr wrap="square" lIns="0" tIns="0" rIns="0" bIns="0" rtlCol="0" anchor="ctr"/>
          <a:lstStyle/>
          <a:p>
            <a:pPr indent="0" marL="0">
              <a:buNone/>
            </a:pPr>
            <a:r>
              <a:rPr lang="en-US" sz="780" dirty="0">
                <a:solidFill>
                  <a:srgbClr val="53657A"/>
                </a:solidFill>
              </a:rPr>
              <a:t>gestión institucional</a:t>
            </a:r>
            <a:endParaRPr lang="en-US" sz="780" dirty="0"/>
          </a:p>
        </p:txBody>
      </p:sp>
      <p:sp>
        <p:nvSpPr>
          <p:cNvPr id="14" name="Shape 12"/>
          <p:cNvSpPr/>
          <p:nvPr/>
        </p:nvSpPr>
        <p:spPr>
          <a:xfrm>
            <a:off x="5897880" y="2514600"/>
            <a:ext cx="2331720" cy="457200"/>
          </a:xfrm>
          <a:prstGeom prst="roundRect">
            <a:avLst>
              <a:gd name="adj" fmla="val 8000"/>
            </a:avLst>
          </a:prstGeom>
          <a:solidFill>
            <a:srgbClr val="FFFFFF"/>
          </a:solidFill>
          <a:ln w="12700">
            <a:solidFill>
              <a:srgbClr val="D8E3EE"/>
            </a:solidFill>
            <a:prstDash val="solid"/>
          </a:ln>
        </p:spPr>
      </p:sp>
      <p:sp>
        <p:nvSpPr>
          <p:cNvPr id="15" name="Text 13"/>
          <p:cNvSpPr/>
          <p:nvPr/>
        </p:nvSpPr>
        <p:spPr>
          <a:xfrm>
            <a:off x="6016752" y="2587752"/>
            <a:ext cx="1143000" cy="164592"/>
          </a:xfrm>
          <a:prstGeom prst="rect">
            <a:avLst/>
          </a:prstGeom>
          <a:noFill/>
          <a:ln/>
        </p:spPr>
        <p:txBody>
          <a:bodyPr wrap="square" lIns="0" tIns="0" rIns="0" bIns="0" rtlCol="0" anchor="ctr"/>
          <a:lstStyle/>
          <a:p>
            <a:pPr indent="0" marL="0">
              <a:buNone/>
            </a:pPr>
            <a:r>
              <a:rPr lang="en-US" sz="960" b="1" dirty="0">
                <a:solidFill>
                  <a:srgbClr val="062B4F"/>
                </a:solidFill>
              </a:rPr>
              <a:t>HEAD_TEACHER</a:t>
            </a:r>
            <a:endParaRPr lang="en-US" sz="960" dirty="0"/>
          </a:p>
        </p:txBody>
      </p:sp>
      <p:sp>
        <p:nvSpPr>
          <p:cNvPr id="16" name="Text 14"/>
          <p:cNvSpPr/>
          <p:nvPr/>
        </p:nvSpPr>
        <p:spPr>
          <a:xfrm>
            <a:off x="6016752" y="2779776"/>
            <a:ext cx="2011680" cy="128016"/>
          </a:xfrm>
          <a:prstGeom prst="rect">
            <a:avLst/>
          </a:prstGeom>
          <a:noFill/>
          <a:ln/>
        </p:spPr>
        <p:txBody>
          <a:bodyPr wrap="square" lIns="0" tIns="0" rIns="0" bIns="0" rtlCol="0" anchor="ctr"/>
          <a:lstStyle/>
          <a:p>
            <a:pPr indent="0" marL="0">
              <a:buNone/>
            </a:pPr>
            <a:r>
              <a:rPr lang="en-US" sz="780" dirty="0">
                <a:solidFill>
                  <a:srgbClr val="53657A"/>
                </a:solidFill>
              </a:rPr>
              <a:t>gestión integral del curso</a:t>
            </a:r>
            <a:endParaRPr lang="en-US" sz="780" dirty="0"/>
          </a:p>
        </p:txBody>
      </p:sp>
      <p:sp>
        <p:nvSpPr>
          <p:cNvPr id="17" name="Shape 15"/>
          <p:cNvSpPr/>
          <p:nvPr/>
        </p:nvSpPr>
        <p:spPr>
          <a:xfrm>
            <a:off x="8503920" y="2514600"/>
            <a:ext cx="2331720" cy="457200"/>
          </a:xfrm>
          <a:prstGeom prst="roundRect">
            <a:avLst>
              <a:gd name="adj" fmla="val 8000"/>
            </a:avLst>
          </a:prstGeom>
          <a:solidFill>
            <a:srgbClr val="FFFFFF"/>
          </a:solidFill>
          <a:ln w="12700">
            <a:solidFill>
              <a:srgbClr val="D8E3EE"/>
            </a:solidFill>
            <a:prstDash val="solid"/>
          </a:ln>
        </p:spPr>
      </p:sp>
      <p:sp>
        <p:nvSpPr>
          <p:cNvPr id="18" name="Text 16"/>
          <p:cNvSpPr/>
          <p:nvPr/>
        </p:nvSpPr>
        <p:spPr>
          <a:xfrm>
            <a:off x="8622792" y="2587752"/>
            <a:ext cx="1143000" cy="164592"/>
          </a:xfrm>
          <a:prstGeom prst="rect">
            <a:avLst/>
          </a:prstGeom>
          <a:noFill/>
          <a:ln/>
        </p:spPr>
        <p:txBody>
          <a:bodyPr wrap="square" lIns="0" tIns="0" rIns="0" bIns="0" rtlCol="0" anchor="ctr"/>
          <a:lstStyle/>
          <a:p>
            <a:pPr indent="0" marL="0">
              <a:buNone/>
            </a:pPr>
            <a:r>
              <a:rPr lang="en-US" sz="960" b="1" dirty="0">
                <a:solidFill>
                  <a:srgbClr val="062B4F"/>
                </a:solidFill>
              </a:rPr>
              <a:t>SUBJECT_TEACHER</a:t>
            </a:r>
            <a:endParaRPr lang="en-US" sz="960" dirty="0"/>
          </a:p>
        </p:txBody>
      </p:sp>
      <p:sp>
        <p:nvSpPr>
          <p:cNvPr id="19" name="Text 17"/>
          <p:cNvSpPr/>
          <p:nvPr/>
        </p:nvSpPr>
        <p:spPr>
          <a:xfrm>
            <a:off x="8622792" y="2779776"/>
            <a:ext cx="2011680" cy="128016"/>
          </a:xfrm>
          <a:prstGeom prst="rect">
            <a:avLst/>
          </a:prstGeom>
          <a:noFill/>
          <a:ln/>
        </p:spPr>
        <p:txBody>
          <a:bodyPr wrap="square" lIns="0" tIns="0" rIns="0" bIns="0" rtlCol="0" anchor="ctr"/>
          <a:lstStyle/>
          <a:p>
            <a:pPr indent="0" marL="0">
              <a:buNone/>
            </a:pPr>
            <a:r>
              <a:rPr lang="en-US" sz="780" dirty="0">
                <a:solidFill>
                  <a:srgbClr val="53657A"/>
                </a:solidFill>
              </a:rPr>
              <a:t>acceso académico acotado</a:t>
            </a:r>
            <a:endParaRPr lang="en-US" sz="780" dirty="0"/>
          </a:p>
        </p:txBody>
      </p:sp>
      <p:sp>
        <p:nvSpPr>
          <p:cNvPr id="20" name="Shape 18"/>
          <p:cNvSpPr/>
          <p:nvPr/>
        </p:nvSpPr>
        <p:spPr>
          <a:xfrm>
            <a:off x="5897880" y="3246120"/>
            <a:ext cx="2331720" cy="457200"/>
          </a:xfrm>
          <a:prstGeom prst="roundRect">
            <a:avLst>
              <a:gd name="adj" fmla="val 8000"/>
            </a:avLst>
          </a:prstGeom>
          <a:solidFill>
            <a:srgbClr val="FFFFFF"/>
          </a:solidFill>
          <a:ln w="12700">
            <a:solidFill>
              <a:srgbClr val="D8E3EE"/>
            </a:solidFill>
            <a:prstDash val="solid"/>
          </a:ln>
        </p:spPr>
      </p:sp>
      <p:sp>
        <p:nvSpPr>
          <p:cNvPr id="21" name="Text 19"/>
          <p:cNvSpPr/>
          <p:nvPr/>
        </p:nvSpPr>
        <p:spPr>
          <a:xfrm>
            <a:off x="6016752" y="3319272"/>
            <a:ext cx="1143000" cy="164592"/>
          </a:xfrm>
          <a:prstGeom prst="rect">
            <a:avLst/>
          </a:prstGeom>
          <a:noFill/>
          <a:ln/>
        </p:spPr>
        <p:txBody>
          <a:bodyPr wrap="square" lIns="0" tIns="0" rIns="0" bIns="0" rtlCol="0" anchor="ctr"/>
          <a:lstStyle/>
          <a:p>
            <a:pPr indent="0" marL="0">
              <a:buNone/>
            </a:pPr>
            <a:r>
              <a:rPr lang="en-US" sz="960" b="1" dirty="0">
                <a:solidFill>
                  <a:srgbClr val="062B4F"/>
                </a:solidFill>
              </a:rPr>
              <a:t>APODERADO</a:t>
            </a:r>
            <a:endParaRPr lang="en-US" sz="960" dirty="0"/>
          </a:p>
        </p:txBody>
      </p:sp>
      <p:sp>
        <p:nvSpPr>
          <p:cNvPr id="22" name="Text 20"/>
          <p:cNvSpPr/>
          <p:nvPr/>
        </p:nvSpPr>
        <p:spPr>
          <a:xfrm>
            <a:off x="6016752" y="3511296"/>
            <a:ext cx="2011680" cy="128016"/>
          </a:xfrm>
          <a:prstGeom prst="rect">
            <a:avLst/>
          </a:prstGeom>
          <a:noFill/>
          <a:ln/>
        </p:spPr>
        <p:txBody>
          <a:bodyPr wrap="square" lIns="0" tIns="0" rIns="0" bIns="0" rtlCol="0" anchor="ctr"/>
          <a:lstStyle/>
          <a:p>
            <a:pPr indent="0" marL="0">
              <a:buNone/>
            </a:pPr>
            <a:r>
              <a:rPr lang="en-US" sz="780" dirty="0">
                <a:solidFill>
                  <a:srgbClr val="53657A"/>
                </a:solidFill>
              </a:rPr>
              <a:t>seguimiento de estudiante</a:t>
            </a:r>
            <a:endParaRPr lang="en-US" sz="780" dirty="0"/>
          </a:p>
        </p:txBody>
      </p:sp>
      <p:sp>
        <p:nvSpPr>
          <p:cNvPr id="23" name="Shape 21"/>
          <p:cNvSpPr/>
          <p:nvPr/>
        </p:nvSpPr>
        <p:spPr>
          <a:xfrm>
            <a:off x="8503920" y="3246120"/>
            <a:ext cx="2331720" cy="457200"/>
          </a:xfrm>
          <a:prstGeom prst="roundRect">
            <a:avLst>
              <a:gd name="adj" fmla="val 8000"/>
            </a:avLst>
          </a:prstGeom>
          <a:solidFill>
            <a:srgbClr val="FFFFFF"/>
          </a:solidFill>
          <a:ln w="12700">
            <a:solidFill>
              <a:srgbClr val="D8E3EE"/>
            </a:solidFill>
            <a:prstDash val="solid"/>
          </a:ln>
        </p:spPr>
      </p:sp>
      <p:sp>
        <p:nvSpPr>
          <p:cNvPr id="24" name="Text 22"/>
          <p:cNvSpPr/>
          <p:nvPr/>
        </p:nvSpPr>
        <p:spPr>
          <a:xfrm>
            <a:off x="8622792" y="3319272"/>
            <a:ext cx="1143000" cy="164592"/>
          </a:xfrm>
          <a:prstGeom prst="rect">
            <a:avLst/>
          </a:prstGeom>
          <a:noFill/>
          <a:ln/>
        </p:spPr>
        <p:txBody>
          <a:bodyPr wrap="square" lIns="0" tIns="0" rIns="0" bIns="0" rtlCol="0" anchor="ctr"/>
          <a:lstStyle/>
          <a:p>
            <a:pPr indent="0" marL="0">
              <a:buNone/>
            </a:pPr>
            <a:r>
              <a:rPr lang="en-US" sz="960" b="1" dirty="0">
                <a:solidFill>
                  <a:srgbClr val="062B4F"/>
                </a:solidFill>
              </a:rPr>
              <a:t>ESTUDIANTE</a:t>
            </a:r>
            <a:endParaRPr lang="en-US" sz="960" dirty="0"/>
          </a:p>
        </p:txBody>
      </p:sp>
      <p:sp>
        <p:nvSpPr>
          <p:cNvPr id="25" name="Text 23"/>
          <p:cNvSpPr/>
          <p:nvPr/>
        </p:nvSpPr>
        <p:spPr>
          <a:xfrm>
            <a:off x="8622792" y="3511296"/>
            <a:ext cx="2011680" cy="128016"/>
          </a:xfrm>
          <a:prstGeom prst="rect">
            <a:avLst/>
          </a:prstGeom>
          <a:noFill/>
          <a:ln/>
        </p:spPr>
        <p:txBody>
          <a:bodyPr wrap="square" lIns="0" tIns="0" rIns="0" bIns="0" rtlCol="0" anchor="ctr"/>
          <a:lstStyle/>
          <a:p>
            <a:pPr indent="0" marL="0">
              <a:buNone/>
            </a:pPr>
            <a:r>
              <a:rPr lang="en-US" sz="780" dirty="0">
                <a:solidFill>
                  <a:srgbClr val="53657A"/>
                </a:solidFill>
              </a:rPr>
              <a:t>información propia</a:t>
            </a:r>
            <a:endParaRPr lang="en-US" sz="780" dirty="0"/>
          </a:p>
        </p:txBody>
      </p:sp>
      <p:sp>
        <p:nvSpPr>
          <p:cNvPr id="26" name="Text 24"/>
          <p:cNvSpPr/>
          <p:nvPr/>
        </p:nvSpPr>
        <p:spPr>
          <a:xfrm>
            <a:off x="640080" y="4754880"/>
            <a:ext cx="1371600" cy="548640"/>
          </a:xfrm>
          <a:prstGeom prst="rect">
            <a:avLst/>
          </a:prstGeom>
          <a:noFill/>
          <a:ln/>
        </p:spPr>
        <p:txBody>
          <a:bodyPr wrap="square" lIns="0" tIns="0" rIns="0" bIns="0" rtlCol="0" anchor="ctr"/>
          <a:lstStyle/>
          <a:p>
            <a:pPr indent="0" marL="0">
              <a:buNone/>
            </a:pPr>
            <a:r>
              <a:rPr lang="en-US" sz="3100" b="1" dirty="0">
                <a:solidFill>
                  <a:srgbClr val="1377C9"/>
                </a:solidFill>
                <a:latin typeface="Aptos Display" pitchFamily="34" charset="0"/>
                <a:ea typeface="Aptos Display" pitchFamily="34" charset="-122"/>
                <a:cs typeface="Aptos Display" pitchFamily="34" charset="-120"/>
              </a:rPr>
              <a:t>6</a:t>
            </a:r>
            <a:endParaRPr lang="en-US" sz="3100" dirty="0"/>
          </a:p>
        </p:txBody>
      </p:sp>
      <p:sp>
        <p:nvSpPr>
          <p:cNvPr id="27" name="Text 25"/>
          <p:cNvSpPr/>
          <p:nvPr/>
        </p:nvSpPr>
        <p:spPr>
          <a:xfrm>
            <a:off x="640080" y="5358384"/>
            <a:ext cx="1371600" cy="292608"/>
          </a:xfrm>
          <a:prstGeom prst="rect">
            <a:avLst/>
          </a:prstGeom>
          <a:noFill/>
          <a:ln/>
        </p:spPr>
        <p:txBody>
          <a:bodyPr wrap="square" lIns="0" tIns="0" rIns="0" bIns="0" rtlCol="0" anchor="ctr">
            <a:normAutofit/>
          </a:bodyPr>
          <a:lstStyle/>
          <a:p>
            <a:pPr indent="0" marL="0">
              <a:buNone/>
            </a:pPr>
            <a:r>
              <a:rPr lang="en-US" sz="1060" dirty="0">
                <a:solidFill>
                  <a:srgbClr val="53657A"/>
                </a:solidFill>
              </a:rPr>
              <a:t>perfiles funcionales</a:t>
            </a:r>
            <a:endParaRPr lang="en-US" sz="1060" dirty="0"/>
          </a:p>
        </p:txBody>
      </p:sp>
      <p:sp>
        <p:nvSpPr>
          <p:cNvPr id="28" name="Text 26"/>
          <p:cNvSpPr/>
          <p:nvPr/>
        </p:nvSpPr>
        <p:spPr>
          <a:xfrm>
            <a:off x="2331720" y="4754880"/>
            <a:ext cx="1371600" cy="548640"/>
          </a:xfrm>
          <a:prstGeom prst="rect">
            <a:avLst/>
          </a:prstGeom>
          <a:noFill/>
          <a:ln/>
        </p:spPr>
        <p:txBody>
          <a:bodyPr wrap="square" lIns="0" tIns="0" rIns="0" bIns="0" rtlCol="0" anchor="ctr"/>
          <a:lstStyle/>
          <a:p>
            <a:pPr indent="0" marL="0">
              <a:buNone/>
            </a:pPr>
            <a:r>
              <a:rPr lang="en-US" sz="3100" b="1" dirty="0">
                <a:solidFill>
                  <a:srgbClr val="1377C9"/>
                </a:solidFill>
                <a:latin typeface="Aptos Display" pitchFamily="34" charset="0"/>
                <a:ea typeface="Aptos Display" pitchFamily="34" charset="-122"/>
                <a:cs typeface="Aptos Display" pitchFamily="34" charset="-120"/>
              </a:rPr>
              <a:t>10</a:t>
            </a:r>
            <a:endParaRPr lang="en-US" sz="3100" dirty="0"/>
          </a:p>
        </p:txBody>
      </p:sp>
      <p:sp>
        <p:nvSpPr>
          <p:cNvPr id="29" name="Text 27"/>
          <p:cNvSpPr/>
          <p:nvPr/>
        </p:nvSpPr>
        <p:spPr>
          <a:xfrm>
            <a:off x="2331720" y="5358384"/>
            <a:ext cx="1371600" cy="292608"/>
          </a:xfrm>
          <a:prstGeom prst="rect">
            <a:avLst/>
          </a:prstGeom>
          <a:noFill/>
          <a:ln/>
        </p:spPr>
        <p:txBody>
          <a:bodyPr wrap="square" lIns="0" tIns="0" rIns="0" bIns="0" rtlCol="0" anchor="ctr">
            <a:normAutofit/>
          </a:bodyPr>
          <a:lstStyle/>
          <a:p>
            <a:pPr indent="0" marL="0">
              <a:buNone/>
            </a:pPr>
            <a:r>
              <a:rPr lang="en-US" sz="1060" dirty="0">
                <a:solidFill>
                  <a:srgbClr val="53657A"/>
                </a:solidFill>
              </a:rPr>
              <a:t>módulos del MVP</a:t>
            </a:r>
            <a:endParaRPr lang="en-US" sz="1060" dirty="0"/>
          </a:p>
        </p:txBody>
      </p:sp>
      <p:sp>
        <p:nvSpPr>
          <p:cNvPr id="30" name="Text 28"/>
          <p:cNvSpPr/>
          <p:nvPr/>
        </p:nvSpPr>
        <p:spPr>
          <a:xfrm>
            <a:off x="3977640" y="4754880"/>
            <a:ext cx="1280160" cy="548640"/>
          </a:xfrm>
          <a:prstGeom prst="rect">
            <a:avLst/>
          </a:prstGeom>
          <a:noFill/>
          <a:ln/>
        </p:spPr>
        <p:txBody>
          <a:bodyPr wrap="square" lIns="0" tIns="0" rIns="0" bIns="0" rtlCol="0" anchor="ctr"/>
          <a:lstStyle/>
          <a:p>
            <a:pPr indent="0" marL="0">
              <a:buNone/>
            </a:pPr>
            <a:r>
              <a:rPr lang="en-US" sz="3100" b="1" dirty="0">
                <a:solidFill>
                  <a:srgbClr val="1377C9"/>
                </a:solidFill>
                <a:latin typeface="Aptos Display" pitchFamily="34" charset="0"/>
                <a:ea typeface="Aptos Display" pitchFamily="34" charset="-122"/>
                <a:cs typeface="Aptos Display" pitchFamily="34" charset="-120"/>
              </a:rPr>
              <a:t>8</a:t>
            </a:r>
            <a:endParaRPr lang="en-US" sz="3100" dirty="0"/>
          </a:p>
        </p:txBody>
      </p:sp>
      <p:sp>
        <p:nvSpPr>
          <p:cNvPr id="31" name="Text 29"/>
          <p:cNvSpPr/>
          <p:nvPr/>
        </p:nvSpPr>
        <p:spPr>
          <a:xfrm>
            <a:off x="3977640" y="5358384"/>
            <a:ext cx="1280160" cy="292608"/>
          </a:xfrm>
          <a:prstGeom prst="rect">
            <a:avLst/>
          </a:prstGeom>
          <a:noFill/>
          <a:ln/>
        </p:spPr>
        <p:txBody>
          <a:bodyPr wrap="square" lIns="0" tIns="0" rIns="0" bIns="0" rtlCol="0" anchor="ctr">
            <a:normAutofit/>
          </a:bodyPr>
          <a:lstStyle/>
          <a:p>
            <a:pPr indent="0" marL="0">
              <a:buNone/>
            </a:pPr>
            <a:r>
              <a:rPr lang="en-US" sz="1060" dirty="0">
                <a:solidFill>
                  <a:srgbClr val="53657A"/>
                </a:solidFill>
              </a:rPr>
              <a:t>sprints semanales</a:t>
            </a:r>
            <a:endParaRPr lang="en-US" sz="1060" dirty="0"/>
          </a:p>
        </p:txBody>
      </p:sp>
      <p:sp>
        <p:nvSpPr>
          <p:cNvPr id="32" name="Shape 30"/>
          <p:cNvSpPr/>
          <p:nvPr/>
        </p:nvSpPr>
        <p:spPr>
          <a:xfrm>
            <a:off x="7598664" y="4306824"/>
            <a:ext cx="4142232" cy="1399032"/>
          </a:xfrm>
          <a:prstGeom prst="roundRect">
            <a:avLst>
              <a:gd name="adj" fmla="val 2614"/>
            </a:avLst>
          </a:prstGeom>
          <a:solidFill>
            <a:srgbClr val="FFFFFF"/>
          </a:solidFill>
          <a:ln w="8890">
            <a:solidFill>
              <a:srgbClr val="D8E3EE"/>
            </a:solidFill>
            <a:prstDash val="solid"/>
          </a:ln>
        </p:spPr>
      </p:sp>
      <p:pic>
        <p:nvPicPr>
          <p:cNvPr id="33" name="Image 0" descr="/mnt/data/13954dd9-e7d9-472f-b591-4fc0ec969545.png">    </p:cNvPr>
          <p:cNvPicPr>
            <a:picLocks noChangeAspect="1"/>
          </p:cNvPicPr>
          <p:nvPr/>
        </p:nvPicPr>
        <p:blipFill>
          <a:blip r:embed="rId1"/>
          <a:srcRect l="0" r="0" t="16228" b="16228"/>
          <a:stretch/>
        </p:blipFill>
        <p:spPr>
          <a:xfrm>
            <a:off x="7635240" y="4343400"/>
            <a:ext cx="4069080" cy="1325880"/>
          </a:xfrm>
          <a:prstGeom prst="rect">
            <a:avLst/>
          </a:prstGeom>
        </p:spPr>
      </p:pic>
      <p:sp>
        <p:nvSpPr>
          <p:cNvPr id="34" name="Text 31"/>
          <p:cNvSpPr/>
          <p:nvPr/>
        </p:nvSpPr>
        <p:spPr>
          <a:xfrm>
            <a:off x="502920" y="6565392"/>
            <a:ext cx="5120640" cy="164592"/>
          </a:xfrm>
          <a:prstGeom prst="rect">
            <a:avLst/>
          </a:prstGeom>
          <a:noFill/>
          <a:ln/>
        </p:spPr>
        <p:txBody>
          <a:bodyPr wrap="square" lIns="0" tIns="0" rIns="0" bIns="0" rtlCol="0" anchor="ctr"/>
          <a:lstStyle/>
          <a:p>
            <a:pPr indent="0" marL="0">
              <a:buNone/>
            </a:pPr>
            <a:r>
              <a:rPr lang="en-US" sz="780" dirty="0">
                <a:solidFill>
                  <a:srgbClr val="7A8899"/>
                </a:solidFill>
              </a:rPr>
              <a:t>Aulafy · EFT Taller Aplicado de Software</a:t>
            </a:r>
            <a:endParaRPr lang="en-US" sz="780" dirty="0"/>
          </a:p>
        </p:txBody>
      </p:sp>
      <p:sp>
        <p:nvSpPr>
          <p:cNvPr id="35" name="Text 32"/>
          <p:cNvSpPr/>
          <p:nvPr/>
        </p:nvSpPr>
        <p:spPr>
          <a:xfrm>
            <a:off x="11201400" y="6519672"/>
            <a:ext cx="502920" cy="201168"/>
          </a:xfrm>
          <a:prstGeom prst="rect">
            <a:avLst/>
          </a:prstGeom>
          <a:noFill/>
          <a:ln/>
        </p:spPr>
        <p:txBody>
          <a:bodyPr wrap="square" lIns="0" tIns="0" rIns="0" bIns="0" rtlCol="0" anchor="ctr"/>
          <a:lstStyle/>
          <a:p>
            <a:pPr algn="r" indent="0" marL="0">
              <a:buNone/>
            </a:pPr>
            <a:r>
              <a:rPr lang="en-US" sz="850" dirty="0">
                <a:solidFill>
                  <a:srgbClr val="7A8899"/>
                </a:solidFill>
              </a:rPr>
              <a:t>02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62B4F"/>
          </a:solidFill>
          <a:ln w="12700">
            <a:solidFill>
              <a:srgbClr val="062B4F"/>
            </a:solidFill>
            <a:prstDash val="solid"/>
          </a:ln>
        </p:spPr>
      </p:sp>
      <p:sp>
        <p:nvSpPr>
          <p:cNvPr id="3" name="Text 1"/>
          <p:cNvSpPr/>
          <p:nvPr/>
        </p:nvSpPr>
        <p:spPr>
          <a:xfrm>
            <a:off x="502920" y="347472"/>
            <a:ext cx="7955280" cy="438912"/>
          </a:xfrm>
          <a:prstGeom prst="rect">
            <a:avLst/>
          </a:prstGeom>
          <a:noFill/>
          <a:ln/>
        </p:spPr>
        <p:txBody>
          <a:bodyPr wrap="square" lIns="0" tIns="0" rIns="0" bIns="0" rtlCol="0" anchor="ctr"/>
          <a:lstStyle/>
          <a:p>
            <a:pPr indent="0" marL="0">
              <a:buNone/>
            </a:pPr>
            <a:r>
              <a:rPr lang="en-US" sz="2700" b="1" dirty="0">
                <a:solidFill>
                  <a:srgbClr val="062B4F"/>
                </a:solidFill>
                <a:latin typeface="Aptos Display" pitchFamily="34" charset="0"/>
                <a:ea typeface="Aptos Display" pitchFamily="34" charset="-122"/>
                <a:cs typeface="Aptos Display" pitchFamily="34" charset="-120"/>
              </a:rPr>
              <a:t>Solución implementada</a:t>
            </a:r>
            <a:endParaRPr lang="en-US" sz="2700" dirty="0"/>
          </a:p>
        </p:txBody>
      </p:sp>
      <p:sp>
        <p:nvSpPr>
          <p:cNvPr id="4" name="Text 2"/>
          <p:cNvSpPr/>
          <p:nvPr/>
        </p:nvSpPr>
        <p:spPr>
          <a:xfrm>
            <a:off x="530352" y="832104"/>
            <a:ext cx="8412480" cy="320040"/>
          </a:xfrm>
          <a:prstGeom prst="rect">
            <a:avLst/>
          </a:prstGeom>
          <a:noFill/>
          <a:ln/>
        </p:spPr>
        <p:txBody>
          <a:bodyPr wrap="square" lIns="0" tIns="0" rIns="0" bIns="0" rtlCol="0" anchor="ctr"/>
          <a:lstStyle/>
          <a:p>
            <a:pPr indent="0" marL="0">
              <a:buNone/>
            </a:pPr>
            <a:r>
              <a:rPr lang="en-US" sz="1280" dirty="0">
                <a:solidFill>
                  <a:srgbClr val="53657A"/>
                </a:solidFill>
              </a:rPr>
              <a:t>Aulafy centraliza los flujos críticos del establecimiento en una SPA Angular con API REST NestJS.</a:t>
            </a:r>
            <a:endParaRPr lang="en-US" sz="1280" dirty="0"/>
          </a:p>
        </p:txBody>
      </p:sp>
      <p:sp>
        <p:nvSpPr>
          <p:cNvPr id="5" name="Shape 3"/>
          <p:cNvSpPr/>
          <p:nvPr/>
        </p:nvSpPr>
        <p:spPr>
          <a:xfrm>
            <a:off x="649224" y="1261872"/>
            <a:ext cx="4965192" cy="4050792"/>
          </a:xfrm>
          <a:prstGeom prst="roundRect">
            <a:avLst>
              <a:gd name="adj" fmla="val 903"/>
            </a:avLst>
          </a:prstGeom>
          <a:solidFill>
            <a:srgbClr val="FFFFFF"/>
          </a:solidFill>
          <a:ln w="8890">
            <a:solidFill>
              <a:srgbClr val="D8E3EE"/>
            </a:solidFill>
            <a:prstDash val="solid"/>
          </a:ln>
        </p:spPr>
      </p:sp>
      <p:pic>
        <p:nvPicPr>
          <p:cNvPr id="6" name="Image 0" descr="/mnt/data/13954dd9-e7d9-472f-b591-4fc0ec969545.png">    </p:cNvPr>
          <p:cNvPicPr>
            <a:picLocks noChangeAspect="1"/>
          </p:cNvPicPr>
          <p:nvPr/>
        </p:nvPicPr>
        <p:blipFill>
          <a:blip r:embed="rId1"/>
          <a:srcRect l="20334" r="20334" t="0" b="0"/>
          <a:stretch/>
        </p:blipFill>
        <p:spPr>
          <a:xfrm>
            <a:off x="685800" y="1298448"/>
            <a:ext cx="4892040" cy="3977640"/>
          </a:xfrm>
          <a:prstGeom prst="rect">
            <a:avLst/>
          </a:prstGeom>
        </p:spPr>
      </p:pic>
      <p:sp>
        <p:nvSpPr>
          <p:cNvPr id="7" name="Text 4"/>
          <p:cNvSpPr/>
          <p:nvPr/>
        </p:nvSpPr>
        <p:spPr>
          <a:xfrm>
            <a:off x="5989320" y="1417320"/>
            <a:ext cx="2834640" cy="201168"/>
          </a:xfrm>
          <a:prstGeom prst="rect">
            <a:avLst/>
          </a:prstGeom>
          <a:noFill/>
          <a:ln/>
        </p:spPr>
        <p:txBody>
          <a:bodyPr wrap="square" lIns="0" tIns="0" rIns="0" bIns="0" rtlCol="0" anchor="ctr"/>
          <a:lstStyle/>
          <a:p>
            <a:pPr indent="0" marL="0">
              <a:buNone/>
            </a:pPr>
            <a:r>
              <a:rPr lang="en-US" sz="850" b="1" dirty="0">
                <a:solidFill>
                  <a:srgbClr val="1377C9"/>
                </a:solidFill>
              </a:rPr>
              <a:t>MÓDULOS OPERATIVOS</a:t>
            </a:r>
            <a:endParaRPr lang="en-US" sz="850" dirty="0"/>
          </a:p>
        </p:txBody>
      </p:sp>
      <p:sp>
        <p:nvSpPr>
          <p:cNvPr id="8" name="Shape 5"/>
          <p:cNvSpPr/>
          <p:nvPr/>
        </p:nvSpPr>
        <p:spPr>
          <a:xfrm>
            <a:off x="6080760" y="1783080"/>
            <a:ext cx="164592" cy="164592"/>
          </a:xfrm>
          <a:prstGeom prst="ellipse">
            <a:avLst/>
          </a:prstGeom>
          <a:solidFill>
            <a:srgbClr val="54D99B"/>
          </a:solidFill>
          <a:ln w="12700">
            <a:solidFill>
              <a:srgbClr val="54D99B"/>
            </a:solidFill>
            <a:prstDash val="solid"/>
          </a:ln>
        </p:spPr>
      </p:sp>
      <p:sp>
        <p:nvSpPr>
          <p:cNvPr id="9" name="Text 6"/>
          <p:cNvSpPr/>
          <p:nvPr/>
        </p:nvSpPr>
        <p:spPr>
          <a:xfrm>
            <a:off x="6327648" y="1755648"/>
            <a:ext cx="1965960" cy="210312"/>
          </a:xfrm>
          <a:prstGeom prst="rect">
            <a:avLst/>
          </a:prstGeom>
          <a:noFill/>
          <a:ln/>
        </p:spPr>
        <p:txBody>
          <a:bodyPr wrap="square" lIns="0" tIns="0" rIns="0" bIns="0" rtlCol="0" anchor="ctr"/>
          <a:lstStyle/>
          <a:p>
            <a:pPr indent="0" marL="0">
              <a:buNone/>
            </a:pPr>
            <a:r>
              <a:rPr lang="en-US" sz="1020" dirty="0">
                <a:solidFill>
                  <a:srgbClr val="0D1B2A"/>
                </a:solidFill>
              </a:rPr>
              <a:t>Autenticación JWT</a:t>
            </a:r>
            <a:endParaRPr lang="en-US" sz="1020" dirty="0"/>
          </a:p>
        </p:txBody>
      </p:sp>
      <p:sp>
        <p:nvSpPr>
          <p:cNvPr id="10" name="Shape 7"/>
          <p:cNvSpPr/>
          <p:nvPr/>
        </p:nvSpPr>
        <p:spPr>
          <a:xfrm>
            <a:off x="8366760" y="1783080"/>
            <a:ext cx="164592" cy="164592"/>
          </a:xfrm>
          <a:prstGeom prst="ellipse">
            <a:avLst/>
          </a:prstGeom>
          <a:solidFill>
            <a:srgbClr val="54D99B"/>
          </a:solidFill>
          <a:ln w="12700">
            <a:solidFill>
              <a:srgbClr val="54D99B"/>
            </a:solidFill>
            <a:prstDash val="solid"/>
          </a:ln>
        </p:spPr>
      </p:sp>
      <p:sp>
        <p:nvSpPr>
          <p:cNvPr id="11" name="Text 8"/>
          <p:cNvSpPr/>
          <p:nvPr/>
        </p:nvSpPr>
        <p:spPr>
          <a:xfrm>
            <a:off x="8613648" y="1755648"/>
            <a:ext cx="1965960" cy="210312"/>
          </a:xfrm>
          <a:prstGeom prst="rect">
            <a:avLst/>
          </a:prstGeom>
          <a:noFill/>
          <a:ln/>
        </p:spPr>
        <p:txBody>
          <a:bodyPr wrap="square" lIns="0" tIns="0" rIns="0" bIns="0" rtlCol="0" anchor="ctr"/>
          <a:lstStyle/>
          <a:p>
            <a:pPr indent="0" marL="0">
              <a:buNone/>
            </a:pPr>
            <a:r>
              <a:rPr lang="en-US" sz="1020" dirty="0">
                <a:solidFill>
                  <a:srgbClr val="0D1B2A"/>
                </a:solidFill>
              </a:rPr>
              <a:t>Muro académico</a:t>
            </a:r>
            <a:endParaRPr lang="en-US" sz="1020" dirty="0"/>
          </a:p>
        </p:txBody>
      </p:sp>
      <p:sp>
        <p:nvSpPr>
          <p:cNvPr id="12" name="Shape 9"/>
          <p:cNvSpPr/>
          <p:nvPr/>
        </p:nvSpPr>
        <p:spPr>
          <a:xfrm>
            <a:off x="6080760" y="2258568"/>
            <a:ext cx="164592" cy="164592"/>
          </a:xfrm>
          <a:prstGeom prst="ellipse">
            <a:avLst/>
          </a:prstGeom>
          <a:solidFill>
            <a:srgbClr val="54D99B"/>
          </a:solidFill>
          <a:ln w="12700">
            <a:solidFill>
              <a:srgbClr val="54D99B"/>
            </a:solidFill>
            <a:prstDash val="solid"/>
          </a:ln>
        </p:spPr>
      </p:sp>
      <p:sp>
        <p:nvSpPr>
          <p:cNvPr id="13" name="Text 10"/>
          <p:cNvSpPr/>
          <p:nvPr/>
        </p:nvSpPr>
        <p:spPr>
          <a:xfrm>
            <a:off x="6327648" y="2231136"/>
            <a:ext cx="1965960" cy="210312"/>
          </a:xfrm>
          <a:prstGeom prst="rect">
            <a:avLst/>
          </a:prstGeom>
          <a:noFill/>
          <a:ln/>
        </p:spPr>
        <p:txBody>
          <a:bodyPr wrap="square" lIns="0" tIns="0" rIns="0" bIns="0" rtlCol="0" anchor="ctr"/>
          <a:lstStyle/>
          <a:p>
            <a:pPr indent="0" marL="0">
              <a:buNone/>
            </a:pPr>
            <a:r>
              <a:rPr lang="en-US" sz="1020" dirty="0">
                <a:solidFill>
                  <a:srgbClr val="0D1B2A"/>
                </a:solidFill>
              </a:rPr>
              <a:t>Calendario</a:t>
            </a:r>
            <a:endParaRPr lang="en-US" sz="1020" dirty="0"/>
          </a:p>
        </p:txBody>
      </p:sp>
      <p:sp>
        <p:nvSpPr>
          <p:cNvPr id="14" name="Shape 11"/>
          <p:cNvSpPr/>
          <p:nvPr/>
        </p:nvSpPr>
        <p:spPr>
          <a:xfrm>
            <a:off x="8366760" y="2258568"/>
            <a:ext cx="164592" cy="164592"/>
          </a:xfrm>
          <a:prstGeom prst="ellipse">
            <a:avLst/>
          </a:prstGeom>
          <a:solidFill>
            <a:srgbClr val="54D99B"/>
          </a:solidFill>
          <a:ln w="12700">
            <a:solidFill>
              <a:srgbClr val="54D99B"/>
            </a:solidFill>
            <a:prstDash val="solid"/>
          </a:ln>
        </p:spPr>
      </p:sp>
      <p:sp>
        <p:nvSpPr>
          <p:cNvPr id="15" name="Text 12"/>
          <p:cNvSpPr/>
          <p:nvPr/>
        </p:nvSpPr>
        <p:spPr>
          <a:xfrm>
            <a:off x="8613648" y="2231136"/>
            <a:ext cx="1965960" cy="210312"/>
          </a:xfrm>
          <a:prstGeom prst="rect">
            <a:avLst/>
          </a:prstGeom>
          <a:noFill/>
          <a:ln/>
        </p:spPr>
        <p:txBody>
          <a:bodyPr wrap="square" lIns="0" tIns="0" rIns="0" bIns="0" rtlCol="0" anchor="ctr"/>
          <a:lstStyle/>
          <a:p>
            <a:pPr indent="0" marL="0">
              <a:buNone/>
            </a:pPr>
            <a:r>
              <a:rPr lang="en-US" sz="1020" dirty="0">
                <a:solidFill>
                  <a:srgbClr val="0D1B2A"/>
                </a:solidFill>
              </a:rPr>
              <a:t>Notas y evaluaciones</a:t>
            </a:r>
            <a:endParaRPr lang="en-US" sz="1020" dirty="0"/>
          </a:p>
        </p:txBody>
      </p:sp>
      <p:sp>
        <p:nvSpPr>
          <p:cNvPr id="16" name="Shape 13"/>
          <p:cNvSpPr/>
          <p:nvPr/>
        </p:nvSpPr>
        <p:spPr>
          <a:xfrm>
            <a:off x="6080760" y="2734056"/>
            <a:ext cx="164592" cy="164592"/>
          </a:xfrm>
          <a:prstGeom prst="ellipse">
            <a:avLst/>
          </a:prstGeom>
          <a:solidFill>
            <a:srgbClr val="54D99B"/>
          </a:solidFill>
          <a:ln w="12700">
            <a:solidFill>
              <a:srgbClr val="54D99B"/>
            </a:solidFill>
            <a:prstDash val="solid"/>
          </a:ln>
        </p:spPr>
      </p:sp>
      <p:sp>
        <p:nvSpPr>
          <p:cNvPr id="17" name="Text 14"/>
          <p:cNvSpPr/>
          <p:nvPr/>
        </p:nvSpPr>
        <p:spPr>
          <a:xfrm>
            <a:off x="6327648" y="2706624"/>
            <a:ext cx="1965960" cy="210312"/>
          </a:xfrm>
          <a:prstGeom prst="rect">
            <a:avLst/>
          </a:prstGeom>
          <a:noFill/>
          <a:ln/>
        </p:spPr>
        <p:txBody>
          <a:bodyPr wrap="square" lIns="0" tIns="0" rIns="0" bIns="0" rtlCol="0" anchor="ctr"/>
          <a:lstStyle/>
          <a:p>
            <a:pPr indent="0" marL="0">
              <a:buNone/>
            </a:pPr>
            <a:r>
              <a:rPr lang="en-US" sz="1020" dirty="0">
                <a:solidFill>
                  <a:srgbClr val="0D1B2A"/>
                </a:solidFill>
              </a:rPr>
              <a:t>Asistencia</a:t>
            </a:r>
            <a:endParaRPr lang="en-US" sz="1020" dirty="0"/>
          </a:p>
        </p:txBody>
      </p:sp>
      <p:sp>
        <p:nvSpPr>
          <p:cNvPr id="18" name="Shape 15"/>
          <p:cNvSpPr/>
          <p:nvPr/>
        </p:nvSpPr>
        <p:spPr>
          <a:xfrm>
            <a:off x="8366760" y="2734056"/>
            <a:ext cx="164592" cy="164592"/>
          </a:xfrm>
          <a:prstGeom prst="ellipse">
            <a:avLst/>
          </a:prstGeom>
          <a:solidFill>
            <a:srgbClr val="54D99B"/>
          </a:solidFill>
          <a:ln w="12700">
            <a:solidFill>
              <a:srgbClr val="54D99B"/>
            </a:solidFill>
            <a:prstDash val="solid"/>
          </a:ln>
        </p:spPr>
      </p:sp>
      <p:sp>
        <p:nvSpPr>
          <p:cNvPr id="19" name="Text 16"/>
          <p:cNvSpPr/>
          <p:nvPr/>
        </p:nvSpPr>
        <p:spPr>
          <a:xfrm>
            <a:off x="8613648" y="2706624"/>
            <a:ext cx="1965960" cy="210312"/>
          </a:xfrm>
          <a:prstGeom prst="rect">
            <a:avLst/>
          </a:prstGeom>
          <a:noFill/>
          <a:ln/>
        </p:spPr>
        <p:txBody>
          <a:bodyPr wrap="square" lIns="0" tIns="0" rIns="0" bIns="0" rtlCol="0" anchor="ctr"/>
          <a:lstStyle/>
          <a:p>
            <a:pPr indent="0" marL="0">
              <a:buNone/>
            </a:pPr>
            <a:r>
              <a:rPr lang="en-US" sz="1020" dirty="0">
                <a:solidFill>
                  <a:srgbClr val="0D1B2A"/>
                </a:solidFill>
              </a:rPr>
              <a:t>Anotaciones</a:t>
            </a:r>
            <a:endParaRPr lang="en-US" sz="1020" dirty="0"/>
          </a:p>
        </p:txBody>
      </p:sp>
      <p:sp>
        <p:nvSpPr>
          <p:cNvPr id="20" name="Shape 17"/>
          <p:cNvSpPr/>
          <p:nvPr/>
        </p:nvSpPr>
        <p:spPr>
          <a:xfrm>
            <a:off x="6080760" y="3209544"/>
            <a:ext cx="164592" cy="164592"/>
          </a:xfrm>
          <a:prstGeom prst="ellipse">
            <a:avLst/>
          </a:prstGeom>
          <a:solidFill>
            <a:srgbClr val="54D99B"/>
          </a:solidFill>
          <a:ln w="12700">
            <a:solidFill>
              <a:srgbClr val="54D99B"/>
            </a:solidFill>
            <a:prstDash val="solid"/>
          </a:ln>
        </p:spPr>
      </p:sp>
      <p:sp>
        <p:nvSpPr>
          <p:cNvPr id="21" name="Text 18"/>
          <p:cNvSpPr/>
          <p:nvPr/>
        </p:nvSpPr>
        <p:spPr>
          <a:xfrm>
            <a:off x="6327648" y="3182112"/>
            <a:ext cx="1965960" cy="210312"/>
          </a:xfrm>
          <a:prstGeom prst="rect">
            <a:avLst/>
          </a:prstGeom>
          <a:noFill/>
          <a:ln/>
        </p:spPr>
        <p:txBody>
          <a:bodyPr wrap="square" lIns="0" tIns="0" rIns="0" bIns="0" rtlCol="0" anchor="ctr"/>
          <a:lstStyle/>
          <a:p>
            <a:pPr indent="0" marL="0">
              <a:buNone/>
            </a:pPr>
            <a:r>
              <a:rPr lang="en-US" sz="1020" dirty="0">
                <a:solidFill>
                  <a:srgbClr val="0D1B2A"/>
                </a:solidFill>
              </a:rPr>
              <a:t>Chat por curso</a:t>
            </a:r>
            <a:endParaRPr lang="en-US" sz="1020" dirty="0"/>
          </a:p>
        </p:txBody>
      </p:sp>
      <p:sp>
        <p:nvSpPr>
          <p:cNvPr id="22" name="Shape 19"/>
          <p:cNvSpPr/>
          <p:nvPr/>
        </p:nvSpPr>
        <p:spPr>
          <a:xfrm>
            <a:off x="8366760" y="3209544"/>
            <a:ext cx="164592" cy="164592"/>
          </a:xfrm>
          <a:prstGeom prst="ellipse">
            <a:avLst/>
          </a:prstGeom>
          <a:solidFill>
            <a:srgbClr val="54D99B"/>
          </a:solidFill>
          <a:ln w="12700">
            <a:solidFill>
              <a:srgbClr val="54D99B"/>
            </a:solidFill>
            <a:prstDash val="solid"/>
          </a:ln>
        </p:spPr>
      </p:sp>
      <p:sp>
        <p:nvSpPr>
          <p:cNvPr id="23" name="Text 20"/>
          <p:cNvSpPr/>
          <p:nvPr/>
        </p:nvSpPr>
        <p:spPr>
          <a:xfrm>
            <a:off x="8613648" y="3182112"/>
            <a:ext cx="1965960" cy="210312"/>
          </a:xfrm>
          <a:prstGeom prst="rect">
            <a:avLst/>
          </a:prstGeom>
          <a:noFill/>
          <a:ln/>
        </p:spPr>
        <p:txBody>
          <a:bodyPr wrap="square" lIns="0" tIns="0" rIns="0" bIns="0" rtlCol="0" anchor="ctr"/>
          <a:lstStyle/>
          <a:p>
            <a:pPr indent="0" marL="0">
              <a:buNone/>
            </a:pPr>
            <a:r>
              <a:rPr lang="en-US" sz="1020" dirty="0">
                <a:solidFill>
                  <a:srgbClr val="0D1B2A"/>
                </a:solidFill>
              </a:rPr>
              <a:t>Riesgo académico</a:t>
            </a:r>
            <a:endParaRPr lang="en-US" sz="1020" dirty="0"/>
          </a:p>
        </p:txBody>
      </p:sp>
      <p:sp>
        <p:nvSpPr>
          <p:cNvPr id="24" name="Shape 21"/>
          <p:cNvSpPr/>
          <p:nvPr/>
        </p:nvSpPr>
        <p:spPr>
          <a:xfrm>
            <a:off x="6080760" y="3685032"/>
            <a:ext cx="164592" cy="164592"/>
          </a:xfrm>
          <a:prstGeom prst="ellipse">
            <a:avLst/>
          </a:prstGeom>
          <a:solidFill>
            <a:srgbClr val="54D99B"/>
          </a:solidFill>
          <a:ln w="12700">
            <a:solidFill>
              <a:srgbClr val="54D99B"/>
            </a:solidFill>
            <a:prstDash val="solid"/>
          </a:ln>
        </p:spPr>
      </p:sp>
      <p:sp>
        <p:nvSpPr>
          <p:cNvPr id="25" name="Text 22"/>
          <p:cNvSpPr/>
          <p:nvPr/>
        </p:nvSpPr>
        <p:spPr>
          <a:xfrm>
            <a:off x="6327648" y="3657600"/>
            <a:ext cx="1965960" cy="210312"/>
          </a:xfrm>
          <a:prstGeom prst="rect">
            <a:avLst/>
          </a:prstGeom>
          <a:noFill/>
          <a:ln/>
        </p:spPr>
        <p:txBody>
          <a:bodyPr wrap="square" lIns="0" tIns="0" rIns="0" bIns="0" rtlCol="0" anchor="ctr"/>
          <a:lstStyle/>
          <a:p>
            <a:pPr indent="0" marL="0">
              <a:buNone/>
            </a:pPr>
            <a:r>
              <a:rPr lang="en-US" sz="1020" dirty="0">
                <a:solidFill>
                  <a:srgbClr val="0D1B2A"/>
                </a:solidFill>
              </a:rPr>
              <a:t>Usuarios y cursos</a:t>
            </a:r>
            <a:endParaRPr lang="en-US" sz="1020" dirty="0"/>
          </a:p>
        </p:txBody>
      </p:sp>
      <p:sp>
        <p:nvSpPr>
          <p:cNvPr id="26" name="Shape 23"/>
          <p:cNvSpPr/>
          <p:nvPr/>
        </p:nvSpPr>
        <p:spPr>
          <a:xfrm>
            <a:off x="8366760" y="3685032"/>
            <a:ext cx="164592" cy="164592"/>
          </a:xfrm>
          <a:prstGeom prst="ellipse">
            <a:avLst/>
          </a:prstGeom>
          <a:solidFill>
            <a:srgbClr val="54D99B"/>
          </a:solidFill>
          <a:ln w="12700">
            <a:solidFill>
              <a:srgbClr val="54D99B"/>
            </a:solidFill>
            <a:prstDash val="solid"/>
          </a:ln>
        </p:spPr>
      </p:sp>
      <p:sp>
        <p:nvSpPr>
          <p:cNvPr id="27" name="Text 24"/>
          <p:cNvSpPr/>
          <p:nvPr/>
        </p:nvSpPr>
        <p:spPr>
          <a:xfrm>
            <a:off x="8613648" y="3657600"/>
            <a:ext cx="1965960" cy="210312"/>
          </a:xfrm>
          <a:prstGeom prst="rect">
            <a:avLst/>
          </a:prstGeom>
          <a:noFill/>
          <a:ln/>
        </p:spPr>
        <p:txBody>
          <a:bodyPr wrap="square" lIns="0" tIns="0" rIns="0" bIns="0" rtlCol="0" anchor="ctr"/>
          <a:lstStyle/>
          <a:p>
            <a:pPr indent="0" marL="0">
              <a:buNone/>
            </a:pPr>
            <a:r>
              <a:rPr lang="en-US" sz="1020" dirty="0">
                <a:solidFill>
                  <a:srgbClr val="0D1B2A"/>
                </a:solidFill>
              </a:rPr>
              <a:t>Notificaciones internas</a:t>
            </a:r>
            <a:endParaRPr lang="en-US" sz="1020" dirty="0"/>
          </a:p>
        </p:txBody>
      </p:sp>
      <p:sp>
        <p:nvSpPr>
          <p:cNvPr id="28" name="Text 25"/>
          <p:cNvSpPr/>
          <p:nvPr/>
        </p:nvSpPr>
        <p:spPr>
          <a:xfrm>
            <a:off x="6080760" y="4709160"/>
            <a:ext cx="4754880" cy="914400"/>
          </a:xfrm>
          <a:prstGeom prst="rect">
            <a:avLst/>
          </a:prstGeom>
          <a:noFill/>
          <a:ln/>
        </p:spPr>
        <p:txBody>
          <a:bodyPr wrap="square" lIns="254" tIns="254" rIns="254" bIns="254" rtlCol="0" anchor="t">
            <a:normAutofit/>
          </a:bodyPr>
          <a:lstStyle/>
          <a:p>
            <a:pPr indent="0" marL="0">
              <a:buNone/>
            </a:pPr>
            <a:r>
              <a:rPr lang="en-US" sz="1500" b="1" dirty="0">
                <a:solidFill>
                  <a:srgbClr val="062B4F"/>
                </a:solidFill>
              </a:rPr>
              <a:t>Resultado</a:t>
            </a:r>
            <a:pPr indent="0" marL="0">
              <a:buNone/>
            </a:pPr>
            <a:r>
              <a:rPr lang="en-US" sz="1500" dirty="0">
                <a:solidFill>
                  <a:srgbClr val="53657A"/>
                </a:solidFill>
              </a:rPr>
              <a:t> — 10 módulos activos con navegación protegida por rol.
</a:t>
            </a:r>
            <a:pPr indent="0" marL="0">
              <a:buNone/>
            </a:pPr>
            <a:r>
              <a:rPr lang="en-US" sz="1500" b="1" dirty="0">
                <a:solidFill>
                  <a:srgbClr val="062B4F"/>
                </a:solidFill>
              </a:rPr>
              <a:t>Validación</a:t>
            </a:r>
            <a:pPr indent="0" marL="0">
              <a:buNone/>
            </a:pPr>
            <a:r>
              <a:rPr lang="en-US" sz="1500" dirty="0">
                <a:solidFill>
                  <a:srgbClr val="53657A"/>
                </a:solidFill>
              </a:rPr>
              <a:t> — 99 pruebas automatizadas y smoke test final de 18 escenarios.</a:t>
            </a:r>
            <a:endParaRPr lang="en-US" sz="1500" dirty="0"/>
          </a:p>
        </p:txBody>
      </p:sp>
      <p:sp>
        <p:nvSpPr>
          <p:cNvPr id="29" name="Text 26"/>
          <p:cNvSpPr/>
          <p:nvPr/>
        </p:nvSpPr>
        <p:spPr>
          <a:xfrm>
            <a:off x="502920" y="6565392"/>
            <a:ext cx="5120640" cy="164592"/>
          </a:xfrm>
          <a:prstGeom prst="rect">
            <a:avLst/>
          </a:prstGeom>
          <a:noFill/>
          <a:ln/>
        </p:spPr>
        <p:txBody>
          <a:bodyPr wrap="square" lIns="0" tIns="0" rIns="0" bIns="0" rtlCol="0" anchor="ctr"/>
          <a:lstStyle/>
          <a:p>
            <a:pPr indent="0" marL="0">
              <a:buNone/>
            </a:pPr>
            <a:r>
              <a:rPr lang="en-US" sz="780" dirty="0">
                <a:solidFill>
                  <a:srgbClr val="7A8899"/>
                </a:solidFill>
              </a:rPr>
              <a:t>Aulafy · EFT Taller Aplicado de Software</a:t>
            </a:r>
            <a:endParaRPr lang="en-US" sz="780" dirty="0"/>
          </a:p>
        </p:txBody>
      </p:sp>
      <p:sp>
        <p:nvSpPr>
          <p:cNvPr id="30" name="Text 27"/>
          <p:cNvSpPr/>
          <p:nvPr/>
        </p:nvSpPr>
        <p:spPr>
          <a:xfrm>
            <a:off x="11201400" y="6519672"/>
            <a:ext cx="502920" cy="201168"/>
          </a:xfrm>
          <a:prstGeom prst="rect">
            <a:avLst/>
          </a:prstGeom>
          <a:noFill/>
          <a:ln/>
        </p:spPr>
        <p:txBody>
          <a:bodyPr wrap="square" lIns="0" tIns="0" rIns="0" bIns="0" rtlCol="0" anchor="ctr"/>
          <a:lstStyle/>
          <a:p>
            <a:pPr algn="r" indent="0" marL="0">
              <a:buNone/>
            </a:pPr>
            <a:r>
              <a:rPr lang="en-US" sz="850" dirty="0">
                <a:solidFill>
                  <a:srgbClr val="7A8899"/>
                </a:solidFill>
              </a:rPr>
              <a:t>03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62B4F"/>
          </a:solidFill>
          <a:ln w="12700">
            <a:solidFill>
              <a:srgbClr val="062B4F"/>
            </a:solidFill>
            <a:prstDash val="solid"/>
          </a:ln>
        </p:spPr>
        <p:txBody>
          <a:bodyPr/>
          <a:p/>
        </p:txBody>
      </p:sp>
      <p:sp>
        <p:nvSpPr>
          <p:cNvPr id="3" name="Text 1"/>
          <p:cNvSpPr/>
          <p:nvPr/>
        </p:nvSpPr>
        <p:spPr>
          <a:xfrm>
            <a:off x="502920" y="347472"/>
            <a:ext cx="7955280" cy="438912"/>
          </a:xfrm>
          <a:prstGeom prst="rect">
            <a:avLst/>
          </a:prstGeom>
          <a:noFill/>
          <a:ln/>
        </p:spPr>
        <p:txBody>
          <a:bodyPr wrap="square" lIns="0" tIns="0" rIns="0" bIns="0" rtlCol="0" anchor="ctr"/>
          <a:lstStyle/>
          <a:p>
            <a:pPr indent="0" marL="0">
              <a:buNone/>
            </a:pPr>
            <a:r>
              <a:rPr lang="en-US" sz="2700" b="1" dirty="0">
                <a:solidFill>
                  <a:srgbClr val="062B4F"/>
                </a:solidFill>
                <a:latin typeface="Aptos Display" pitchFamily="34" charset="0"/>
                <a:ea typeface="Aptos Display" pitchFamily="34" charset="-122"/>
                <a:cs typeface="Aptos Display" pitchFamily="34" charset="-120"/>
              </a:rPr>
              <a:t>Arquitectura actual en AWS</a:t>
            </a:r>
            <a:endParaRPr lang="en-US" sz="2700" dirty="0"/>
          </a:p>
        </p:txBody>
      </p:sp>
      <p:sp>
        <p:nvSpPr>
          <p:cNvPr id="4" name="Text 2"/>
          <p:cNvSpPr/>
          <p:nvPr/>
        </p:nvSpPr>
        <p:spPr>
          <a:xfrm>
            <a:off x="530352" y="832104"/>
            <a:ext cx="8412480" cy="320040"/>
          </a:xfrm>
          <a:prstGeom prst="rect">
            <a:avLst/>
          </a:prstGeom>
          <a:noFill/>
          <a:ln/>
        </p:spPr>
        <p:txBody>
          <a:bodyPr wrap="square" lIns="0" tIns="0" rIns="0" bIns="0" rtlCol="0" anchor="ctr"/>
          <a:lstStyle/>
          <a:p>
            <a:pPr indent="0" marL="0">
              <a:buNone/>
            </a:pPr>
            <a:r>
              <a:rPr lang="en-US" sz="1280" dirty="0">
                <a:solidFill>
                  <a:srgbClr val="53657A"/>
                </a:solidFill>
              </a:rPr>
              <a:t>Cliente-servidor de 3 capas: frontend estático, API REST y base de datos relacional.</a:t>
            </a:r>
            <a:endParaRPr lang="en-US" sz="1280" dirty="0"/>
          </a:p>
        </p:txBody>
      </p:sp>
      <p:sp>
        <p:nvSpPr>
          <p:cNvPr id="5" name="Shape 3"/>
          <p:cNvSpPr/>
          <p:nvPr/>
        </p:nvSpPr>
        <p:spPr>
          <a:xfrm>
            <a:off x="2606040" y="2359152"/>
            <a:ext cx="1143000" cy="0"/>
          </a:xfrm>
          <a:prstGeom prst="line">
            <a:avLst/>
          </a:prstGeom>
          <a:noFill/>
          <a:ln w="17780">
            <a:solidFill>
              <a:srgbClr val="53657A"/>
            </a:solidFill>
            <a:prstDash val="solid"/>
            <a:headEnd type="none"/>
            <a:tailEnd type="triangle"/>
          </a:ln>
        </p:spPr>
        <p:txBody>
          <a:bodyPr/>
          <a:p/>
        </p:txBody>
      </p:sp>
      <p:sp>
        <p:nvSpPr>
          <p:cNvPr id="6" name="Shape 4"/>
          <p:cNvSpPr/>
          <p:nvPr/>
        </p:nvSpPr>
        <p:spPr>
          <a:xfrm>
            <a:off x="4956048" y="2359152"/>
            <a:ext cx="1143000" cy="0"/>
          </a:xfrm>
          <a:prstGeom prst="line">
            <a:avLst/>
          </a:prstGeom>
          <a:noFill/>
          <a:ln w="17780">
            <a:solidFill>
              <a:srgbClr val="53657A"/>
            </a:solidFill>
            <a:prstDash val="solid"/>
            <a:headEnd type="none"/>
            <a:tailEnd type="triangle"/>
          </a:ln>
        </p:spPr>
        <p:txBody>
          <a:bodyPr/>
          <a:p/>
        </p:txBody>
      </p:sp>
      <p:sp>
        <p:nvSpPr>
          <p:cNvPr id="7" name="Shape 5"/>
          <p:cNvSpPr/>
          <p:nvPr/>
        </p:nvSpPr>
        <p:spPr>
          <a:xfrm>
            <a:off x="7242048" y="2359152"/>
            <a:ext cx="1143000" cy="0"/>
          </a:xfrm>
          <a:prstGeom prst="line">
            <a:avLst/>
          </a:prstGeom>
          <a:noFill/>
          <a:ln w="17780">
            <a:solidFill>
              <a:srgbClr val="53657A"/>
            </a:solidFill>
            <a:prstDash val="solid"/>
            <a:headEnd type="none"/>
            <a:tailEnd type="triangle"/>
          </a:ln>
        </p:spPr>
        <p:txBody>
          <a:bodyPr/>
          <a:p/>
        </p:txBody>
      </p:sp>
      <p:sp>
        <p:nvSpPr>
          <p:cNvPr id="8" name="Shape 6"/>
          <p:cNvSpPr/>
          <p:nvPr/>
        </p:nvSpPr>
        <p:spPr>
          <a:xfrm>
            <a:off x="9326880" y="2743200"/>
            <a:ext cx="0" cy="1143000"/>
          </a:xfrm>
          <a:prstGeom prst="line">
            <a:avLst/>
          </a:prstGeom>
          <a:noFill/>
          <a:ln w="17780">
            <a:solidFill>
              <a:srgbClr val="53657A"/>
            </a:solidFill>
            <a:prstDash val="solid"/>
            <a:headEnd type="none"/>
            <a:tailEnd type="triangle"/>
          </a:ln>
        </p:spPr>
        <p:txBody>
          <a:bodyPr/>
          <a:p/>
        </p:txBody>
      </p:sp>
      <p:sp>
        <p:nvSpPr>
          <p:cNvPr id="9" name="Shape 7"/>
          <p:cNvSpPr/>
          <p:nvPr/>
        </p:nvSpPr>
        <p:spPr>
          <a:xfrm>
            <a:off x="4480560" y="4617720"/>
            <a:ext cx="0" cy="-1143000"/>
          </a:xfrm>
          <a:prstGeom prst="line">
            <a:avLst/>
          </a:prstGeom>
          <a:noFill/>
          <a:ln w="17780">
            <a:solidFill>
              <a:srgbClr val="53657A"/>
            </a:solidFill>
            <a:prstDash val="solid"/>
            <a:headEnd type="none"/>
            <a:tailEnd type="triangle"/>
          </a:ln>
        </p:spPr>
        <p:txBody>
          <a:bodyPr/>
          <a:p/>
        </p:txBody>
      </p:sp>
      <p:sp>
        <p:nvSpPr>
          <p:cNvPr id="10" name="Shape 8"/>
          <p:cNvSpPr/>
          <p:nvPr/>
        </p:nvSpPr>
        <p:spPr>
          <a:xfrm>
            <a:off x="5852160" y="4617720"/>
            <a:ext cx="1463040" cy="-1143000"/>
          </a:xfrm>
          <a:prstGeom prst="line">
            <a:avLst/>
          </a:prstGeom>
          <a:noFill/>
          <a:ln w="17780">
            <a:solidFill>
              <a:srgbClr val="53657A"/>
            </a:solidFill>
            <a:prstDash val="solid"/>
            <a:headEnd type="none"/>
            <a:tailEnd type="triangle"/>
          </a:ln>
        </p:spPr>
        <p:txBody>
          <a:bodyPr/>
          <a:p/>
        </p:txBody>
      </p:sp>
      <p:sp>
        <p:nvSpPr>
          <p:cNvPr id="11" name="Shape 9"/>
          <p:cNvSpPr/>
          <p:nvPr/>
        </p:nvSpPr>
        <p:spPr>
          <a:xfrm>
            <a:off x="594360" y="1874520"/>
            <a:ext cx="2011680" cy="960120"/>
          </a:xfrm>
          <a:prstGeom prst="roundRect">
            <a:avLst>
              <a:gd name="adj" fmla="val 7619"/>
            </a:avLst>
          </a:prstGeom>
          <a:solidFill>
            <a:srgbClr val="12212F"/>
          </a:solidFill>
          <a:ln w="12700">
            <a:solidFill>
              <a:srgbClr val="12212F"/>
            </a:solidFill>
            <a:prstDash val="solid"/>
          </a:ln>
        </p:spPr>
        <p:txBody>
          <a:bodyPr/>
          <a:p/>
        </p:txBody>
      </p:sp>
      <p:sp>
        <p:nvSpPr>
          <p:cNvPr id="12" name="Text 10"/>
          <p:cNvSpPr/>
          <p:nvPr/>
        </p:nvSpPr>
        <p:spPr>
          <a:xfrm>
            <a:off x="704088" y="2084832"/>
            <a:ext cx="1792224" cy="182880"/>
          </a:xfrm>
          <a:prstGeom prst="rect">
            <a:avLst/>
          </a:prstGeom>
          <a:noFill/>
          <a:ln/>
        </p:spPr>
        <p:txBody>
          <a:bodyPr wrap="square" lIns="0" tIns="0" rIns="0" bIns="0" rtlCol="0" anchor="ctr"/>
          <a:lstStyle/>
          <a:p>
            <a:pPr algn="ctr" indent="0" marL="0">
              <a:buNone/>
            </a:pPr>
            <a:r>
              <a:rPr lang="en-US" sz="1220" b="1" dirty="0">
                <a:solidFill>
                  <a:srgbClr val="FFFFFF"/>
                </a:solidFill>
              </a:rPr>
              <a:t>Usuario / navegador</a:t>
            </a:r>
            <a:endParaRPr lang="en-US" sz="1220" dirty="0"/>
          </a:p>
        </p:txBody>
      </p:sp>
      <p:sp>
        <p:nvSpPr>
          <p:cNvPr id="13" name="Text 11"/>
          <p:cNvSpPr/>
          <p:nvPr/>
        </p:nvSpPr>
        <p:spPr>
          <a:xfrm>
            <a:off x="704088" y="2386584"/>
            <a:ext cx="1792224" cy="164592"/>
          </a:xfrm>
          <a:prstGeom prst="rect">
            <a:avLst/>
          </a:prstGeom>
          <a:noFill/>
          <a:ln/>
        </p:spPr>
        <p:txBody>
          <a:bodyPr wrap="square" lIns="0" tIns="0" rIns="0" bIns="0" rtlCol="0" anchor="ctr"/>
          <a:lstStyle/>
          <a:p>
            <a:pPr algn="ctr" indent="0" marL="0">
              <a:buNone/>
            </a:pPr>
            <a:r>
              <a:rPr lang="en-US" sz="880" dirty="0">
                <a:solidFill>
                  <a:srgbClr val="EAF3FF"/>
                </a:solidFill>
              </a:rPr>
              <a:t>Chrome · Desktop</a:t>
            </a:r>
            <a:endParaRPr lang="en-US" sz="880" dirty="0"/>
          </a:p>
        </p:txBody>
      </p:sp>
      <p:sp>
        <p:nvSpPr>
          <p:cNvPr id="14" name="Shape 12"/>
          <p:cNvSpPr/>
          <p:nvPr/>
        </p:nvSpPr>
        <p:spPr>
          <a:xfrm>
            <a:off x="3749040" y="1874520"/>
            <a:ext cx="1691640" cy="960120"/>
          </a:xfrm>
          <a:prstGeom prst="roundRect">
            <a:avLst>
              <a:gd name="adj" fmla="val 7619"/>
            </a:avLst>
          </a:prstGeom>
          <a:solidFill>
            <a:srgbClr val="1377C9"/>
          </a:solidFill>
          <a:ln w="12700">
            <a:solidFill>
              <a:srgbClr val="1377C9"/>
            </a:solidFill>
            <a:prstDash val="solid"/>
          </a:ln>
        </p:spPr>
        <p:txBody>
          <a:bodyPr/>
          <a:p/>
        </p:txBody>
      </p:sp>
      <p:sp>
        <p:nvSpPr>
          <p:cNvPr id="15" name="Text 13"/>
          <p:cNvSpPr/>
          <p:nvPr/>
        </p:nvSpPr>
        <p:spPr>
          <a:xfrm>
            <a:off x="3858768" y="2084832"/>
            <a:ext cx="1472184" cy="182880"/>
          </a:xfrm>
          <a:prstGeom prst="rect">
            <a:avLst/>
          </a:prstGeom>
          <a:noFill/>
          <a:ln/>
        </p:spPr>
        <p:txBody>
          <a:bodyPr wrap="square" lIns="0" tIns="0" rIns="0" bIns="0" rtlCol="0" anchor="ctr"/>
          <a:lstStyle/>
          <a:p>
            <a:pPr algn="ctr" indent="0" marL="0">
              <a:buNone/>
            </a:pPr>
            <a:r>
              <a:rPr lang="en-US" sz="1220" b="1" dirty="0">
                <a:solidFill>
                  <a:srgbClr val="FFFFFF"/>
                </a:solidFill>
              </a:rPr>
              <a:t>Amazon S3</a:t>
            </a:r>
            <a:endParaRPr lang="en-US" sz="1220" dirty="0"/>
          </a:p>
        </p:txBody>
      </p:sp>
      <p:sp>
        <p:nvSpPr>
          <p:cNvPr id="16" name="Text 14"/>
          <p:cNvSpPr/>
          <p:nvPr/>
        </p:nvSpPr>
        <p:spPr>
          <a:xfrm>
            <a:off x="3858768" y="2386584"/>
            <a:ext cx="1472184" cy="164592"/>
          </a:xfrm>
          <a:prstGeom prst="rect">
            <a:avLst/>
          </a:prstGeom>
          <a:noFill/>
          <a:ln/>
        </p:spPr>
        <p:txBody>
          <a:bodyPr wrap="square" lIns="0" tIns="0" rIns="0" bIns="0" rtlCol="0" anchor="ctr"/>
          <a:lstStyle/>
          <a:p>
            <a:pPr algn="ctr" indent="0" marL="0">
              <a:buNone/>
            </a:pPr>
            <a:r>
              <a:rPr lang="en-US" sz="880" dirty="0">
                <a:solidFill>
                  <a:srgbClr val="EAF3FF"/>
                </a:solidFill>
              </a:rPr>
              <a:t>Angular 21 SPA · HTTP</a:t>
            </a:r>
            <a:endParaRPr lang="en-US" sz="880" dirty="0"/>
          </a:p>
        </p:txBody>
      </p:sp>
      <p:sp>
        <p:nvSpPr>
          <p:cNvPr id="17" name="Shape 15"/>
          <p:cNvSpPr/>
          <p:nvPr/>
        </p:nvSpPr>
        <p:spPr>
          <a:xfrm>
            <a:off x="6126480" y="1874520"/>
            <a:ext cx="1691640" cy="960120"/>
          </a:xfrm>
          <a:prstGeom prst="roundRect">
            <a:avLst>
              <a:gd name="adj" fmla="val 7619"/>
            </a:avLst>
          </a:prstGeom>
          <a:solidFill>
            <a:srgbClr val="F2A900"/>
          </a:solidFill>
          <a:ln w="12700">
            <a:solidFill>
              <a:srgbClr val="F2A900"/>
            </a:solidFill>
            <a:prstDash val="solid"/>
          </a:ln>
        </p:spPr>
        <p:txBody>
          <a:bodyPr/>
          <a:p/>
        </p:txBody>
      </p:sp>
      <p:sp>
        <p:nvSpPr>
          <p:cNvPr id="18" name="Text 16"/>
          <p:cNvSpPr/>
          <p:nvPr/>
        </p:nvSpPr>
        <p:spPr>
          <a:xfrm>
            <a:off x="6236208" y="2084832"/>
            <a:ext cx="1472184" cy="182880"/>
          </a:xfrm>
          <a:prstGeom prst="rect">
            <a:avLst/>
          </a:prstGeom>
          <a:noFill/>
          <a:ln/>
        </p:spPr>
        <p:txBody>
          <a:bodyPr wrap="square" lIns="0" tIns="0" rIns="0" bIns="0" rtlCol="0" anchor="ctr"/>
          <a:lstStyle/>
          <a:p>
            <a:pPr algn="ctr" indent="0" marL="0">
              <a:buNone/>
            </a:pPr>
            <a:r>
              <a:rPr lang="en-US" sz="1220" b="1" dirty="0">
                <a:solidFill>
                  <a:srgbClr val="FFFFFF"/>
                </a:solidFill>
              </a:rPr>
              <a:t>Elastic Beanstalk</a:t>
            </a:r>
            <a:endParaRPr lang="en-US" sz="1220" dirty="0"/>
          </a:p>
        </p:txBody>
      </p:sp>
      <p:sp>
        <p:nvSpPr>
          <p:cNvPr id="19" name="Text 17"/>
          <p:cNvSpPr/>
          <p:nvPr/>
        </p:nvSpPr>
        <p:spPr>
          <a:xfrm>
            <a:off x="6236208" y="2386584"/>
            <a:ext cx="1472184" cy="164592"/>
          </a:xfrm>
          <a:prstGeom prst="rect">
            <a:avLst/>
          </a:prstGeom>
          <a:noFill/>
          <a:ln/>
        </p:spPr>
        <p:txBody>
          <a:bodyPr wrap="square" lIns="0" tIns="0" rIns="0" bIns="0" rtlCol="0" anchor="ctr"/>
          <a:lstStyle/>
          <a:p>
            <a:pPr algn="ctr" indent="0" marL="0">
              <a:buNone/>
            </a:pPr>
            <a:r>
              <a:rPr lang="en-US" sz="880" dirty="0">
                <a:solidFill>
                  <a:srgbClr val="EAF3FF"/>
                </a:solidFill>
              </a:rPr>
              <a:t>NestJS 11 · Node 22 · API REST /api</a:t>
            </a:r>
            <a:endParaRPr lang="en-US" sz="880" dirty="0"/>
          </a:p>
        </p:txBody>
      </p:sp>
      <p:sp>
        <p:nvSpPr>
          <p:cNvPr id="20" name="Shape 18"/>
          <p:cNvSpPr/>
          <p:nvPr/>
        </p:nvSpPr>
        <p:spPr>
          <a:xfrm>
            <a:off x="8366760" y="1874520"/>
            <a:ext cx="1920240" cy="960120"/>
          </a:xfrm>
          <a:prstGeom prst="roundRect">
            <a:avLst>
              <a:gd name="adj" fmla="val 7619"/>
            </a:avLst>
          </a:prstGeom>
          <a:solidFill>
            <a:srgbClr val="062B4F"/>
          </a:solidFill>
          <a:ln w="12700">
            <a:solidFill>
              <a:srgbClr val="062B4F"/>
            </a:solidFill>
            <a:prstDash val="solid"/>
          </a:ln>
        </p:spPr>
        <p:txBody>
          <a:bodyPr/>
          <a:p/>
        </p:txBody>
      </p:sp>
      <p:sp>
        <p:nvSpPr>
          <p:cNvPr id="23" name="Shape 21"/>
          <p:cNvSpPr/>
          <p:nvPr/>
        </p:nvSpPr>
        <p:spPr>
          <a:xfrm>
            <a:off x="8366760" y="3794760"/>
            <a:ext cx="1920240" cy="960120"/>
          </a:xfrm>
          <a:prstGeom prst="roundRect">
            <a:avLst>
              <a:gd name="adj" fmla="val 7619"/>
            </a:avLst>
          </a:prstGeom>
          <a:solidFill>
            <a:srgbClr val="1A7A46"/>
          </a:solidFill>
          <a:ln w="12700">
            <a:solidFill>
              <a:srgbClr val="1A7A46"/>
            </a:solidFill>
            <a:prstDash val="solid"/>
          </a:ln>
        </p:spPr>
        <p:txBody>
          <a:bodyPr/>
          <a:p/>
        </p:txBody>
      </p:sp>
      <p:sp>
        <p:nvSpPr>
          <p:cNvPr id="24" name="Text 22"/>
          <p:cNvSpPr/>
          <p:nvPr/>
        </p:nvSpPr>
        <p:spPr>
          <a:xfrm>
            <a:off x="8476488" y="4005072"/>
            <a:ext cx="1700784" cy="182880"/>
          </a:xfrm>
          <a:prstGeom prst="rect">
            <a:avLst/>
          </a:prstGeom>
          <a:noFill/>
          <a:ln/>
        </p:spPr>
        <p:txBody>
          <a:bodyPr wrap="square" lIns="0" tIns="0" rIns="0" bIns="0" rtlCol="0" anchor="ctr"/>
          <a:lstStyle/>
          <a:p>
            <a:pPr algn="ctr" indent="0" marL="0">
              <a:buNone/>
            </a:pPr>
            <a:r>
              <a:rPr lang="en-US" sz="1220" b="1" dirty="0">
                <a:solidFill>
                  <a:srgbClr val="FFFFFF"/>
                </a:solidFill>
              </a:rPr>
              <a:t>Amazon RDS</a:t>
            </a:r>
            <a:endParaRPr lang="en-US" sz="1220" dirty="0"/>
          </a:p>
        </p:txBody>
      </p:sp>
      <p:sp>
        <p:nvSpPr>
          <p:cNvPr id="25" name="Text 23"/>
          <p:cNvSpPr/>
          <p:nvPr/>
        </p:nvSpPr>
        <p:spPr>
          <a:xfrm>
            <a:off x="8476488" y="4306824"/>
            <a:ext cx="1700784" cy="164592"/>
          </a:xfrm>
          <a:prstGeom prst="rect">
            <a:avLst/>
          </a:prstGeom>
          <a:noFill/>
          <a:ln/>
        </p:spPr>
        <p:txBody>
          <a:bodyPr wrap="square" lIns="0" tIns="0" rIns="0" bIns="0" rtlCol="0" anchor="ctr"/>
          <a:lstStyle/>
          <a:p>
            <a:pPr algn="ctr" indent="0" marL="0">
              <a:buNone/>
            </a:pPr>
            <a:r>
              <a:rPr lang="en-US" sz="880" dirty="0">
                <a:solidFill>
                  <a:srgbClr val="EAF3FF"/>
                </a:solidFill>
              </a:rPr>
              <a:t>MySQL 8 · 21 tablas</a:t>
            </a:r>
            <a:endParaRPr lang="en-US" sz="880" dirty="0"/>
          </a:p>
        </p:txBody>
      </p:sp>
      <p:sp>
        <p:nvSpPr>
          <p:cNvPr id="26" name="Shape 24"/>
          <p:cNvSpPr/>
          <p:nvPr/>
        </p:nvSpPr>
        <p:spPr>
          <a:xfrm>
            <a:off x="3429000" y="4617720"/>
            <a:ext cx="2057400" cy="822960"/>
          </a:xfrm>
          <a:prstGeom prst="roundRect">
            <a:avLst>
              <a:gd name="adj" fmla="val 8889"/>
            </a:avLst>
          </a:prstGeom>
          <a:solidFill>
            <a:srgbClr val="12212F"/>
          </a:solidFill>
          <a:ln w="12700">
            <a:solidFill>
              <a:srgbClr val="12212F"/>
            </a:solidFill>
            <a:prstDash val="solid"/>
          </a:ln>
        </p:spPr>
        <p:txBody>
          <a:bodyPr/>
          <a:p/>
        </p:txBody>
      </p:sp>
      <p:sp>
        <p:nvSpPr>
          <p:cNvPr id="27" name="Text 25"/>
          <p:cNvSpPr/>
          <p:nvPr/>
        </p:nvSpPr>
        <p:spPr>
          <a:xfrm>
            <a:off x="3538728" y="4828032"/>
            <a:ext cx="1837944" cy="182880"/>
          </a:xfrm>
          <a:prstGeom prst="rect">
            <a:avLst/>
          </a:prstGeom>
          <a:noFill/>
          <a:ln/>
        </p:spPr>
        <p:txBody>
          <a:bodyPr wrap="square" lIns="0" tIns="0" rIns="0" bIns="0" rtlCol="0" anchor="ctr"/>
          <a:lstStyle/>
          <a:p>
            <a:pPr algn="ctr" indent="0" marL="0">
              <a:buNone/>
            </a:pPr>
            <a:r>
              <a:rPr lang="en-US" sz="1220" b="1" dirty="0">
                <a:solidFill>
                  <a:srgbClr val="FFFFFF"/>
                </a:solidFill>
              </a:rPr>
              <a:t>GitHub Actions</a:t>
            </a:r>
            <a:endParaRPr lang="en-US" sz="1220" dirty="0"/>
          </a:p>
        </p:txBody>
      </p:sp>
      <p:sp>
        <p:nvSpPr>
          <p:cNvPr id="28" name="Text 26"/>
          <p:cNvSpPr/>
          <p:nvPr/>
        </p:nvSpPr>
        <p:spPr>
          <a:xfrm>
            <a:off x="3538728" y="5129784"/>
            <a:ext cx="1837944" cy="164592"/>
          </a:xfrm>
          <a:prstGeom prst="rect">
            <a:avLst/>
          </a:prstGeom>
          <a:noFill/>
          <a:ln/>
        </p:spPr>
        <p:txBody>
          <a:bodyPr wrap="square" lIns="0" tIns="0" rIns="0" bIns="0" rtlCol="0" anchor="ctr"/>
          <a:lstStyle/>
          <a:p>
            <a:pPr algn="ctr" indent="0" marL="0">
              <a:buNone/>
            </a:pPr>
            <a:r>
              <a:rPr lang="en-US" sz="880" dirty="0">
                <a:solidFill>
                  <a:srgbClr val="EAF3FF"/>
                </a:solidFill>
              </a:rPr>
              <a:t>4 workflows CI/CD · Deploy → S3 + EB</a:t>
            </a:r>
            <a:endParaRPr lang="en-US" sz="880" dirty="0"/>
          </a:p>
        </p:txBody>
      </p:sp>
      <p:sp>
        <p:nvSpPr>
          <p:cNvPr id="29" name="Shape 27"/>
          <p:cNvSpPr/>
          <p:nvPr/>
        </p:nvSpPr>
        <p:spPr>
          <a:xfrm>
            <a:off x="5897880" y="4617720"/>
            <a:ext cx="2194560" cy="822960"/>
          </a:xfrm>
          <a:prstGeom prst="roundRect">
            <a:avLst>
              <a:gd name="adj" fmla="val 8889"/>
            </a:avLst>
          </a:prstGeom>
          <a:solidFill>
            <a:srgbClr val="0B3C68"/>
          </a:solidFill>
          <a:ln w="12700">
            <a:solidFill>
              <a:srgbClr val="0B3C68"/>
            </a:solidFill>
            <a:prstDash val="solid"/>
          </a:ln>
        </p:spPr>
        <p:txBody>
          <a:bodyPr/>
          <a:p/>
        </p:txBody>
      </p:sp>
      <p:sp>
        <p:nvSpPr>
          <p:cNvPr id="32" name="Shape 30"/>
          <p:cNvSpPr/>
          <p:nvPr/>
        </p:nvSpPr>
        <p:spPr>
          <a:xfrm>
            <a:off x="685800" y="5696712"/>
            <a:ext cx="3794760" cy="292608"/>
          </a:xfrm>
          <a:prstGeom prst="roundRect">
            <a:avLst>
              <a:gd name="adj" fmla="val 18750"/>
            </a:avLst>
          </a:prstGeom>
          <a:solidFill>
            <a:srgbClr val="BDF4DD"/>
          </a:solidFill>
          <a:ln w="12700">
            <a:solidFill>
              <a:srgbClr val="BDF4DD">
                <a:alpha val="0"/>
              </a:srgbClr>
            </a:solidFill>
            <a:prstDash val="solid"/>
          </a:ln>
        </p:spPr>
        <p:txBody>
          <a:bodyPr/>
          <a:p/>
        </p:txBody>
      </p:sp>
      <p:sp>
        <p:nvSpPr>
          <p:cNvPr id="33" name="Text 31"/>
          <p:cNvSpPr/>
          <p:nvPr/>
        </p:nvSpPr>
        <p:spPr>
          <a:xfrm>
            <a:off x="777240" y="5765292"/>
            <a:ext cx="3611880" cy="146304"/>
          </a:xfrm>
          <a:prstGeom prst="rect">
            <a:avLst/>
          </a:prstGeom>
          <a:noFill/>
          <a:ln/>
        </p:spPr>
        <p:txBody>
          <a:bodyPr wrap="square" lIns="0" tIns="0" rIns="0" bIns="0" rtlCol="0" anchor="ctr"/>
          <a:lstStyle/>
          <a:p>
            <a:pPr algn="ctr" indent="0" marL="0">
              <a:buNone/>
            </a:pPr>
            <a:r>
              <a:rPr lang="en-US" sz="870" b="1" dirty="0">
                <a:solidFill>
                  <a:srgbClr val="062B4F"/>
                </a:solidFill>
              </a:rPr>
              <a:t>Sin microservicios · sin WebSocket · staging académico</a:t>
            </a:r>
            <a:endParaRPr lang="en-US" sz="870" dirty="0"/>
          </a:p>
        </p:txBody>
      </p:sp>
      <p:sp>
        <p:nvSpPr>
          <p:cNvPr id="34" name="Text 32"/>
          <p:cNvSpPr/>
          <p:nvPr/>
        </p:nvSpPr>
        <p:spPr>
          <a:xfrm>
            <a:off x="4800600" y="5550408"/>
            <a:ext cx="6217920" cy="594360"/>
          </a:xfrm>
          <a:prstGeom prst="rect">
            <a:avLst/>
          </a:prstGeom>
          <a:noFill/>
          <a:ln/>
        </p:spPr>
        <p:txBody>
          <a:bodyPr wrap="square" lIns="254" tIns="254" rIns="254" bIns="254" rtlCol="0" anchor="t">
            <a:normAutofit/>
          </a:bodyPr>
          <a:lstStyle/>
          <a:p>
            <a:pPr indent="0" marL="0">
              <a:buNone/>
            </a:pPr>
            <a:r>
              <a:rPr lang="en-US" sz="1500" b="1" dirty="0">
                <a:solidFill>
                  <a:srgbClr val="062B4F"/>
                </a:solidFill>
              </a:rPr>
              <a:t>Decisión</a:t>
            </a:r>
            <a:pPr indent="0" marL="0">
              <a:buNone/>
            </a:pPr>
            <a:r>
              <a:rPr lang="en-US" sz="1500" dirty="0">
                <a:solidFill>
                  <a:srgbClr val="53657A"/>
                </a:solidFill>
              </a:rPr>
              <a:t> — monolito modular suficiente para el tamaño del equipo y alcance MVP.
</a:t>
            </a:r>
            <a:pPr indent="0" marL="0">
              <a:buNone/>
            </a:pPr>
            <a:r>
              <a:rPr lang="en-US" sz="1500" b="1" dirty="0">
                <a:solidFill>
                  <a:srgbClr val="062B4F"/>
                </a:solidFill>
              </a:rPr>
              <a:t>Limitación</a:t>
            </a:r>
            <a:pPr indent="0" marL="0">
              <a:buNone/>
            </a:pPr>
            <a:r>
              <a:rPr lang="en-US" sz="1500" dirty="0">
                <a:solidFill>
                  <a:srgbClr val="53657A"/>
                </a:solidFill>
              </a:rPr>
              <a:t> — S3 Static Website funciona por HTTP; CloudFront + HTTPS queda como mejora futura.</a:t>
            </a:r>
            <a:endParaRPr lang="en-US" sz="1500" dirty="0"/>
          </a:p>
        </p:txBody>
      </p:sp>
      <p:sp>
        <p:nvSpPr>
          <p:cNvPr id="35" name="Text 33"/>
          <p:cNvSpPr/>
          <p:nvPr/>
        </p:nvSpPr>
        <p:spPr>
          <a:xfrm>
            <a:off x="502920" y="6565392"/>
            <a:ext cx="5120640" cy="164592"/>
          </a:xfrm>
          <a:prstGeom prst="rect">
            <a:avLst/>
          </a:prstGeom>
          <a:noFill/>
          <a:ln/>
        </p:spPr>
        <p:txBody>
          <a:bodyPr wrap="square" lIns="0" tIns="0" rIns="0" bIns="0" rtlCol="0" anchor="ctr"/>
          <a:lstStyle/>
          <a:p>
            <a:pPr indent="0" marL="0">
              <a:buNone/>
            </a:pPr>
            <a:r>
              <a:rPr lang="en-US" sz="780" dirty="0">
                <a:solidFill>
                  <a:srgbClr val="7A8899"/>
                </a:solidFill>
              </a:rPr>
              <a:t>Aulafy · EFT Taller Aplicado de Software</a:t>
            </a:r>
            <a:endParaRPr lang="en-US" sz="780" dirty="0"/>
          </a:p>
        </p:txBody>
      </p:sp>
      <p:sp>
        <p:nvSpPr>
          <p:cNvPr id="36" name="Text 34"/>
          <p:cNvSpPr/>
          <p:nvPr/>
        </p:nvSpPr>
        <p:spPr>
          <a:xfrm>
            <a:off x="11201400" y="6519672"/>
            <a:ext cx="502920" cy="201168"/>
          </a:xfrm>
          <a:prstGeom prst="rect">
            <a:avLst/>
          </a:prstGeom>
          <a:noFill/>
          <a:ln/>
        </p:spPr>
        <p:txBody>
          <a:bodyPr wrap="square" lIns="0" tIns="0" rIns="0" bIns="0" rtlCol="0" anchor="ctr"/>
          <a:lstStyle/>
          <a:p>
            <a:pPr algn="r" indent="0" marL="0">
              <a:buNone/>
            </a:pPr>
            <a:r>
              <a:rPr lang="en-US" sz="850" dirty="0">
                <a:solidFill>
                  <a:srgbClr val="7A8899"/>
                </a:solidFill>
              </a:rPr>
              <a:t>04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62B4F"/>
          </a:solidFill>
          <a:ln w="12700">
            <a:solidFill>
              <a:srgbClr val="062B4F"/>
            </a:solidFill>
            <a:prstDash val="solid"/>
          </a:ln>
        </p:spPr>
        <p:txBody>
          <a:bodyPr/>
          <a:p/>
        </p:txBody>
      </p:sp>
      <p:sp>
        <p:nvSpPr>
          <p:cNvPr id="3" name="Text 1"/>
          <p:cNvSpPr/>
          <p:nvPr/>
        </p:nvSpPr>
        <p:spPr>
          <a:xfrm>
            <a:off x="502920" y="347472"/>
            <a:ext cx="7955280" cy="438912"/>
          </a:xfrm>
          <a:prstGeom prst="rect">
            <a:avLst/>
          </a:prstGeom>
          <a:noFill/>
          <a:ln/>
        </p:spPr>
        <p:txBody>
          <a:bodyPr wrap="square" lIns="0" tIns="0" rIns="0" bIns="0" rtlCol="0" anchor="ctr"/>
          <a:lstStyle/>
          <a:p>
            <a:pPr indent="0" marL="0">
              <a:buNone/>
            </a:pPr>
            <a:r>
              <a:rPr lang="en-US" sz="2700" b="1" dirty="0">
                <a:solidFill>
                  <a:srgbClr val="062B4F"/>
                </a:solidFill>
                <a:latin typeface="Aptos Display" pitchFamily="34" charset="0"/>
                <a:ea typeface="Aptos Display" pitchFamily="34" charset="-122"/>
                <a:cs typeface="Aptos Display" pitchFamily="34" charset="-120"/>
              </a:rPr>
              <a:t>Autorización contextual por curso</a:t>
            </a:r>
            <a:endParaRPr lang="en-US" sz="2700" dirty="0"/>
          </a:p>
        </p:txBody>
      </p:sp>
      <p:sp>
        <p:nvSpPr>
          <p:cNvPr id="4" name="Text 2"/>
          <p:cNvSpPr/>
          <p:nvPr/>
        </p:nvSpPr>
        <p:spPr>
          <a:xfrm>
            <a:off x="530352" y="832104"/>
            <a:ext cx="8412480" cy="320040"/>
          </a:xfrm>
          <a:prstGeom prst="rect">
            <a:avLst/>
          </a:prstGeom>
          <a:noFill/>
          <a:ln/>
        </p:spPr>
        <p:txBody>
          <a:bodyPr wrap="square" lIns="0" tIns="0" rIns="0" bIns="0" rtlCol="0" anchor="ctr"/>
          <a:lstStyle/>
          <a:p>
            <a:pPr indent="0" marL="0">
              <a:buNone/>
            </a:pPr>
            <a:r>
              <a:rPr lang="en-US" sz="1280" dirty="0">
                <a:solidFill>
                  <a:srgbClr val="53657A"/>
                </a:solidFill>
              </a:rPr>
              <a:t>La regla crítica del proyecto fue diferenciar profesor jefe y profesor de asignatura.</a:t>
            </a:r>
            <a:endParaRPr lang="en-US" sz="1280" dirty="0"/>
          </a:p>
        </p:txBody>
      </p:sp>
      <p:sp>
        <p:nvSpPr>
          <p:cNvPr id="5" name="Text 3"/>
          <p:cNvSpPr/>
          <p:nvPr/>
        </p:nvSpPr>
        <p:spPr>
          <a:xfrm>
            <a:off x="594360" y="1417320"/>
            <a:ext cx="2834640" cy="201168"/>
          </a:xfrm>
          <a:prstGeom prst="rect">
            <a:avLst/>
          </a:prstGeom>
          <a:noFill/>
          <a:ln/>
        </p:spPr>
        <p:txBody>
          <a:bodyPr wrap="square" lIns="0" tIns="0" rIns="0" bIns="0" rtlCol="0" anchor="ctr"/>
          <a:lstStyle/>
          <a:p>
            <a:pPr indent="0" marL="0">
              <a:buNone/>
            </a:pPr>
            <a:r>
              <a:rPr lang="en-US" sz="850" b="1" dirty="0">
                <a:solidFill>
                  <a:srgbClr val="1377C9"/>
                </a:solidFill>
              </a:rPr>
              <a:t>REGLA DE NEGOCIO</a:t>
            </a:r>
            <a:endParaRPr lang="en-US" sz="850" dirty="0"/>
          </a:p>
        </p:txBody>
      </p:sp>
      <p:sp>
        <p:nvSpPr>
          <p:cNvPr id="6" name="Text 4"/>
          <p:cNvSpPr/>
          <p:nvPr/>
        </p:nvSpPr>
        <p:spPr>
          <a:xfrm>
            <a:off x="640080" y="1737360"/>
            <a:ext cx="4572000" cy="2103120"/>
          </a:xfrm>
          <a:prstGeom prst="rect">
            <a:avLst/>
          </a:prstGeom>
          <a:noFill/>
          <a:ln/>
        </p:spPr>
        <p:txBody>
          <a:bodyPr wrap="square" lIns="254" tIns="254" rIns="254" bIns="254" rtlCol="0" anchor="t">
            <a:normAutofit/>
          </a:bodyPr>
          <a:lstStyle/>
          <a:p>
            <a:pPr indent="0" marL="0">
              <a:buNone/>
            </a:pPr>
            <a:r>
              <a:rPr lang="en-US" sz="1500" b="1" dirty="0">
                <a:solidFill>
                  <a:srgbClr val="062B4F"/>
                </a:solidFill>
              </a:rPr>
              <a:t>role_in_course</a:t>
            </a:r>
            <a:pPr indent="0" marL="0">
              <a:buNone/>
            </a:pPr>
            <a:r>
              <a:rPr lang="en-US" sz="1500" dirty="0">
                <a:solidFill>
                  <a:srgbClr val="53657A"/>
                </a:solidFill>
              </a:rPr>
              <a:t> — define el rol real del docente dentro de cada curso.
</a:t>
            </a:r>
            <a:pPr indent="0" marL="0">
              <a:buNone/>
            </a:pPr>
            <a:r>
              <a:rPr lang="en-US" sz="1500" b="1" dirty="0">
                <a:solidFill>
                  <a:srgbClr val="062B4F"/>
                </a:solidFill>
              </a:rPr>
              <a:t>HEAD_TEACHER</a:t>
            </a:r>
            <a:pPr indent="0" marL="0">
              <a:buNone/>
            </a:pPr>
            <a:r>
              <a:rPr lang="en-US" sz="1500" dirty="0">
                <a:solidFill>
                  <a:srgbClr val="53657A"/>
                </a:solidFill>
              </a:rPr>
              <a:t> — puede gestionar comunicaciones generales, riesgo y salas de chat.
</a:t>
            </a:r>
            <a:pPr indent="0" marL="0">
              <a:buNone/>
            </a:pPr>
            <a:r>
              <a:rPr lang="en-US" sz="1500" b="1" dirty="0">
                <a:solidFill>
                  <a:srgbClr val="062B4F"/>
                </a:solidFill>
              </a:rPr>
              <a:t>SUBJECT_TEACHER</a:t>
            </a:r>
            <a:pPr indent="0" marL="0">
              <a:buNone/>
            </a:pPr>
            <a:r>
              <a:rPr lang="en-US" sz="1500" dirty="0">
                <a:solidFill>
                  <a:srgbClr val="53657A"/>
                </a:solidFill>
              </a:rPr>
              <a:t> — mantiene acceso académico acotado y sin administración de chat.</a:t>
            </a:r>
            <a:endParaRPr lang="en-US" sz="1500" dirty="0"/>
          </a:p>
        </p:txBody>
      </p:sp>
      <p:sp>
        <p:nvSpPr>
          <p:cNvPr id="7" name="Shape 5"/>
          <p:cNvSpPr/>
          <p:nvPr/>
        </p:nvSpPr>
        <p:spPr>
          <a:xfrm>
            <a:off x="5632704" y="1197864"/>
            <a:ext cx="5696712" cy="3136392"/>
          </a:xfrm>
          <a:prstGeom prst="roundRect">
            <a:avLst>
              <a:gd name="adj" fmla="val 1166"/>
            </a:avLst>
          </a:prstGeom>
          <a:solidFill>
            <a:srgbClr val="FFFFFF"/>
          </a:solidFill>
          <a:ln w="8890">
            <a:solidFill>
              <a:srgbClr val="D8E3EE"/>
            </a:solidFill>
            <a:prstDash val="solid"/>
          </a:ln>
        </p:spPr>
        <p:txBody>
          <a:bodyPr/>
          <a:p/>
        </p:txBody>
      </p:sp>
      <p:pic>
        <p:nvPicPr>
          <p:cNvPr id="8" name="Image 0" descr="/mnt/data/13954dd9-e7d9-472f-b591-4fc0ec969545.png">    </p:cNvPr>
          <p:cNvPicPr>
            <a:picLocks noChangeAspect="1"/>
          </p:cNvPicPr>
          <p:nvPr/>
        </p:nvPicPr>
        <p:blipFill>
          <a:blip r:embed="rId1"/>
          <a:srcRect l="5718" r="5718" t="0" b="0"/>
          <a:stretch/>
        </p:blipFill>
        <p:spPr>
          <a:xfrm>
            <a:off x="5669280" y="1234440"/>
            <a:ext cx="5623560" cy="3063240"/>
          </a:xfrm>
          <a:prstGeom prst="rect">
            <a:avLst/>
          </a:prstGeom>
        </p:spPr>
      </p:pic>
      <p:sp>
        <p:nvSpPr>
          <p:cNvPr id="13" name="Text 10"/>
          <p:cNvSpPr/>
          <p:nvPr/>
        </p:nvSpPr>
        <p:spPr>
          <a:xfrm>
            <a:off x="7498080" y="4617720"/>
            <a:ext cx="3291840" cy="594360"/>
          </a:xfrm>
          <a:prstGeom prst="rect">
            <a:avLst/>
          </a:prstGeom>
          <a:noFill/>
          <a:ln/>
        </p:spPr>
        <p:txBody>
          <a:bodyPr wrap="square" lIns="254" tIns="254" rIns="254" bIns="254" rtlCol="0" anchor="t">
            <a:normAutofit/>
          </a:bodyPr>
          <a:lstStyle/>
          <a:p>
            <a:pPr indent="0" marL="0">
              <a:buNone/>
            </a:pPr>
            <a:r>
              <a:rPr lang="en-US" sz="1500" b="1" dirty="0">
                <a:solidFill>
                  <a:srgbClr val="062B4F"/>
                </a:solidFill>
              </a:rPr>
              <a:t>Autorización validada mediante pruebas unitarias, regresión y smoke test por perfil.</a:t>
            </a:r>
            <a:pPr indent="0" marL="0">
              <a:buNone/>
            </a:pPr>
            <a:r>
              <a:rPr lang="en-US" sz="1500" dirty="0">
                <a:solidFill>
                  <a:srgbClr val="53657A"/>
                </a:solidFill>
              </a:rPr>
              <a:t/>
            </a:r>
            <a:endParaRPr lang="en-US" sz="1500" dirty="0"/>
          </a:p>
        </p:txBody>
      </p:sp>
      <p:sp>
        <p:nvSpPr>
          <p:cNvPr id="14" name="Text 11"/>
          <p:cNvSpPr/>
          <p:nvPr/>
        </p:nvSpPr>
        <p:spPr>
          <a:xfrm>
            <a:off x="502920" y="6565392"/>
            <a:ext cx="5120640" cy="164592"/>
          </a:xfrm>
          <a:prstGeom prst="rect">
            <a:avLst/>
          </a:prstGeom>
          <a:noFill/>
          <a:ln/>
        </p:spPr>
        <p:txBody>
          <a:bodyPr wrap="square" lIns="0" tIns="0" rIns="0" bIns="0" rtlCol="0" anchor="ctr"/>
          <a:lstStyle/>
          <a:p>
            <a:pPr indent="0" marL="0">
              <a:buNone/>
            </a:pPr>
            <a:r>
              <a:rPr lang="en-US" sz="780" dirty="0">
                <a:solidFill>
                  <a:srgbClr val="7A8899"/>
                </a:solidFill>
              </a:rPr>
              <a:t>Aulafy · EFT Taller Aplicado de Software</a:t>
            </a:r>
            <a:endParaRPr lang="en-US" sz="780" dirty="0"/>
          </a:p>
        </p:txBody>
      </p:sp>
      <p:sp>
        <p:nvSpPr>
          <p:cNvPr id="15" name="Text 12"/>
          <p:cNvSpPr/>
          <p:nvPr/>
        </p:nvSpPr>
        <p:spPr>
          <a:xfrm>
            <a:off x="11201400" y="6519672"/>
            <a:ext cx="502920" cy="201168"/>
          </a:xfrm>
          <a:prstGeom prst="rect">
            <a:avLst/>
          </a:prstGeom>
          <a:noFill/>
          <a:ln/>
        </p:spPr>
        <p:txBody>
          <a:bodyPr wrap="square" lIns="0" tIns="0" rIns="0" bIns="0" rtlCol="0" anchor="ctr"/>
          <a:lstStyle/>
          <a:p>
            <a:pPr algn="r" indent="0" marL="0">
              <a:buNone/>
            </a:pPr>
            <a:r>
              <a:rPr lang="en-US" sz="850" dirty="0">
                <a:solidFill>
                  <a:srgbClr val="7A8899"/>
                </a:solidFill>
              </a:rPr>
              <a:t>05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62B4F"/>
          </a:solidFill>
          <a:ln w="12700">
            <a:solidFill>
              <a:srgbClr val="062B4F"/>
            </a:solidFill>
            <a:prstDash val="solid"/>
          </a:ln>
        </p:spPr>
      </p:sp>
      <p:sp>
        <p:nvSpPr>
          <p:cNvPr id="3" name="Text 1"/>
          <p:cNvSpPr/>
          <p:nvPr/>
        </p:nvSpPr>
        <p:spPr>
          <a:xfrm>
            <a:off x="502920" y="347472"/>
            <a:ext cx="7955280" cy="438912"/>
          </a:xfrm>
          <a:prstGeom prst="rect">
            <a:avLst/>
          </a:prstGeom>
          <a:noFill/>
          <a:ln/>
        </p:spPr>
        <p:txBody>
          <a:bodyPr wrap="square" lIns="0" tIns="0" rIns="0" bIns="0" rtlCol="0" anchor="ctr"/>
          <a:lstStyle/>
          <a:p>
            <a:pPr indent="0" marL="0">
              <a:buNone/>
            </a:pPr>
            <a:r>
              <a:rPr lang="en-US" sz="2700" b="1" dirty="0">
                <a:solidFill>
                  <a:srgbClr val="062B4F"/>
                </a:solidFill>
                <a:latin typeface="Aptos Display" pitchFamily="34" charset="0"/>
                <a:ea typeface="Aptos Display" pitchFamily="34" charset="-122"/>
                <a:cs typeface="Aptos Display" pitchFamily="34" charset="-120"/>
              </a:rPr>
              <a:t>Funcionalidad clave: Chat por curso</a:t>
            </a:r>
            <a:endParaRPr lang="en-US" sz="2700" dirty="0"/>
          </a:p>
        </p:txBody>
      </p:sp>
      <p:sp>
        <p:nvSpPr>
          <p:cNvPr id="4" name="Text 2"/>
          <p:cNvSpPr/>
          <p:nvPr/>
        </p:nvSpPr>
        <p:spPr>
          <a:xfrm>
            <a:off x="530352" y="832104"/>
            <a:ext cx="8412480" cy="320040"/>
          </a:xfrm>
          <a:prstGeom prst="rect">
            <a:avLst/>
          </a:prstGeom>
          <a:noFill/>
          <a:ln/>
        </p:spPr>
        <p:txBody>
          <a:bodyPr wrap="square" lIns="0" tIns="0" rIns="0" bIns="0" rtlCol="0" anchor="ctr"/>
          <a:lstStyle/>
          <a:p>
            <a:pPr indent="0" marL="0">
              <a:buNone/>
            </a:pPr>
            <a:r>
              <a:rPr lang="en-US" sz="1280" dirty="0">
                <a:solidFill>
                  <a:srgbClr val="53657A"/>
                </a:solidFill>
              </a:rPr>
              <a:t>Múltiples salas activas, eliminación lógica, validación de nombres y restricción por rol docente.</a:t>
            </a:r>
            <a:endParaRPr lang="en-US" sz="1280" dirty="0"/>
          </a:p>
        </p:txBody>
      </p:sp>
      <p:sp>
        <p:nvSpPr>
          <p:cNvPr id="5" name="Shape 3"/>
          <p:cNvSpPr/>
          <p:nvPr/>
        </p:nvSpPr>
        <p:spPr>
          <a:xfrm>
            <a:off x="649224" y="1426464"/>
            <a:ext cx="6473952" cy="3959352"/>
          </a:xfrm>
          <a:prstGeom prst="roundRect">
            <a:avLst>
              <a:gd name="adj" fmla="val 924"/>
            </a:avLst>
          </a:prstGeom>
          <a:solidFill>
            <a:srgbClr val="FFFFFF"/>
          </a:solidFill>
          <a:ln w="8890">
            <a:solidFill>
              <a:srgbClr val="D8E3EE"/>
            </a:solidFill>
            <a:prstDash val="solid"/>
          </a:ln>
        </p:spPr>
      </p:sp>
      <p:pic>
        <p:nvPicPr>
          <p:cNvPr id="6" name="Image 0" descr="/mnt/data/150b43b2-ab2b-47fa-83e6-8f9e1e579cb2.png">    </p:cNvPr>
          <p:cNvPicPr>
            <a:picLocks noChangeAspect="1"/>
          </p:cNvPicPr>
          <p:nvPr/>
        </p:nvPicPr>
        <p:blipFill>
          <a:blip r:embed="rId1"/>
          <a:srcRect l="11276" r="11276" t="0" b="0"/>
          <a:stretch/>
        </p:blipFill>
        <p:spPr>
          <a:xfrm>
            <a:off x="685800" y="1463040"/>
            <a:ext cx="6400800" cy="3886200"/>
          </a:xfrm>
          <a:prstGeom prst="rect">
            <a:avLst/>
          </a:prstGeom>
        </p:spPr>
      </p:pic>
      <p:sp>
        <p:nvSpPr>
          <p:cNvPr id="7" name="Text 4"/>
          <p:cNvSpPr/>
          <p:nvPr/>
        </p:nvSpPr>
        <p:spPr>
          <a:xfrm>
            <a:off x="7589520" y="1417320"/>
            <a:ext cx="2834640" cy="201168"/>
          </a:xfrm>
          <a:prstGeom prst="rect">
            <a:avLst/>
          </a:prstGeom>
          <a:noFill/>
          <a:ln/>
        </p:spPr>
        <p:txBody>
          <a:bodyPr wrap="square" lIns="0" tIns="0" rIns="0" bIns="0" rtlCol="0" anchor="ctr"/>
          <a:lstStyle/>
          <a:p>
            <a:pPr indent="0" marL="0">
              <a:buNone/>
            </a:pPr>
            <a:r>
              <a:rPr lang="en-US" sz="850" b="1" dirty="0">
                <a:solidFill>
                  <a:srgbClr val="1377C9"/>
                </a:solidFill>
              </a:rPr>
              <a:t>CAMBIOS FINALES</a:t>
            </a:r>
            <a:endParaRPr lang="en-US" sz="850" dirty="0"/>
          </a:p>
        </p:txBody>
      </p:sp>
      <p:sp>
        <p:nvSpPr>
          <p:cNvPr id="8" name="Text 5"/>
          <p:cNvSpPr/>
          <p:nvPr/>
        </p:nvSpPr>
        <p:spPr>
          <a:xfrm>
            <a:off x="7635240" y="1737360"/>
            <a:ext cx="3749040" cy="2331720"/>
          </a:xfrm>
          <a:prstGeom prst="rect">
            <a:avLst/>
          </a:prstGeom>
          <a:noFill/>
          <a:ln/>
        </p:spPr>
        <p:txBody>
          <a:bodyPr wrap="square" lIns="254" tIns="254" rIns="254" bIns="254" rtlCol="0" anchor="t">
            <a:normAutofit/>
          </a:bodyPr>
          <a:lstStyle/>
          <a:p>
            <a:pPr indent="0" marL="0">
              <a:buNone/>
            </a:pPr>
            <a:r>
              <a:rPr lang="en-US" sz="1500" b="1" dirty="0">
                <a:solidFill>
                  <a:srgbClr val="062B4F"/>
                </a:solidFill>
              </a:rPr>
              <a:t>Múltiples salas</a:t>
            </a:r>
            <a:pPr indent="0" marL="0">
              <a:buNone/>
            </a:pPr>
            <a:r>
              <a:rPr lang="en-US" sz="1500" dirty="0">
                <a:solidFill>
                  <a:srgbClr val="53657A"/>
                </a:solidFill>
              </a:rPr>
              <a:t> — un curso puede tener más de una conversación activa.
</a:t>
            </a:r>
            <a:pPr indent="0" marL="0">
              <a:buNone/>
            </a:pPr>
            <a:r>
              <a:rPr lang="en-US" sz="1500" b="1" dirty="0">
                <a:solidFill>
                  <a:srgbClr val="062B4F"/>
                </a:solidFill>
              </a:rPr>
              <a:t>Eliminar sala</a:t>
            </a:r>
            <a:pPr indent="0" marL="0">
              <a:buNone/>
            </a:pPr>
            <a:r>
              <a:rPr lang="en-US" sz="1500" dirty="0">
                <a:solidFill>
                  <a:srgbClr val="53657A"/>
                </a:solidFill>
              </a:rPr>
              <a:t> — operación lógica: active = false, sin borrar historial.
</a:t>
            </a:r>
            <a:pPr indent="0" marL="0">
              <a:buNone/>
            </a:pPr>
            <a:r>
              <a:rPr lang="en-US" sz="1500" b="1" dirty="0">
                <a:solidFill>
                  <a:srgbClr val="062B4F"/>
                </a:solidFill>
              </a:rPr>
              <a:t>Validación</a:t>
            </a:r>
            <a:pPr indent="0" marL="0">
              <a:buNone/>
            </a:pPr>
            <a:r>
              <a:rPr lang="en-US" sz="1500" dirty="0">
                <a:solidFill>
                  <a:srgbClr val="53657A"/>
                </a:solidFill>
              </a:rPr>
              <a:t> — MaxLength(160), nombres duplicados case-insensitive y ConflictException.
</a:t>
            </a:r>
            <a:pPr indent="0" marL="0">
              <a:buNone/>
            </a:pPr>
            <a:r>
              <a:rPr lang="en-US" sz="1500" b="1" dirty="0">
                <a:solidFill>
                  <a:srgbClr val="062B4F"/>
                </a:solidFill>
              </a:rPr>
              <a:t>Permisos</a:t>
            </a:r>
            <a:pPr indent="0" marL="0">
              <a:buNone/>
            </a:pPr>
            <a:r>
              <a:rPr lang="en-US" sz="1500" dirty="0">
                <a:solidFill>
                  <a:srgbClr val="53657A"/>
                </a:solidFill>
              </a:rPr>
              <a:t> — crear/eliminar solo para HEAD_TEACHER.</a:t>
            </a:r>
            <a:endParaRPr lang="en-US" sz="1500" dirty="0"/>
          </a:p>
        </p:txBody>
      </p:sp>
      <p:sp>
        <p:nvSpPr>
          <p:cNvPr id="9" name="Text 6"/>
          <p:cNvSpPr/>
          <p:nvPr/>
        </p:nvSpPr>
        <p:spPr>
          <a:xfrm>
            <a:off x="7635240" y="4572000"/>
            <a:ext cx="3108960" cy="548640"/>
          </a:xfrm>
          <a:prstGeom prst="rect">
            <a:avLst/>
          </a:prstGeom>
          <a:noFill/>
          <a:ln/>
        </p:spPr>
        <p:txBody>
          <a:bodyPr wrap="square" lIns="0" tIns="0" rIns="0" bIns="0" rtlCol="0" anchor="ctr"/>
          <a:lstStyle/>
          <a:p>
            <a:pPr indent="0" marL="0">
              <a:buNone/>
            </a:pPr>
            <a:r>
              <a:rPr lang="en-US" sz="3100" b="1" dirty="0">
                <a:solidFill>
                  <a:srgbClr val="062B4F"/>
                </a:solidFill>
                <a:latin typeface="Aptos Display" pitchFamily="34" charset="0"/>
                <a:ea typeface="Aptos Display" pitchFamily="34" charset="-122"/>
                <a:cs typeface="Aptos Display" pitchFamily="34" charset="-120"/>
              </a:rPr>
              <a:t>265b2cb</a:t>
            </a:r>
            <a:endParaRPr lang="en-US" sz="3100" dirty="0"/>
          </a:p>
        </p:txBody>
      </p:sp>
      <p:sp>
        <p:nvSpPr>
          <p:cNvPr id="10" name="Text 7"/>
          <p:cNvSpPr/>
          <p:nvPr/>
        </p:nvSpPr>
        <p:spPr>
          <a:xfrm>
            <a:off x="7635240" y="5175504"/>
            <a:ext cx="3108960" cy="292608"/>
          </a:xfrm>
          <a:prstGeom prst="rect">
            <a:avLst/>
          </a:prstGeom>
          <a:noFill/>
          <a:ln/>
        </p:spPr>
        <p:txBody>
          <a:bodyPr wrap="square" lIns="0" tIns="0" rIns="0" bIns="0" rtlCol="0" anchor="ctr">
            <a:normAutofit/>
          </a:bodyPr>
          <a:lstStyle/>
          <a:p>
            <a:pPr indent="0" marL="0">
              <a:buNone/>
            </a:pPr>
            <a:r>
              <a:rPr lang="en-US" sz="1060" dirty="0">
                <a:solidFill>
                  <a:srgbClr val="53657A"/>
                </a:solidFill>
              </a:rPr>
              <a:t>commit de gestión de salas por profesor jefe</a:t>
            </a:r>
            <a:endParaRPr lang="en-US" sz="1060" dirty="0"/>
          </a:p>
        </p:txBody>
      </p:sp>
      <p:sp>
        <p:nvSpPr>
          <p:cNvPr id="11" name="Text 8"/>
          <p:cNvSpPr/>
          <p:nvPr/>
        </p:nvSpPr>
        <p:spPr>
          <a:xfrm>
            <a:off x="502920" y="6565392"/>
            <a:ext cx="5120640" cy="164592"/>
          </a:xfrm>
          <a:prstGeom prst="rect">
            <a:avLst/>
          </a:prstGeom>
          <a:noFill/>
          <a:ln/>
        </p:spPr>
        <p:txBody>
          <a:bodyPr wrap="square" lIns="0" tIns="0" rIns="0" bIns="0" rtlCol="0" anchor="ctr"/>
          <a:lstStyle/>
          <a:p>
            <a:pPr indent="0" marL="0">
              <a:buNone/>
            </a:pPr>
            <a:r>
              <a:rPr lang="en-US" sz="780" dirty="0">
                <a:solidFill>
                  <a:srgbClr val="7A8899"/>
                </a:solidFill>
              </a:rPr>
              <a:t>Aulafy · EFT Taller Aplicado de Software</a:t>
            </a:r>
            <a:endParaRPr lang="en-US" sz="780" dirty="0"/>
          </a:p>
        </p:txBody>
      </p:sp>
      <p:sp>
        <p:nvSpPr>
          <p:cNvPr id="12" name="Text 9"/>
          <p:cNvSpPr/>
          <p:nvPr/>
        </p:nvSpPr>
        <p:spPr>
          <a:xfrm>
            <a:off x="11201400" y="6519672"/>
            <a:ext cx="502920" cy="201168"/>
          </a:xfrm>
          <a:prstGeom prst="rect">
            <a:avLst/>
          </a:prstGeom>
          <a:noFill/>
          <a:ln/>
        </p:spPr>
        <p:txBody>
          <a:bodyPr wrap="square" lIns="0" tIns="0" rIns="0" bIns="0" rtlCol="0" anchor="ctr"/>
          <a:lstStyle/>
          <a:p>
            <a:pPr algn="r" indent="0" marL="0">
              <a:buNone/>
            </a:pPr>
            <a:r>
              <a:rPr lang="en-US" sz="850" dirty="0">
                <a:solidFill>
                  <a:srgbClr val="7A8899"/>
                </a:solidFill>
              </a:rPr>
              <a:t>06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62B4F"/>
          </a:solidFill>
          <a:ln w="12700">
            <a:solidFill>
              <a:srgbClr val="062B4F"/>
            </a:solidFill>
            <a:prstDash val="solid"/>
          </a:ln>
        </p:spPr>
      </p:sp>
      <p:sp>
        <p:nvSpPr>
          <p:cNvPr id="3" name="Text 1"/>
          <p:cNvSpPr/>
          <p:nvPr/>
        </p:nvSpPr>
        <p:spPr>
          <a:xfrm>
            <a:off x="502920" y="347472"/>
            <a:ext cx="7955280" cy="438912"/>
          </a:xfrm>
          <a:prstGeom prst="rect">
            <a:avLst/>
          </a:prstGeom>
          <a:noFill/>
          <a:ln/>
        </p:spPr>
        <p:txBody>
          <a:bodyPr wrap="square" lIns="0" tIns="0" rIns="0" bIns="0" rtlCol="0" anchor="ctr"/>
          <a:lstStyle/>
          <a:p>
            <a:pPr indent="0" marL="0">
              <a:buNone/>
            </a:pPr>
            <a:r>
              <a:rPr lang="en-US" sz="2700" b="1" dirty="0">
                <a:solidFill>
                  <a:srgbClr val="062B4F"/>
                </a:solidFill>
                <a:latin typeface="Aptos Display" pitchFamily="34" charset="0"/>
                <a:ea typeface="Aptos Display" pitchFamily="34" charset="-122"/>
                <a:cs typeface="Aptos Display" pitchFamily="34" charset="-120"/>
              </a:rPr>
              <a:t>Calidad, pruebas y corrección de defectos</a:t>
            </a:r>
            <a:endParaRPr lang="en-US" sz="2700" dirty="0"/>
          </a:p>
        </p:txBody>
      </p:sp>
      <p:sp>
        <p:nvSpPr>
          <p:cNvPr id="4" name="Text 2"/>
          <p:cNvSpPr/>
          <p:nvPr/>
        </p:nvSpPr>
        <p:spPr>
          <a:xfrm>
            <a:off x="530352" y="832104"/>
            <a:ext cx="8412480" cy="320040"/>
          </a:xfrm>
          <a:prstGeom prst="rect">
            <a:avLst/>
          </a:prstGeom>
          <a:noFill/>
          <a:ln/>
        </p:spPr>
        <p:txBody>
          <a:bodyPr wrap="square" lIns="0" tIns="0" rIns="0" bIns="0" rtlCol="0" anchor="ctr"/>
          <a:lstStyle/>
          <a:p>
            <a:pPr indent="0" marL="0">
              <a:buNone/>
            </a:pPr>
            <a:r>
              <a:rPr lang="en-US" sz="1280" dirty="0">
                <a:solidFill>
                  <a:srgbClr val="53657A"/>
                </a:solidFill>
              </a:rPr>
              <a:t>La validación combinó pruebas automatizadas, smoke test manual y trazabilidad de defectos.</a:t>
            </a:r>
            <a:endParaRPr lang="en-US" sz="1280" dirty="0"/>
          </a:p>
        </p:txBody>
      </p:sp>
      <p:sp>
        <p:nvSpPr>
          <p:cNvPr id="5" name="Text 3"/>
          <p:cNvSpPr/>
          <p:nvPr/>
        </p:nvSpPr>
        <p:spPr>
          <a:xfrm>
            <a:off x="777240" y="1508760"/>
            <a:ext cx="2331720" cy="548640"/>
          </a:xfrm>
          <a:prstGeom prst="rect">
            <a:avLst/>
          </a:prstGeom>
          <a:noFill/>
          <a:ln/>
        </p:spPr>
        <p:txBody>
          <a:bodyPr wrap="square" lIns="0" tIns="0" rIns="0" bIns="0" rtlCol="0" anchor="ctr"/>
          <a:lstStyle/>
          <a:p>
            <a:pPr indent="0" marL="0">
              <a:buNone/>
            </a:pPr>
            <a:r>
              <a:rPr lang="en-US" sz="3100" b="1" dirty="0">
                <a:solidFill>
                  <a:srgbClr val="1377C9"/>
                </a:solidFill>
                <a:latin typeface="Aptos Display" pitchFamily="34" charset="0"/>
                <a:ea typeface="Aptos Display" pitchFamily="34" charset="-122"/>
                <a:cs typeface="Aptos Display" pitchFamily="34" charset="-120"/>
              </a:rPr>
              <a:t>99/99</a:t>
            </a:r>
            <a:endParaRPr lang="en-US" sz="3100" dirty="0"/>
          </a:p>
        </p:txBody>
      </p:sp>
      <p:sp>
        <p:nvSpPr>
          <p:cNvPr id="6" name="Text 4"/>
          <p:cNvSpPr/>
          <p:nvPr/>
        </p:nvSpPr>
        <p:spPr>
          <a:xfrm>
            <a:off x="777240" y="2112264"/>
            <a:ext cx="2331720" cy="292608"/>
          </a:xfrm>
          <a:prstGeom prst="rect">
            <a:avLst/>
          </a:prstGeom>
          <a:noFill/>
          <a:ln/>
        </p:spPr>
        <p:txBody>
          <a:bodyPr wrap="square" lIns="0" tIns="0" rIns="0" bIns="0" rtlCol="0" anchor="ctr">
            <a:normAutofit/>
          </a:bodyPr>
          <a:lstStyle/>
          <a:p>
            <a:pPr indent="0" marL="0">
              <a:buNone/>
            </a:pPr>
            <a:r>
              <a:rPr lang="en-US" sz="1060" dirty="0">
                <a:solidFill>
                  <a:srgbClr val="53657A"/>
                </a:solidFill>
              </a:rPr>
              <a:t>pruebas automatizadas aprobadas</a:t>
            </a:r>
            <a:endParaRPr lang="en-US" sz="1060" dirty="0"/>
          </a:p>
        </p:txBody>
      </p:sp>
      <p:sp>
        <p:nvSpPr>
          <p:cNvPr id="7" name="Text 5"/>
          <p:cNvSpPr/>
          <p:nvPr/>
        </p:nvSpPr>
        <p:spPr>
          <a:xfrm>
            <a:off x="3337560" y="1508760"/>
            <a:ext cx="1371600" cy="548640"/>
          </a:xfrm>
          <a:prstGeom prst="rect">
            <a:avLst/>
          </a:prstGeom>
          <a:noFill/>
          <a:ln/>
        </p:spPr>
        <p:txBody>
          <a:bodyPr wrap="square" lIns="0" tIns="0" rIns="0" bIns="0" rtlCol="0" anchor="ctr"/>
          <a:lstStyle/>
          <a:p>
            <a:pPr indent="0" marL="0">
              <a:buNone/>
            </a:pPr>
            <a:r>
              <a:rPr lang="en-US" sz="3100" b="1" dirty="0">
                <a:solidFill>
                  <a:srgbClr val="1377C9"/>
                </a:solidFill>
                <a:latin typeface="Aptos Display" pitchFamily="34" charset="0"/>
                <a:ea typeface="Aptos Display" pitchFamily="34" charset="-122"/>
                <a:cs typeface="Aptos Display" pitchFamily="34" charset="-120"/>
              </a:rPr>
              <a:t>12</a:t>
            </a:r>
            <a:endParaRPr lang="en-US" sz="3100" dirty="0"/>
          </a:p>
        </p:txBody>
      </p:sp>
      <p:sp>
        <p:nvSpPr>
          <p:cNvPr id="8" name="Text 6"/>
          <p:cNvSpPr/>
          <p:nvPr/>
        </p:nvSpPr>
        <p:spPr>
          <a:xfrm>
            <a:off x="3337560" y="2112264"/>
            <a:ext cx="1371600" cy="292608"/>
          </a:xfrm>
          <a:prstGeom prst="rect">
            <a:avLst/>
          </a:prstGeom>
          <a:noFill/>
          <a:ln/>
        </p:spPr>
        <p:txBody>
          <a:bodyPr wrap="square" lIns="0" tIns="0" rIns="0" bIns="0" rtlCol="0" anchor="ctr">
            <a:normAutofit/>
          </a:bodyPr>
          <a:lstStyle/>
          <a:p>
            <a:pPr indent="0" marL="0">
              <a:buNone/>
            </a:pPr>
            <a:r>
              <a:rPr lang="en-US" sz="1060" dirty="0">
                <a:solidFill>
                  <a:srgbClr val="53657A"/>
                </a:solidFill>
              </a:rPr>
              <a:t>suites Jest</a:t>
            </a:r>
            <a:endParaRPr lang="en-US" sz="1060" dirty="0"/>
          </a:p>
        </p:txBody>
      </p:sp>
      <p:sp>
        <p:nvSpPr>
          <p:cNvPr id="9" name="Text 7"/>
          <p:cNvSpPr/>
          <p:nvPr/>
        </p:nvSpPr>
        <p:spPr>
          <a:xfrm>
            <a:off x="5166360" y="1508760"/>
            <a:ext cx="2057400" cy="548640"/>
          </a:xfrm>
          <a:prstGeom prst="rect">
            <a:avLst/>
          </a:prstGeom>
          <a:noFill/>
          <a:ln/>
        </p:spPr>
        <p:txBody>
          <a:bodyPr wrap="square" lIns="0" tIns="0" rIns="0" bIns="0" rtlCol="0" anchor="ctr"/>
          <a:lstStyle/>
          <a:p>
            <a:pPr indent="0" marL="0">
              <a:buNone/>
            </a:pPr>
            <a:r>
              <a:rPr lang="en-US" sz="3100" b="1" dirty="0">
                <a:solidFill>
                  <a:srgbClr val="1377C9"/>
                </a:solidFill>
                <a:latin typeface="Aptos Display" pitchFamily="34" charset="0"/>
                <a:ea typeface="Aptos Display" pitchFamily="34" charset="-122"/>
                <a:cs typeface="Aptos Display" pitchFamily="34" charset="-120"/>
              </a:rPr>
              <a:t>18/18</a:t>
            </a:r>
            <a:endParaRPr lang="en-US" sz="3100" dirty="0"/>
          </a:p>
        </p:txBody>
      </p:sp>
      <p:sp>
        <p:nvSpPr>
          <p:cNvPr id="10" name="Text 8"/>
          <p:cNvSpPr/>
          <p:nvPr/>
        </p:nvSpPr>
        <p:spPr>
          <a:xfrm>
            <a:off x="5166360" y="2112264"/>
            <a:ext cx="2057400" cy="292608"/>
          </a:xfrm>
          <a:prstGeom prst="rect">
            <a:avLst/>
          </a:prstGeom>
          <a:noFill/>
          <a:ln/>
        </p:spPr>
        <p:txBody>
          <a:bodyPr wrap="square" lIns="0" tIns="0" rIns="0" bIns="0" rtlCol="0" anchor="ctr">
            <a:normAutofit/>
          </a:bodyPr>
          <a:lstStyle/>
          <a:p>
            <a:pPr indent="0" marL="0">
              <a:buNone/>
            </a:pPr>
            <a:r>
              <a:rPr lang="en-US" sz="1060" dirty="0">
                <a:solidFill>
                  <a:srgbClr val="53657A"/>
                </a:solidFill>
              </a:rPr>
              <a:t>escenarios S8-ST aprobados</a:t>
            </a:r>
            <a:endParaRPr lang="en-US" sz="1060" dirty="0"/>
          </a:p>
        </p:txBody>
      </p:sp>
      <p:sp>
        <p:nvSpPr>
          <p:cNvPr id="11" name="Text 9"/>
          <p:cNvSpPr/>
          <p:nvPr/>
        </p:nvSpPr>
        <p:spPr>
          <a:xfrm>
            <a:off x="7635240" y="1508760"/>
            <a:ext cx="2194560" cy="548640"/>
          </a:xfrm>
          <a:prstGeom prst="rect">
            <a:avLst/>
          </a:prstGeom>
          <a:noFill/>
          <a:ln/>
        </p:spPr>
        <p:txBody>
          <a:bodyPr wrap="square" lIns="0" tIns="0" rIns="0" bIns="0" rtlCol="0" anchor="ctr"/>
          <a:lstStyle/>
          <a:p>
            <a:pPr indent="0" marL="0">
              <a:buNone/>
            </a:pPr>
            <a:r>
              <a:rPr lang="en-US" sz="3100" b="1" dirty="0">
                <a:solidFill>
                  <a:srgbClr val="1377C9"/>
                </a:solidFill>
                <a:latin typeface="Aptos Display" pitchFamily="34" charset="0"/>
                <a:ea typeface="Aptos Display" pitchFamily="34" charset="-122"/>
                <a:cs typeface="Aptos Display" pitchFamily="34" charset="-120"/>
              </a:rPr>
              <a:t>10</a:t>
            </a:r>
            <a:endParaRPr lang="en-US" sz="3100" dirty="0"/>
          </a:p>
        </p:txBody>
      </p:sp>
      <p:sp>
        <p:nvSpPr>
          <p:cNvPr id="12" name="Text 10"/>
          <p:cNvSpPr/>
          <p:nvPr/>
        </p:nvSpPr>
        <p:spPr>
          <a:xfrm>
            <a:off x="7635240" y="2112264"/>
            <a:ext cx="2194560" cy="292608"/>
          </a:xfrm>
          <a:prstGeom prst="rect">
            <a:avLst/>
          </a:prstGeom>
          <a:noFill/>
          <a:ln/>
        </p:spPr>
        <p:txBody>
          <a:bodyPr wrap="square" lIns="0" tIns="0" rIns="0" bIns="0" rtlCol="0" anchor="ctr">
            <a:normAutofit/>
          </a:bodyPr>
          <a:lstStyle/>
          <a:p>
            <a:pPr indent="0" marL="0">
              <a:buNone/>
            </a:pPr>
            <a:r>
              <a:rPr lang="en-US" sz="1060" dirty="0">
                <a:solidFill>
                  <a:srgbClr val="53657A"/>
                </a:solidFill>
              </a:rPr>
              <a:t>defectos documentados y corregidos</a:t>
            </a:r>
            <a:endParaRPr lang="en-US" sz="1060" dirty="0"/>
          </a:p>
        </p:txBody>
      </p:sp>
      <p:graphicFrame>
        <p:nvGraphicFramePr>
          <p:cNvPr id="13" name="Chart 0" descr=""/>
          <p:cNvGraphicFramePr/>
          <p:nvPr/>
        </p:nvGraphicFramePr>
        <p:xfrm>
          <a:off x="777240" y="2788920"/>
          <a:ext cx="5166360" cy="233172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p:nvPr/>
        </p:nvSpPr>
        <p:spPr>
          <a:xfrm>
            <a:off x="6629400" y="2834640"/>
            <a:ext cx="2834640" cy="201168"/>
          </a:xfrm>
          <a:prstGeom prst="rect">
            <a:avLst/>
          </a:prstGeom>
          <a:noFill/>
          <a:ln/>
        </p:spPr>
        <p:txBody>
          <a:bodyPr wrap="square" lIns="0" tIns="0" rIns="0" bIns="0" rtlCol="0" anchor="ctr"/>
          <a:lstStyle/>
          <a:p>
            <a:pPr indent="0" marL="0">
              <a:buNone/>
            </a:pPr>
            <a:r>
              <a:rPr lang="en-US" sz="850" b="1" dirty="0">
                <a:solidFill>
                  <a:srgbClr val="1377C9"/>
                </a:solidFill>
              </a:rPr>
              <a:t>DEFECTOS CLAVE</a:t>
            </a:r>
            <a:endParaRPr lang="en-US" sz="850" dirty="0"/>
          </a:p>
        </p:txBody>
      </p:sp>
      <p:sp>
        <p:nvSpPr>
          <p:cNvPr id="15" name="Text 12"/>
          <p:cNvSpPr/>
          <p:nvPr/>
        </p:nvSpPr>
        <p:spPr>
          <a:xfrm>
            <a:off x="6675120" y="3154680"/>
            <a:ext cx="4389120" cy="2011680"/>
          </a:xfrm>
          <a:prstGeom prst="rect">
            <a:avLst/>
          </a:prstGeom>
          <a:noFill/>
          <a:ln/>
        </p:spPr>
        <p:txBody>
          <a:bodyPr wrap="square" lIns="254" tIns="254" rIns="254" bIns="254" rtlCol="0" anchor="t">
            <a:normAutofit/>
          </a:bodyPr>
          <a:lstStyle/>
          <a:p>
            <a:pPr indent="0" marL="0">
              <a:buNone/>
            </a:pPr>
            <a:r>
              <a:rPr lang="en-US" sz="1500" b="1" dirty="0">
                <a:solidFill>
                  <a:srgbClr val="062B4F"/>
                </a:solidFill>
              </a:rPr>
              <a:t>Permisos</a:t>
            </a:r>
            <a:pPr indent="0" marL="0">
              <a:buNone/>
            </a:pPr>
            <a:r>
              <a:rPr lang="en-US" sz="1500" dirty="0">
                <a:solidFill>
                  <a:srgbClr val="53657A"/>
                </a:solidFill>
              </a:rPr>
              <a:t> — SUBJECT_TEACHER sin acceso indebido a chat.
</a:t>
            </a:r>
            <a:pPr indent="0" marL="0">
              <a:buNone/>
            </a:pPr>
            <a:r>
              <a:rPr lang="en-US" sz="1500" b="1" dirty="0">
                <a:solidFill>
                  <a:srgbClr val="062B4F"/>
                </a:solidFill>
              </a:rPr>
              <a:t>Logout</a:t>
            </a:r>
            <a:pPr indent="0" marL="0">
              <a:buNone/>
            </a:pPr>
            <a:r>
              <a:rPr lang="en-US" sz="1500" dirty="0">
                <a:solidFill>
                  <a:srgbClr val="53657A"/>
                </a:solidFill>
              </a:rPr>
              <a:t> — apoderado y estudiante vuelven a /login.
</a:t>
            </a:r>
            <a:pPr indent="0" marL="0">
              <a:buNone/>
            </a:pPr>
            <a:r>
              <a:rPr lang="en-US" sz="1500" b="1" dirty="0">
                <a:solidFill>
                  <a:srgbClr val="062B4F"/>
                </a:solidFill>
              </a:rPr>
              <a:t>Chat</a:t>
            </a:r>
            <a:pPr indent="0" marL="0">
              <a:buNone/>
            </a:pPr>
            <a:r>
              <a:rPr lang="en-US" sz="1500" dirty="0">
                <a:solidFill>
                  <a:srgbClr val="53657A"/>
                </a:solidFill>
              </a:rPr>
              <a:t> — recarga directa, múltiples salas y eliminación lógica.
</a:t>
            </a:r>
            <a:pPr indent="0" marL="0">
              <a:buNone/>
            </a:pPr>
            <a:r>
              <a:rPr lang="en-US" sz="1500" b="1" dirty="0">
                <a:solidFill>
                  <a:srgbClr val="062B4F"/>
                </a:solidFill>
              </a:rPr>
              <a:t>Validación</a:t>
            </a:r>
            <a:pPr indent="0" marL="0">
              <a:buNone/>
            </a:pPr>
            <a:r>
              <a:rPr lang="en-US" sz="1500" dirty="0">
                <a:solidFill>
                  <a:srgbClr val="53657A"/>
                </a:solidFill>
              </a:rPr>
              <a:t> — largo máximo y duplicados normalizados.</a:t>
            </a:r>
            <a:endParaRPr lang="en-US" sz="1500" dirty="0"/>
          </a:p>
        </p:txBody>
      </p:sp>
      <p:sp>
        <p:nvSpPr>
          <p:cNvPr id="16" name="Text 13"/>
          <p:cNvSpPr/>
          <p:nvPr/>
        </p:nvSpPr>
        <p:spPr>
          <a:xfrm>
            <a:off x="502920" y="6565392"/>
            <a:ext cx="5120640" cy="164592"/>
          </a:xfrm>
          <a:prstGeom prst="rect">
            <a:avLst/>
          </a:prstGeom>
          <a:noFill/>
          <a:ln/>
        </p:spPr>
        <p:txBody>
          <a:bodyPr wrap="square" lIns="0" tIns="0" rIns="0" bIns="0" rtlCol="0" anchor="ctr"/>
          <a:lstStyle/>
          <a:p>
            <a:pPr indent="0" marL="0">
              <a:buNone/>
            </a:pPr>
            <a:r>
              <a:rPr lang="en-US" sz="780" dirty="0">
                <a:solidFill>
                  <a:srgbClr val="7A8899"/>
                </a:solidFill>
              </a:rPr>
              <a:t>Aulafy · EFT Taller Aplicado de Software</a:t>
            </a:r>
            <a:endParaRPr lang="en-US" sz="780" dirty="0"/>
          </a:p>
        </p:txBody>
      </p:sp>
      <p:sp>
        <p:nvSpPr>
          <p:cNvPr id="17" name="Text 14"/>
          <p:cNvSpPr/>
          <p:nvPr/>
        </p:nvSpPr>
        <p:spPr>
          <a:xfrm>
            <a:off x="11201400" y="6519672"/>
            <a:ext cx="502920" cy="201168"/>
          </a:xfrm>
          <a:prstGeom prst="rect">
            <a:avLst/>
          </a:prstGeom>
          <a:noFill/>
          <a:ln/>
        </p:spPr>
        <p:txBody>
          <a:bodyPr wrap="square" lIns="0" tIns="0" rIns="0" bIns="0" rtlCol="0" anchor="ctr"/>
          <a:lstStyle/>
          <a:p>
            <a:pPr algn="r" indent="0" marL="0">
              <a:buNone/>
            </a:pPr>
            <a:r>
              <a:rPr lang="en-US" sz="850" dirty="0">
                <a:solidFill>
                  <a:srgbClr val="7A8899"/>
                </a:solidFill>
              </a:rPr>
              <a:t>07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62B4F"/>
          </a:solidFill>
          <a:ln w="12700">
            <a:solidFill>
              <a:srgbClr val="062B4F"/>
            </a:solidFill>
            <a:prstDash val="solid"/>
          </a:ln>
        </p:spPr>
      </p:sp>
      <p:sp>
        <p:nvSpPr>
          <p:cNvPr id="3" name="Text 1"/>
          <p:cNvSpPr/>
          <p:nvPr/>
        </p:nvSpPr>
        <p:spPr>
          <a:xfrm>
            <a:off x="502920" y="347472"/>
            <a:ext cx="7955280" cy="438912"/>
          </a:xfrm>
          <a:prstGeom prst="rect">
            <a:avLst/>
          </a:prstGeom>
          <a:noFill/>
          <a:ln/>
        </p:spPr>
        <p:txBody>
          <a:bodyPr wrap="square" lIns="0" tIns="0" rIns="0" bIns="0" rtlCol="0" anchor="ctr"/>
          <a:lstStyle/>
          <a:p>
            <a:pPr indent="0" marL="0">
              <a:buNone/>
            </a:pPr>
            <a:r>
              <a:rPr lang="en-US" sz="2700" b="1" dirty="0">
                <a:solidFill>
                  <a:srgbClr val="062B4F"/>
                </a:solidFill>
                <a:latin typeface="Aptos Display" pitchFamily="34" charset="0"/>
                <a:ea typeface="Aptos Display" pitchFamily="34" charset="-122"/>
                <a:cs typeface="Aptos Display" pitchFamily="34" charset="-120"/>
              </a:rPr>
              <a:t>Rendimiento y operación en staging</a:t>
            </a:r>
            <a:endParaRPr lang="en-US" sz="2700" dirty="0"/>
          </a:p>
        </p:txBody>
      </p:sp>
      <p:sp>
        <p:nvSpPr>
          <p:cNvPr id="4" name="Text 2"/>
          <p:cNvSpPr/>
          <p:nvPr/>
        </p:nvSpPr>
        <p:spPr>
          <a:xfrm>
            <a:off x="530352" y="832104"/>
            <a:ext cx="8412480" cy="320040"/>
          </a:xfrm>
          <a:prstGeom prst="rect">
            <a:avLst/>
          </a:prstGeom>
          <a:noFill/>
          <a:ln/>
        </p:spPr>
        <p:txBody>
          <a:bodyPr wrap="square" lIns="0" tIns="0" rIns="0" bIns="0" rtlCol="0" anchor="ctr"/>
          <a:lstStyle/>
          <a:p>
            <a:pPr indent="0" marL="0">
              <a:buNone/>
            </a:pPr>
            <a:r>
              <a:rPr lang="en-US" sz="1280" dirty="0">
                <a:solidFill>
                  <a:srgbClr val="53657A"/>
                </a:solidFill>
              </a:rPr>
              <a:t>El sistema fue medido en AWS considerando tiempos de respuesta, recursos y eficiencia general.</a:t>
            </a:r>
            <a:endParaRPr lang="en-US" sz="1280" dirty="0"/>
          </a:p>
        </p:txBody>
      </p:sp>
      <p:sp>
        <p:nvSpPr>
          <p:cNvPr id="5" name="Shape 3"/>
          <p:cNvSpPr/>
          <p:nvPr/>
        </p:nvSpPr>
        <p:spPr>
          <a:xfrm>
            <a:off x="649224" y="1426464"/>
            <a:ext cx="5788152" cy="3959352"/>
          </a:xfrm>
          <a:prstGeom prst="roundRect">
            <a:avLst>
              <a:gd name="adj" fmla="val 924"/>
            </a:avLst>
          </a:prstGeom>
          <a:solidFill>
            <a:srgbClr val="FFFFFF"/>
          </a:solidFill>
          <a:ln w="8890">
            <a:solidFill>
              <a:srgbClr val="D8E3EE"/>
            </a:solidFill>
            <a:prstDash val="solid"/>
          </a:ln>
        </p:spPr>
      </p:sp>
      <p:pic>
        <p:nvPicPr>
          <p:cNvPr id="6" name="Image 0" descr="/mnt/data/d6615c53-ebcf-42b2-a8f7-6555170b34e0.png">    </p:cNvPr>
          <p:cNvPicPr>
            <a:picLocks noChangeAspect="1"/>
          </p:cNvPicPr>
          <p:nvPr/>
        </p:nvPicPr>
        <p:blipFill>
          <a:blip r:embed="rId1"/>
          <a:srcRect l="8835" r="8835" t="0" b="0"/>
          <a:stretch/>
        </p:blipFill>
        <p:spPr>
          <a:xfrm>
            <a:off x="685800" y="1463040"/>
            <a:ext cx="5715000" cy="3886200"/>
          </a:xfrm>
          <a:prstGeom prst="rect">
            <a:avLst/>
          </a:prstGeom>
        </p:spPr>
      </p:pic>
      <p:sp>
        <p:nvSpPr>
          <p:cNvPr id="7" name="Text 4"/>
          <p:cNvSpPr/>
          <p:nvPr/>
        </p:nvSpPr>
        <p:spPr>
          <a:xfrm>
            <a:off x="6995160" y="1371600"/>
            <a:ext cx="2834640" cy="201168"/>
          </a:xfrm>
          <a:prstGeom prst="rect">
            <a:avLst/>
          </a:prstGeom>
          <a:noFill/>
          <a:ln/>
        </p:spPr>
        <p:txBody>
          <a:bodyPr wrap="square" lIns="0" tIns="0" rIns="0" bIns="0" rtlCol="0" anchor="ctr"/>
          <a:lstStyle/>
          <a:p>
            <a:pPr indent="0" marL="0">
              <a:buNone/>
            </a:pPr>
            <a:r>
              <a:rPr lang="en-US" sz="850" b="1" dirty="0">
                <a:solidFill>
                  <a:srgbClr val="1377C9"/>
                </a:solidFill>
              </a:rPr>
              <a:t>MÉTRICAS DE ENTREGA</a:t>
            </a:r>
            <a:endParaRPr lang="en-US" sz="850" dirty="0"/>
          </a:p>
        </p:txBody>
      </p:sp>
      <p:sp>
        <p:nvSpPr>
          <p:cNvPr id="8" name="Text 5"/>
          <p:cNvSpPr/>
          <p:nvPr/>
        </p:nvSpPr>
        <p:spPr>
          <a:xfrm>
            <a:off x="6995160" y="1737360"/>
            <a:ext cx="2057400" cy="548640"/>
          </a:xfrm>
          <a:prstGeom prst="rect">
            <a:avLst/>
          </a:prstGeom>
          <a:noFill/>
          <a:ln/>
        </p:spPr>
        <p:txBody>
          <a:bodyPr wrap="square" lIns="0" tIns="0" rIns="0" bIns="0" rtlCol="0" anchor="ctr"/>
          <a:lstStyle/>
          <a:p>
            <a:pPr indent="0" marL="0">
              <a:buNone/>
            </a:pPr>
            <a:r>
              <a:rPr lang="en-US" sz="3100" b="1" dirty="0">
                <a:solidFill>
                  <a:srgbClr val="062B4F"/>
                </a:solidFill>
                <a:latin typeface="Aptos Display" pitchFamily="34" charset="0"/>
                <a:ea typeface="Aptos Display" pitchFamily="34" charset="-122"/>
                <a:cs typeface="Aptos Display" pitchFamily="34" charset="-120"/>
              </a:rPr>
              <a:t>190,97 ms</a:t>
            </a:r>
            <a:endParaRPr lang="en-US" sz="3100" dirty="0"/>
          </a:p>
        </p:txBody>
      </p:sp>
      <p:sp>
        <p:nvSpPr>
          <p:cNvPr id="9" name="Text 6"/>
          <p:cNvSpPr/>
          <p:nvPr/>
        </p:nvSpPr>
        <p:spPr>
          <a:xfrm>
            <a:off x="6995160" y="2340864"/>
            <a:ext cx="2057400" cy="292608"/>
          </a:xfrm>
          <a:prstGeom prst="rect">
            <a:avLst/>
          </a:prstGeom>
          <a:noFill/>
          <a:ln/>
        </p:spPr>
        <p:txBody>
          <a:bodyPr wrap="square" lIns="0" tIns="0" rIns="0" bIns="0" rtlCol="0" anchor="ctr">
            <a:normAutofit/>
          </a:bodyPr>
          <a:lstStyle/>
          <a:p>
            <a:pPr indent="0" marL="0">
              <a:buNone/>
            </a:pPr>
            <a:r>
              <a:rPr lang="en-US" sz="1060" dirty="0">
                <a:solidFill>
                  <a:srgbClr val="53657A"/>
                </a:solidFill>
              </a:rPr>
              <a:t>promedio health check</a:t>
            </a:r>
            <a:endParaRPr lang="en-US" sz="1060" dirty="0"/>
          </a:p>
        </p:txBody>
      </p:sp>
      <p:sp>
        <p:nvSpPr>
          <p:cNvPr id="10" name="Text 7"/>
          <p:cNvSpPr/>
          <p:nvPr/>
        </p:nvSpPr>
        <p:spPr>
          <a:xfrm>
            <a:off x="9372600" y="1737360"/>
            <a:ext cx="1874520" cy="548640"/>
          </a:xfrm>
          <a:prstGeom prst="rect">
            <a:avLst/>
          </a:prstGeom>
          <a:noFill/>
          <a:ln/>
        </p:spPr>
        <p:txBody>
          <a:bodyPr wrap="square" lIns="0" tIns="0" rIns="0" bIns="0" rtlCol="0" anchor="ctr"/>
          <a:lstStyle/>
          <a:p>
            <a:pPr indent="0" marL="0">
              <a:buNone/>
            </a:pPr>
            <a:r>
              <a:rPr lang="en-US" sz="3100" b="1" dirty="0">
                <a:solidFill>
                  <a:srgbClr val="062B4F"/>
                </a:solidFill>
                <a:latin typeface="Aptos Display" pitchFamily="34" charset="0"/>
                <a:ea typeface="Aptos Display" pitchFamily="34" charset="-122"/>
                <a:cs typeface="Aptos Display" pitchFamily="34" charset="-120"/>
              </a:rPr>
              <a:t>75/100</a:t>
            </a:r>
            <a:endParaRPr lang="en-US" sz="3100" dirty="0"/>
          </a:p>
        </p:txBody>
      </p:sp>
      <p:sp>
        <p:nvSpPr>
          <p:cNvPr id="11" name="Text 8"/>
          <p:cNvSpPr/>
          <p:nvPr/>
        </p:nvSpPr>
        <p:spPr>
          <a:xfrm>
            <a:off x="9372600" y="2340864"/>
            <a:ext cx="1874520" cy="292608"/>
          </a:xfrm>
          <a:prstGeom prst="rect">
            <a:avLst/>
          </a:prstGeom>
          <a:noFill/>
          <a:ln/>
        </p:spPr>
        <p:txBody>
          <a:bodyPr wrap="square" lIns="0" tIns="0" rIns="0" bIns="0" rtlCol="0" anchor="ctr">
            <a:normAutofit/>
          </a:bodyPr>
          <a:lstStyle/>
          <a:p>
            <a:pPr indent="0" marL="0">
              <a:buNone/>
            </a:pPr>
            <a:r>
              <a:rPr lang="en-US" sz="1060" dirty="0">
                <a:solidFill>
                  <a:srgbClr val="53657A"/>
                </a:solidFill>
              </a:rPr>
              <a:t>Lighthouse reportado</a:t>
            </a:r>
            <a:endParaRPr lang="en-US" sz="1060" dirty="0"/>
          </a:p>
        </p:txBody>
      </p:sp>
      <p:sp>
        <p:nvSpPr>
          <p:cNvPr id="12" name="Text 9"/>
          <p:cNvSpPr/>
          <p:nvPr/>
        </p:nvSpPr>
        <p:spPr>
          <a:xfrm>
            <a:off x="6995160" y="3200400"/>
            <a:ext cx="1874520" cy="548640"/>
          </a:xfrm>
          <a:prstGeom prst="rect">
            <a:avLst/>
          </a:prstGeom>
          <a:noFill/>
          <a:ln/>
        </p:spPr>
        <p:txBody>
          <a:bodyPr wrap="square" lIns="0" tIns="0" rIns="0" bIns="0" rtlCol="0" anchor="ctr"/>
          <a:lstStyle/>
          <a:p>
            <a:pPr indent="0" marL="0">
              <a:buNone/>
            </a:pPr>
            <a:r>
              <a:rPr lang="en-US" sz="3100" b="1" dirty="0">
                <a:solidFill>
                  <a:srgbClr val="062B4F"/>
                </a:solidFill>
                <a:latin typeface="Aptos Display" pitchFamily="34" charset="0"/>
                <a:ea typeface="Aptos Display" pitchFamily="34" charset="-122"/>
                <a:cs typeface="Aptos Display" pitchFamily="34" charset="-120"/>
              </a:rPr>
              <a:t>0,31%</a:t>
            </a:r>
            <a:endParaRPr lang="en-US" sz="3100" dirty="0"/>
          </a:p>
        </p:txBody>
      </p:sp>
      <p:sp>
        <p:nvSpPr>
          <p:cNvPr id="13" name="Text 10"/>
          <p:cNvSpPr/>
          <p:nvPr/>
        </p:nvSpPr>
        <p:spPr>
          <a:xfrm>
            <a:off x="6995160" y="3803904"/>
            <a:ext cx="1874520" cy="292608"/>
          </a:xfrm>
          <a:prstGeom prst="rect">
            <a:avLst/>
          </a:prstGeom>
          <a:noFill/>
          <a:ln/>
        </p:spPr>
        <p:txBody>
          <a:bodyPr wrap="square" lIns="0" tIns="0" rIns="0" bIns="0" rtlCol="0" anchor="ctr">
            <a:normAutofit/>
          </a:bodyPr>
          <a:lstStyle/>
          <a:p>
            <a:pPr indent="0" marL="0">
              <a:buNone/>
            </a:pPr>
            <a:r>
              <a:rPr lang="en-US" sz="1060" dirty="0">
                <a:solidFill>
                  <a:srgbClr val="53657A"/>
                </a:solidFill>
              </a:rPr>
              <a:t>CPU EB observado</a:t>
            </a:r>
            <a:endParaRPr lang="en-US" sz="1060" dirty="0"/>
          </a:p>
        </p:txBody>
      </p:sp>
      <p:sp>
        <p:nvSpPr>
          <p:cNvPr id="14" name="Text 11"/>
          <p:cNvSpPr/>
          <p:nvPr/>
        </p:nvSpPr>
        <p:spPr>
          <a:xfrm>
            <a:off x="9372600" y="3200400"/>
            <a:ext cx="1874520" cy="548640"/>
          </a:xfrm>
          <a:prstGeom prst="rect">
            <a:avLst/>
          </a:prstGeom>
          <a:noFill/>
          <a:ln/>
        </p:spPr>
        <p:txBody>
          <a:bodyPr wrap="square" lIns="0" tIns="0" rIns="0" bIns="0" rtlCol="0" anchor="ctr"/>
          <a:lstStyle/>
          <a:p>
            <a:pPr indent="0" marL="0">
              <a:buNone/>
            </a:pPr>
            <a:r>
              <a:rPr lang="en-US" sz="3100" b="1" dirty="0">
                <a:solidFill>
                  <a:srgbClr val="062B4F"/>
                </a:solidFill>
                <a:latin typeface="Aptos Display" pitchFamily="34" charset="0"/>
                <a:ea typeface="Aptos Display" pitchFamily="34" charset="-122"/>
                <a:cs typeface="Aptos Display" pitchFamily="34" charset="-120"/>
              </a:rPr>
              <a:t>4</a:t>
            </a:r>
            <a:endParaRPr lang="en-US" sz="3100" dirty="0"/>
          </a:p>
        </p:txBody>
      </p:sp>
      <p:sp>
        <p:nvSpPr>
          <p:cNvPr id="15" name="Text 12"/>
          <p:cNvSpPr/>
          <p:nvPr/>
        </p:nvSpPr>
        <p:spPr>
          <a:xfrm>
            <a:off x="9372600" y="3803904"/>
            <a:ext cx="1874520" cy="292608"/>
          </a:xfrm>
          <a:prstGeom prst="rect">
            <a:avLst/>
          </a:prstGeom>
          <a:noFill/>
          <a:ln/>
        </p:spPr>
        <p:txBody>
          <a:bodyPr wrap="square" lIns="0" tIns="0" rIns="0" bIns="0" rtlCol="0" anchor="ctr">
            <a:normAutofit/>
          </a:bodyPr>
          <a:lstStyle/>
          <a:p>
            <a:pPr indent="0" marL="0">
              <a:buNone/>
            </a:pPr>
            <a:r>
              <a:rPr lang="en-US" sz="1060" dirty="0">
                <a:solidFill>
                  <a:srgbClr val="53657A"/>
                </a:solidFill>
              </a:rPr>
              <a:t>conexiones RDS</a:t>
            </a:r>
            <a:endParaRPr lang="en-US" sz="1060" dirty="0"/>
          </a:p>
        </p:txBody>
      </p:sp>
      <p:sp>
        <p:nvSpPr>
          <p:cNvPr id="16" name="Text 13"/>
          <p:cNvSpPr/>
          <p:nvPr/>
        </p:nvSpPr>
        <p:spPr>
          <a:xfrm>
            <a:off x="6995160" y="4663440"/>
            <a:ext cx="4389120" cy="731520"/>
          </a:xfrm>
          <a:prstGeom prst="rect">
            <a:avLst/>
          </a:prstGeom>
          <a:noFill/>
          <a:ln/>
        </p:spPr>
        <p:txBody>
          <a:bodyPr wrap="square" lIns="254" tIns="254" rIns="254" bIns="254" rtlCol="0" anchor="t">
            <a:normAutofit/>
          </a:bodyPr>
          <a:lstStyle/>
          <a:p>
            <a:pPr indent="0" marL="0">
              <a:buNone/>
            </a:pPr>
            <a:r>
              <a:rPr lang="en-US" sz="1500" b="1" dirty="0">
                <a:solidFill>
                  <a:srgbClr val="062B4F"/>
                </a:solidFill>
              </a:rPr>
              <a:t>Lectura</a:t>
            </a:r>
            <a:pPr indent="0" marL="0">
              <a:buNone/>
            </a:pPr>
            <a:r>
              <a:rPr lang="en-US" sz="1500" dirty="0">
                <a:solidFill>
                  <a:srgbClr val="53657A"/>
                </a:solidFill>
              </a:rPr>
              <a:t> — las peticiones críticas respondieron con HTTP 200 en el smoke test.
</a:t>
            </a:r>
            <a:pPr indent="0" marL="0">
              <a:buNone/>
            </a:pPr>
            <a:r>
              <a:rPr lang="en-US" sz="1500" b="1" dirty="0">
                <a:solidFill>
                  <a:srgbClr val="062B4F"/>
                </a:solidFill>
              </a:rPr>
              <a:t>Límite</a:t>
            </a:r>
            <a:pPr indent="0" marL="0">
              <a:buNone/>
            </a:pPr>
            <a:r>
              <a:rPr lang="en-US" sz="1500" dirty="0">
                <a:solidFill>
                  <a:srgbClr val="53657A"/>
                </a:solidFill>
              </a:rPr>
              <a:t> — entorno académico S3 + EB + RDS; HTTPS queda como mejora futura.</a:t>
            </a:r>
            <a:endParaRPr lang="en-US" sz="1500" dirty="0"/>
          </a:p>
        </p:txBody>
      </p:sp>
      <p:sp>
        <p:nvSpPr>
          <p:cNvPr id="17" name="Text 14"/>
          <p:cNvSpPr/>
          <p:nvPr/>
        </p:nvSpPr>
        <p:spPr>
          <a:xfrm>
            <a:off x="502920" y="6565392"/>
            <a:ext cx="5120640" cy="164592"/>
          </a:xfrm>
          <a:prstGeom prst="rect">
            <a:avLst/>
          </a:prstGeom>
          <a:noFill/>
          <a:ln/>
        </p:spPr>
        <p:txBody>
          <a:bodyPr wrap="square" lIns="0" tIns="0" rIns="0" bIns="0" rtlCol="0" anchor="ctr"/>
          <a:lstStyle/>
          <a:p>
            <a:pPr indent="0" marL="0">
              <a:buNone/>
            </a:pPr>
            <a:r>
              <a:rPr lang="en-US" sz="780" dirty="0">
                <a:solidFill>
                  <a:srgbClr val="7A8899"/>
                </a:solidFill>
              </a:rPr>
              <a:t>Aulafy · EFT Taller Aplicado de Software</a:t>
            </a:r>
            <a:endParaRPr lang="en-US" sz="780" dirty="0"/>
          </a:p>
        </p:txBody>
      </p:sp>
      <p:sp>
        <p:nvSpPr>
          <p:cNvPr id="18" name="Text 15"/>
          <p:cNvSpPr/>
          <p:nvPr/>
        </p:nvSpPr>
        <p:spPr>
          <a:xfrm>
            <a:off x="11201400" y="6519672"/>
            <a:ext cx="502920" cy="201168"/>
          </a:xfrm>
          <a:prstGeom prst="rect">
            <a:avLst/>
          </a:prstGeom>
          <a:noFill/>
          <a:ln/>
        </p:spPr>
        <p:txBody>
          <a:bodyPr wrap="square" lIns="0" tIns="0" rIns="0" bIns="0" rtlCol="0" anchor="ctr"/>
          <a:lstStyle/>
          <a:p>
            <a:pPr algn="r" indent="0" marL="0">
              <a:buNone/>
            </a:pPr>
            <a:r>
              <a:rPr lang="en-US" sz="850" dirty="0">
                <a:solidFill>
                  <a:srgbClr val="7A8899"/>
                </a:solidFill>
              </a:rPr>
              <a:t>08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62B4F"/>
          </a:solidFill>
          <a:ln w="12700">
            <a:solidFill>
              <a:srgbClr val="062B4F"/>
            </a:solidFill>
            <a:prstDash val="solid"/>
          </a:ln>
        </p:spPr>
      </p:sp>
      <p:sp>
        <p:nvSpPr>
          <p:cNvPr id="3" name="Text 1"/>
          <p:cNvSpPr/>
          <p:nvPr/>
        </p:nvSpPr>
        <p:spPr>
          <a:xfrm>
            <a:off x="502920" y="347472"/>
            <a:ext cx="7955280" cy="438912"/>
          </a:xfrm>
          <a:prstGeom prst="rect">
            <a:avLst/>
          </a:prstGeom>
          <a:noFill/>
          <a:ln/>
        </p:spPr>
        <p:txBody>
          <a:bodyPr wrap="square" lIns="0" tIns="0" rIns="0" bIns="0" rtlCol="0" anchor="ctr"/>
          <a:lstStyle/>
          <a:p>
            <a:pPr indent="0" marL="0">
              <a:buNone/>
            </a:pPr>
            <a:r>
              <a:rPr lang="en-US" sz="2700" b="1" dirty="0">
                <a:solidFill>
                  <a:srgbClr val="062B4F"/>
                </a:solidFill>
                <a:latin typeface="Aptos Display" pitchFamily="34" charset="0"/>
                <a:ea typeface="Aptos Display" pitchFamily="34" charset="-122"/>
                <a:cs typeface="Aptos Display" pitchFamily="34" charset="-120"/>
              </a:rPr>
              <a:t>Entrega final y evidencias</a:t>
            </a:r>
            <a:endParaRPr lang="en-US" sz="2700" dirty="0"/>
          </a:p>
        </p:txBody>
      </p:sp>
      <p:sp>
        <p:nvSpPr>
          <p:cNvPr id="4" name="Text 2"/>
          <p:cNvSpPr/>
          <p:nvPr/>
        </p:nvSpPr>
        <p:spPr>
          <a:xfrm>
            <a:off x="530352" y="832104"/>
            <a:ext cx="8412480" cy="320040"/>
          </a:xfrm>
          <a:prstGeom prst="rect">
            <a:avLst/>
          </a:prstGeom>
          <a:noFill/>
          <a:ln/>
        </p:spPr>
        <p:txBody>
          <a:bodyPr wrap="square" lIns="0" tIns="0" rIns="0" bIns="0" rtlCol="0" anchor="ctr"/>
          <a:lstStyle/>
          <a:p>
            <a:pPr indent="0" marL="0">
              <a:buNone/>
            </a:pPr>
            <a:r>
              <a:rPr lang="en-US" sz="1280" dirty="0">
                <a:solidFill>
                  <a:srgbClr val="53657A"/>
                </a:solidFill>
              </a:rPr>
              <a:t>El paquete EFT consolida documentación, código, pruebas, capturas, enlaces y videos.</a:t>
            </a:r>
            <a:endParaRPr lang="en-US" sz="1280" dirty="0"/>
          </a:p>
        </p:txBody>
      </p:sp>
      <p:sp>
        <p:nvSpPr>
          <p:cNvPr id="5" name="Shape 3"/>
          <p:cNvSpPr/>
          <p:nvPr/>
        </p:nvSpPr>
        <p:spPr>
          <a:xfrm>
            <a:off x="603504" y="1197864"/>
            <a:ext cx="5422392" cy="4050792"/>
          </a:xfrm>
          <a:prstGeom prst="roundRect">
            <a:avLst>
              <a:gd name="adj" fmla="val 903"/>
            </a:avLst>
          </a:prstGeom>
          <a:solidFill>
            <a:srgbClr val="FFFFFF"/>
          </a:solidFill>
          <a:ln w="8890">
            <a:solidFill>
              <a:srgbClr val="D8E3EE"/>
            </a:solidFill>
            <a:prstDash val="solid"/>
          </a:ln>
        </p:spPr>
      </p:sp>
      <p:pic>
        <p:nvPicPr>
          <p:cNvPr id="6" name="Image 0" descr="/mnt/data/14fd38a5-e33a-492a-944e-18dd3872e9dd.png">    </p:cNvPr>
          <p:cNvPicPr>
            <a:picLocks noChangeAspect="1"/>
          </p:cNvPicPr>
          <p:nvPr/>
        </p:nvPicPr>
        <p:blipFill>
          <a:blip r:embed="rId1"/>
          <a:srcRect l="11290" r="11290" t="0" b="0"/>
          <a:stretch/>
        </p:blipFill>
        <p:spPr>
          <a:xfrm>
            <a:off x="640080" y="1234440"/>
            <a:ext cx="5349240" cy="3977640"/>
          </a:xfrm>
          <a:prstGeom prst="rect">
            <a:avLst/>
          </a:prstGeom>
        </p:spPr>
      </p:pic>
      <p:sp>
        <p:nvSpPr>
          <p:cNvPr id="7" name="Text 4"/>
          <p:cNvSpPr/>
          <p:nvPr/>
        </p:nvSpPr>
        <p:spPr>
          <a:xfrm>
            <a:off x="6400800" y="1417320"/>
            <a:ext cx="2834640" cy="201168"/>
          </a:xfrm>
          <a:prstGeom prst="rect">
            <a:avLst/>
          </a:prstGeom>
          <a:noFill/>
          <a:ln/>
        </p:spPr>
        <p:txBody>
          <a:bodyPr wrap="square" lIns="0" tIns="0" rIns="0" bIns="0" rtlCol="0" anchor="ctr"/>
          <a:lstStyle/>
          <a:p>
            <a:pPr indent="0" marL="0">
              <a:buNone/>
            </a:pPr>
            <a:r>
              <a:rPr lang="en-US" sz="850" b="1" dirty="0">
                <a:solidFill>
                  <a:srgbClr val="1377C9"/>
                </a:solidFill>
              </a:rPr>
              <a:t>ZIP SEMANA 9</a:t>
            </a:r>
            <a:endParaRPr lang="en-US" sz="850" dirty="0"/>
          </a:p>
        </p:txBody>
      </p:sp>
      <p:sp>
        <p:nvSpPr>
          <p:cNvPr id="8" name="Text 5"/>
          <p:cNvSpPr/>
          <p:nvPr/>
        </p:nvSpPr>
        <p:spPr>
          <a:xfrm>
            <a:off x="6446520" y="1783080"/>
            <a:ext cx="1280160" cy="201168"/>
          </a:xfrm>
          <a:prstGeom prst="rect">
            <a:avLst/>
          </a:prstGeom>
          <a:noFill/>
          <a:ln/>
        </p:spPr>
        <p:txBody>
          <a:bodyPr wrap="square" lIns="0" tIns="0" rIns="0" bIns="0" rtlCol="0" anchor="ctr"/>
          <a:lstStyle/>
          <a:p>
            <a:pPr indent="0" marL="0">
              <a:buNone/>
            </a:pPr>
            <a:r>
              <a:rPr lang="en-US" sz="1100" b="1" dirty="0">
                <a:solidFill>
                  <a:srgbClr val="062B4F"/>
                </a:solidFill>
              </a:rPr>
              <a:t>Documentación</a:t>
            </a:r>
            <a:endParaRPr lang="en-US" sz="1100" dirty="0"/>
          </a:p>
        </p:txBody>
      </p:sp>
      <p:sp>
        <p:nvSpPr>
          <p:cNvPr id="9" name="Text 6"/>
          <p:cNvSpPr/>
          <p:nvPr/>
        </p:nvSpPr>
        <p:spPr>
          <a:xfrm>
            <a:off x="7955280" y="1783080"/>
            <a:ext cx="3429000" cy="292608"/>
          </a:xfrm>
          <a:prstGeom prst="rect">
            <a:avLst/>
          </a:prstGeom>
          <a:noFill/>
          <a:ln/>
        </p:spPr>
        <p:txBody>
          <a:bodyPr wrap="square" lIns="0" tIns="0" rIns="0" bIns="0" rtlCol="0" anchor="ctr">
            <a:normAutofit/>
          </a:bodyPr>
          <a:lstStyle/>
          <a:p>
            <a:pPr indent="0" marL="0">
              <a:buNone/>
            </a:pPr>
            <a:r>
              <a:rPr lang="en-US" sz="1020" dirty="0">
                <a:solidFill>
                  <a:srgbClr val="53657A"/>
                </a:solidFill>
              </a:rPr>
              <a:t>EFT + documentos S1 a S8 + resultados smoke test</a:t>
            </a:r>
            <a:endParaRPr lang="en-US" sz="1020" dirty="0"/>
          </a:p>
        </p:txBody>
      </p:sp>
      <p:sp>
        <p:nvSpPr>
          <p:cNvPr id="10" name="Text 7"/>
          <p:cNvSpPr/>
          <p:nvPr/>
        </p:nvSpPr>
        <p:spPr>
          <a:xfrm>
            <a:off x="6446520" y="2395728"/>
            <a:ext cx="1280160" cy="201168"/>
          </a:xfrm>
          <a:prstGeom prst="rect">
            <a:avLst/>
          </a:prstGeom>
          <a:noFill/>
          <a:ln/>
        </p:spPr>
        <p:txBody>
          <a:bodyPr wrap="square" lIns="0" tIns="0" rIns="0" bIns="0" rtlCol="0" anchor="ctr"/>
          <a:lstStyle/>
          <a:p>
            <a:pPr indent="0" marL="0">
              <a:buNone/>
            </a:pPr>
            <a:r>
              <a:rPr lang="en-US" sz="1100" b="1" dirty="0">
                <a:solidFill>
                  <a:srgbClr val="062B4F"/>
                </a:solidFill>
              </a:rPr>
              <a:t>Aplicación</a:t>
            </a:r>
            <a:endParaRPr lang="en-US" sz="1100" dirty="0"/>
          </a:p>
        </p:txBody>
      </p:sp>
      <p:sp>
        <p:nvSpPr>
          <p:cNvPr id="11" name="Text 8"/>
          <p:cNvSpPr/>
          <p:nvPr/>
        </p:nvSpPr>
        <p:spPr>
          <a:xfrm>
            <a:off x="7955280" y="2395728"/>
            <a:ext cx="3429000" cy="292608"/>
          </a:xfrm>
          <a:prstGeom prst="rect">
            <a:avLst/>
          </a:prstGeom>
          <a:noFill/>
          <a:ln/>
        </p:spPr>
        <p:txBody>
          <a:bodyPr wrap="square" lIns="0" tIns="0" rIns="0" bIns="0" rtlCol="0" anchor="ctr">
            <a:normAutofit/>
          </a:bodyPr>
          <a:lstStyle/>
          <a:p>
            <a:pPr indent="0" marL="0">
              <a:buNone/>
            </a:pPr>
            <a:r>
              <a:rPr lang="en-US" sz="1020" dirty="0">
                <a:solidFill>
                  <a:srgbClr val="53657A"/>
                </a:solidFill>
              </a:rPr>
              <a:t>backend NestJS + frontend Angular + workflows</a:t>
            </a:r>
            <a:endParaRPr lang="en-US" sz="1020" dirty="0"/>
          </a:p>
        </p:txBody>
      </p:sp>
      <p:sp>
        <p:nvSpPr>
          <p:cNvPr id="12" name="Text 9"/>
          <p:cNvSpPr/>
          <p:nvPr/>
        </p:nvSpPr>
        <p:spPr>
          <a:xfrm>
            <a:off x="6446520" y="3008376"/>
            <a:ext cx="1280160" cy="201168"/>
          </a:xfrm>
          <a:prstGeom prst="rect">
            <a:avLst/>
          </a:prstGeom>
          <a:noFill/>
          <a:ln/>
        </p:spPr>
        <p:txBody>
          <a:bodyPr wrap="square" lIns="0" tIns="0" rIns="0" bIns="0" rtlCol="0" anchor="ctr"/>
          <a:lstStyle/>
          <a:p>
            <a:pPr indent="0" marL="0">
              <a:buNone/>
            </a:pPr>
            <a:r>
              <a:rPr lang="en-US" sz="1100" b="1" dirty="0">
                <a:solidFill>
                  <a:srgbClr val="062B4F"/>
                </a:solidFill>
              </a:rPr>
              <a:t>Base de datos</a:t>
            </a:r>
            <a:endParaRPr lang="en-US" sz="1100" dirty="0"/>
          </a:p>
        </p:txBody>
      </p:sp>
      <p:sp>
        <p:nvSpPr>
          <p:cNvPr id="13" name="Text 10"/>
          <p:cNvSpPr/>
          <p:nvPr/>
        </p:nvSpPr>
        <p:spPr>
          <a:xfrm>
            <a:off x="7955280" y="3008376"/>
            <a:ext cx="3429000" cy="292608"/>
          </a:xfrm>
          <a:prstGeom prst="rect">
            <a:avLst/>
          </a:prstGeom>
          <a:noFill/>
          <a:ln/>
        </p:spPr>
        <p:txBody>
          <a:bodyPr wrap="square" lIns="0" tIns="0" rIns="0" bIns="0" rtlCol="0" anchor="ctr">
            <a:normAutofit/>
          </a:bodyPr>
          <a:lstStyle/>
          <a:p>
            <a:pPr indent="0" marL="0">
              <a:buNone/>
            </a:pPr>
            <a:r>
              <a:rPr lang="en-US" sz="1020" dirty="0">
                <a:solidFill>
                  <a:srgbClr val="53657A"/>
                </a:solidFill>
              </a:rPr>
              <a:t>schema.sql + seed.sql + migraciones + ER</a:t>
            </a:r>
            <a:endParaRPr lang="en-US" sz="1020" dirty="0"/>
          </a:p>
        </p:txBody>
      </p:sp>
      <p:sp>
        <p:nvSpPr>
          <p:cNvPr id="14" name="Text 11"/>
          <p:cNvSpPr/>
          <p:nvPr/>
        </p:nvSpPr>
        <p:spPr>
          <a:xfrm>
            <a:off x="6446520" y="3621024"/>
            <a:ext cx="1280160" cy="201168"/>
          </a:xfrm>
          <a:prstGeom prst="rect">
            <a:avLst/>
          </a:prstGeom>
          <a:noFill/>
          <a:ln/>
        </p:spPr>
        <p:txBody>
          <a:bodyPr wrap="square" lIns="0" tIns="0" rIns="0" bIns="0" rtlCol="0" anchor="ctr"/>
          <a:lstStyle/>
          <a:p>
            <a:pPr indent="0" marL="0">
              <a:buNone/>
            </a:pPr>
            <a:r>
              <a:rPr lang="en-US" sz="1100" b="1" dirty="0">
                <a:solidFill>
                  <a:srgbClr val="062B4F"/>
                </a:solidFill>
              </a:rPr>
              <a:t>Presentación</a:t>
            </a:r>
            <a:endParaRPr lang="en-US" sz="1100" dirty="0"/>
          </a:p>
        </p:txBody>
      </p:sp>
      <p:sp>
        <p:nvSpPr>
          <p:cNvPr id="15" name="Text 12"/>
          <p:cNvSpPr/>
          <p:nvPr/>
        </p:nvSpPr>
        <p:spPr>
          <a:xfrm>
            <a:off x="7955280" y="3621024"/>
            <a:ext cx="3429000" cy="292608"/>
          </a:xfrm>
          <a:prstGeom prst="rect">
            <a:avLst/>
          </a:prstGeom>
          <a:noFill/>
          <a:ln/>
        </p:spPr>
        <p:txBody>
          <a:bodyPr wrap="square" lIns="0" tIns="0" rIns="0" bIns="0" rtlCol="0" anchor="ctr">
            <a:normAutofit/>
          </a:bodyPr>
          <a:lstStyle/>
          <a:p>
            <a:pPr indent="0" marL="0">
              <a:buNone/>
            </a:pPr>
            <a:r>
              <a:rPr lang="en-US" sz="1020" dirty="0">
                <a:solidFill>
                  <a:srgbClr val="53657A"/>
                </a:solidFill>
              </a:rPr>
              <a:t>PPT + PDF + video EFT</a:t>
            </a:r>
            <a:endParaRPr lang="en-US" sz="1020" dirty="0"/>
          </a:p>
        </p:txBody>
      </p:sp>
      <p:sp>
        <p:nvSpPr>
          <p:cNvPr id="16" name="Text 13"/>
          <p:cNvSpPr/>
          <p:nvPr/>
        </p:nvSpPr>
        <p:spPr>
          <a:xfrm>
            <a:off x="6446520" y="4233672"/>
            <a:ext cx="1280160" cy="201168"/>
          </a:xfrm>
          <a:prstGeom prst="rect">
            <a:avLst/>
          </a:prstGeom>
          <a:noFill/>
          <a:ln/>
        </p:spPr>
        <p:txBody>
          <a:bodyPr wrap="square" lIns="0" tIns="0" rIns="0" bIns="0" rtlCol="0" anchor="ctr"/>
          <a:lstStyle/>
          <a:p>
            <a:pPr indent="0" marL="0">
              <a:buNone/>
            </a:pPr>
            <a:r>
              <a:rPr lang="en-US" sz="1100" b="1" dirty="0">
                <a:solidFill>
                  <a:srgbClr val="062B4F"/>
                </a:solidFill>
              </a:rPr>
              <a:t>Sistema</a:t>
            </a:r>
            <a:endParaRPr lang="en-US" sz="1100" dirty="0"/>
          </a:p>
        </p:txBody>
      </p:sp>
      <p:sp>
        <p:nvSpPr>
          <p:cNvPr id="17" name="Text 14"/>
          <p:cNvSpPr/>
          <p:nvPr/>
        </p:nvSpPr>
        <p:spPr>
          <a:xfrm>
            <a:off x="7955280" y="4233672"/>
            <a:ext cx="3429000" cy="292608"/>
          </a:xfrm>
          <a:prstGeom prst="rect">
            <a:avLst/>
          </a:prstGeom>
          <a:noFill/>
          <a:ln/>
        </p:spPr>
        <p:txBody>
          <a:bodyPr wrap="square" lIns="0" tIns="0" rIns="0" bIns="0" rtlCol="0" anchor="ctr">
            <a:normAutofit/>
          </a:bodyPr>
          <a:lstStyle/>
          <a:p>
            <a:pPr indent="0" marL="0">
              <a:buNone/>
            </a:pPr>
            <a:r>
              <a:rPr lang="en-US" sz="1020" dirty="0">
                <a:solidFill>
                  <a:srgbClr val="53657A"/>
                </a:solidFill>
              </a:rPr>
              <a:t>capturas, URLs, métricas y evidencia AWS</a:t>
            </a:r>
            <a:endParaRPr lang="en-US" sz="1020" dirty="0"/>
          </a:p>
        </p:txBody>
      </p:sp>
      <p:sp>
        <p:nvSpPr>
          <p:cNvPr id="18" name="Shape 15"/>
          <p:cNvSpPr/>
          <p:nvPr/>
        </p:nvSpPr>
        <p:spPr>
          <a:xfrm>
            <a:off x="6446520" y="5166360"/>
            <a:ext cx="2103120" cy="292608"/>
          </a:xfrm>
          <a:prstGeom prst="roundRect">
            <a:avLst>
              <a:gd name="adj" fmla="val 18750"/>
            </a:avLst>
          </a:prstGeom>
          <a:solidFill>
            <a:srgbClr val="062B4F"/>
          </a:solidFill>
          <a:ln w="12700">
            <a:solidFill>
              <a:srgbClr val="062B4F">
                <a:alpha val="0"/>
              </a:srgbClr>
            </a:solidFill>
            <a:prstDash val="solid"/>
          </a:ln>
        </p:spPr>
      </p:sp>
      <p:sp>
        <p:nvSpPr>
          <p:cNvPr id="19" name="Text 16"/>
          <p:cNvSpPr/>
          <p:nvPr/>
        </p:nvSpPr>
        <p:spPr>
          <a:xfrm>
            <a:off x="6537960" y="5234940"/>
            <a:ext cx="1920240" cy="146304"/>
          </a:xfrm>
          <a:prstGeom prst="rect">
            <a:avLst/>
          </a:prstGeom>
          <a:noFill/>
          <a:ln/>
        </p:spPr>
        <p:txBody>
          <a:bodyPr wrap="square" lIns="0" tIns="0" rIns="0" bIns="0" rtlCol="0" anchor="ctr"/>
          <a:lstStyle/>
          <a:p>
            <a:pPr algn="ctr" indent="0" marL="0">
              <a:buNone/>
            </a:pPr>
            <a:r>
              <a:rPr lang="en-US" sz="870" b="1" dirty="0">
                <a:solidFill>
                  <a:srgbClr val="FFFFFF"/>
                </a:solidFill>
              </a:rPr>
              <a:t>Rama principal: develop</a:t>
            </a:r>
            <a:endParaRPr lang="en-US" sz="870" dirty="0"/>
          </a:p>
        </p:txBody>
      </p:sp>
      <p:sp>
        <p:nvSpPr>
          <p:cNvPr id="20" name="Shape 17"/>
          <p:cNvSpPr/>
          <p:nvPr/>
        </p:nvSpPr>
        <p:spPr>
          <a:xfrm>
            <a:off x="8732520" y="5166360"/>
            <a:ext cx="2834640" cy="292608"/>
          </a:xfrm>
          <a:prstGeom prst="roundRect">
            <a:avLst>
              <a:gd name="adj" fmla="val 18750"/>
            </a:avLst>
          </a:prstGeom>
          <a:solidFill>
            <a:srgbClr val="BDF4DD"/>
          </a:solidFill>
          <a:ln w="12700">
            <a:solidFill>
              <a:srgbClr val="BDF4DD">
                <a:alpha val="0"/>
              </a:srgbClr>
            </a:solidFill>
            <a:prstDash val="solid"/>
          </a:ln>
        </p:spPr>
      </p:sp>
      <p:sp>
        <p:nvSpPr>
          <p:cNvPr id="21" name="Text 18"/>
          <p:cNvSpPr/>
          <p:nvPr/>
        </p:nvSpPr>
        <p:spPr>
          <a:xfrm>
            <a:off x="8823960" y="5234940"/>
            <a:ext cx="2651760" cy="146304"/>
          </a:xfrm>
          <a:prstGeom prst="rect">
            <a:avLst/>
          </a:prstGeom>
          <a:noFill/>
          <a:ln/>
        </p:spPr>
        <p:txBody>
          <a:bodyPr wrap="square" lIns="0" tIns="0" rIns="0" bIns="0" rtlCol="0" anchor="ctr"/>
          <a:lstStyle/>
          <a:p>
            <a:pPr algn="ctr" indent="0" marL="0">
              <a:buNone/>
            </a:pPr>
            <a:r>
              <a:rPr lang="en-US" sz="870" b="1" dirty="0">
                <a:solidFill>
                  <a:srgbClr val="062B4F"/>
                </a:solidFill>
              </a:rPr>
              <a:t>Frontend S3 · Backend EB · Swagger</a:t>
            </a:r>
            <a:endParaRPr lang="en-US" sz="870" dirty="0"/>
          </a:p>
        </p:txBody>
      </p:sp>
      <p:sp>
        <p:nvSpPr>
          <p:cNvPr id="22" name="Text 19"/>
          <p:cNvSpPr/>
          <p:nvPr/>
        </p:nvSpPr>
        <p:spPr>
          <a:xfrm>
            <a:off x="502920" y="6565392"/>
            <a:ext cx="5120640" cy="164592"/>
          </a:xfrm>
          <a:prstGeom prst="rect">
            <a:avLst/>
          </a:prstGeom>
          <a:noFill/>
          <a:ln/>
        </p:spPr>
        <p:txBody>
          <a:bodyPr wrap="square" lIns="0" tIns="0" rIns="0" bIns="0" rtlCol="0" anchor="ctr"/>
          <a:lstStyle/>
          <a:p>
            <a:pPr indent="0" marL="0">
              <a:buNone/>
            </a:pPr>
            <a:r>
              <a:rPr lang="en-US" sz="780" dirty="0">
                <a:solidFill>
                  <a:srgbClr val="7A8899"/>
                </a:solidFill>
              </a:rPr>
              <a:t>Aulafy · EFT Taller Aplicado de Software</a:t>
            </a:r>
            <a:endParaRPr lang="en-US" sz="780" dirty="0"/>
          </a:p>
        </p:txBody>
      </p:sp>
      <p:sp>
        <p:nvSpPr>
          <p:cNvPr id="23" name="Text 20"/>
          <p:cNvSpPr/>
          <p:nvPr/>
        </p:nvSpPr>
        <p:spPr>
          <a:xfrm>
            <a:off x="11201400" y="6519672"/>
            <a:ext cx="502920" cy="201168"/>
          </a:xfrm>
          <a:prstGeom prst="rect">
            <a:avLst/>
          </a:prstGeom>
          <a:noFill/>
          <a:ln/>
        </p:spPr>
        <p:txBody>
          <a:bodyPr wrap="square" lIns="0" tIns="0" rIns="0" bIns="0" rtlCol="0" anchor="ctr"/>
          <a:lstStyle/>
          <a:p>
            <a:pPr algn="r" indent="0" marL="0">
              <a:buNone/>
            </a:pPr>
            <a:r>
              <a:rPr lang="en-US" sz="850" dirty="0">
                <a:solidFill>
                  <a:srgbClr val="7A8899"/>
                </a:solidFill>
              </a:rPr>
              <a:t>09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62B4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54D99B"/>
          </a:solidFill>
          <a:ln w="12700">
            <a:solidFill>
              <a:srgbClr val="54D99B"/>
            </a:solidFill>
            <a:prstDash val="solid"/>
          </a:ln>
        </p:spPr>
      </p:sp>
      <p:sp>
        <p:nvSpPr>
          <p:cNvPr id="3" name="Text 1"/>
          <p:cNvSpPr/>
          <p:nvPr/>
        </p:nvSpPr>
        <p:spPr>
          <a:xfrm>
            <a:off x="502920" y="347472"/>
            <a:ext cx="7955280" cy="438912"/>
          </a:xfrm>
          <a:prstGeom prst="rect">
            <a:avLst/>
          </a:prstGeom>
          <a:noFill/>
          <a:ln/>
        </p:spPr>
        <p:txBody>
          <a:bodyPr wrap="square" lIns="0" tIns="0" rIns="0" bIns="0" rtlCol="0" anchor="ctr"/>
          <a:lstStyle/>
          <a:p>
            <a:pPr indent="0" marL="0">
              <a:buNone/>
            </a:pPr>
            <a:r>
              <a:rPr lang="en-US" sz="2700" b="1" dirty="0">
                <a:solidFill>
                  <a:srgbClr val="FFFFFF"/>
                </a:solidFill>
                <a:latin typeface="Aptos Display" pitchFamily="34" charset="0"/>
                <a:ea typeface="Aptos Display" pitchFamily="34" charset="-122"/>
                <a:cs typeface="Aptos Display" pitchFamily="34" charset="-120"/>
              </a:rPr>
              <a:t>Conclusión</a:t>
            </a:r>
            <a:endParaRPr lang="en-US" sz="2700" dirty="0"/>
          </a:p>
        </p:txBody>
      </p:sp>
      <p:sp>
        <p:nvSpPr>
          <p:cNvPr id="4" name="Text 2"/>
          <p:cNvSpPr/>
          <p:nvPr/>
        </p:nvSpPr>
        <p:spPr>
          <a:xfrm>
            <a:off x="530352" y="832104"/>
            <a:ext cx="8412480" cy="320040"/>
          </a:xfrm>
          <a:prstGeom prst="rect">
            <a:avLst/>
          </a:prstGeom>
          <a:noFill/>
          <a:ln/>
        </p:spPr>
        <p:txBody>
          <a:bodyPr wrap="square" lIns="0" tIns="0" rIns="0" bIns="0" rtlCol="0" anchor="ctr"/>
          <a:lstStyle/>
          <a:p>
            <a:pPr indent="0" marL="0">
              <a:buNone/>
            </a:pPr>
            <a:r>
              <a:rPr lang="en-US" sz="1280" dirty="0">
                <a:solidFill>
                  <a:srgbClr val="D5E6F5"/>
                </a:solidFill>
              </a:rPr>
              <a:t>Aulafy cumple el objetivo de MVP funcional, desplegado y validado para gestión académica escolar.</a:t>
            </a:r>
            <a:endParaRPr lang="en-US" sz="1280" dirty="0"/>
          </a:p>
        </p:txBody>
      </p:sp>
      <p:sp>
        <p:nvSpPr>
          <p:cNvPr id="5" name="Text 3"/>
          <p:cNvSpPr/>
          <p:nvPr/>
        </p:nvSpPr>
        <p:spPr>
          <a:xfrm>
            <a:off x="731520" y="1554480"/>
            <a:ext cx="1920240" cy="548640"/>
          </a:xfrm>
          <a:prstGeom prst="rect">
            <a:avLst/>
          </a:prstGeom>
          <a:noFill/>
          <a:ln/>
        </p:spPr>
        <p:txBody>
          <a:bodyPr wrap="square" lIns="0" tIns="0" rIns="0" bIns="0" rtlCol="0" anchor="ctr"/>
          <a:lstStyle/>
          <a:p>
            <a:pPr indent="0" marL="0">
              <a:buNone/>
            </a:pPr>
            <a:r>
              <a:rPr lang="en-US" sz="3100" b="1" dirty="0">
                <a:solidFill>
                  <a:srgbClr val="54D99B"/>
                </a:solidFill>
                <a:latin typeface="Aptos Display" pitchFamily="34" charset="0"/>
                <a:ea typeface="Aptos Display" pitchFamily="34" charset="-122"/>
                <a:cs typeface="Aptos Display" pitchFamily="34" charset="-120"/>
              </a:rPr>
              <a:t>MVP</a:t>
            </a:r>
            <a:endParaRPr lang="en-US" sz="3100" dirty="0"/>
          </a:p>
        </p:txBody>
      </p:sp>
      <p:sp>
        <p:nvSpPr>
          <p:cNvPr id="6" name="Text 4"/>
          <p:cNvSpPr/>
          <p:nvPr/>
        </p:nvSpPr>
        <p:spPr>
          <a:xfrm>
            <a:off x="731520" y="2157984"/>
            <a:ext cx="1920240" cy="292608"/>
          </a:xfrm>
          <a:prstGeom prst="rect">
            <a:avLst/>
          </a:prstGeom>
          <a:noFill/>
          <a:ln/>
        </p:spPr>
        <p:txBody>
          <a:bodyPr wrap="square" lIns="0" tIns="0" rIns="0" bIns="0" rtlCol="0" anchor="ctr">
            <a:normAutofit/>
          </a:bodyPr>
          <a:lstStyle/>
          <a:p>
            <a:pPr indent="0" marL="0">
              <a:buNone/>
            </a:pPr>
            <a:r>
              <a:rPr lang="en-US" sz="1060" dirty="0">
                <a:solidFill>
                  <a:srgbClr val="53657A"/>
                </a:solidFill>
              </a:rPr>
              <a:t>funcional en AWS</a:t>
            </a:r>
            <a:endParaRPr lang="en-US" sz="1060" dirty="0"/>
          </a:p>
        </p:txBody>
      </p:sp>
      <p:sp>
        <p:nvSpPr>
          <p:cNvPr id="7" name="Text 5"/>
          <p:cNvSpPr/>
          <p:nvPr/>
        </p:nvSpPr>
        <p:spPr>
          <a:xfrm>
            <a:off x="2788920" y="1554480"/>
            <a:ext cx="1645920" cy="548640"/>
          </a:xfrm>
          <a:prstGeom prst="rect">
            <a:avLst/>
          </a:prstGeom>
          <a:noFill/>
          <a:ln/>
        </p:spPr>
        <p:txBody>
          <a:bodyPr wrap="square" lIns="0" tIns="0" rIns="0" bIns="0" rtlCol="0" anchor="ctr"/>
          <a:lstStyle/>
          <a:p>
            <a:pPr indent="0" marL="0">
              <a:buNone/>
            </a:pPr>
            <a:r>
              <a:rPr lang="en-US" sz="3100" b="1" dirty="0">
                <a:solidFill>
                  <a:srgbClr val="54D99B"/>
                </a:solidFill>
                <a:latin typeface="Aptos Display" pitchFamily="34" charset="0"/>
                <a:ea typeface="Aptos Display" pitchFamily="34" charset="-122"/>
                <a:cs typeface="Aptos Display" pitchFamily="34" charset="-120"/>
              </a:rPr>
              <a:t>10</a:t>
            </a:r>
            <a:endParaRPr lang="en-US" sz="3100" dirty="0"/>
          </a:p>
        </p:txBody>
      </p:sp>
      <p:sp>
        <p:nvSpPr>
          <p:cNvPr id="8" name="Text 6"/>
          <p:cNvSpPr/>
          <p:nvPr/>
        </p:nvSpPr>
        <p:spPr>
          <a:xfrm>
            <a:off x="2788920" y="2157984"/>
            <a:ext cx="1645920" cy="292608"/>
          </a:xfrm>
          <a:prstGeom prst="rect">
            <a:avLst/>
          </a:prstGeom>
          <a:noFill/>
          <a:ln/>
        </p:spPr>
        <p:txBody>
          <a:bodyPr wrap="square" lIns="0" tIns="0" rIns="0" bIns="0" rtlCol="0" anchor="ctr">
            <a:normAutofit/>
          </a:bodyPr>
          <a:lstStyle/>
          <a:p>
            <a:pPr indent="0" marL="0">
              <a:buNone/>
            </a:pPr>
            <a:r>
              <a:rPr lang="en-US" sz="1060" dirty="0">
                <a:solidFill>
                  <a:srgbClr val="53657A"/>
                </a:solidFill>
              </a:rPr>
              <a:t>módulos integrados</a:t>
            </a:r>
            <a:endParaRPr lang="en-US" sz="1060" dirty="0"/>
          </a:p>
        </p:txBody>
      </p:sp>
      <p:sp>
        <p:nvSpPr>
          <p:cNvPr id="9" name="Text 7"/>
          <p:cNvSpPr/>
          <p:nvPr/>
        </p:nvSpPr>
        <p:spPr>
          <a:xfrm>
            <a:off x="4663440" y="1554480"/>
            <a:ext cx="1645920" cy="548640"/>
          </a:xfrm>
          <a:prstGeom prst="rect">
            <a:avLst/>
          </a:prstGeom>
          <a:noFill/>
          <a:ln/>
        </p:spPr>
        <p:txBody>
          <a:bodyPr wrap="square" lIns="0" tIns="0" rIns="0" bIns="0" rtlCol="0" anchor="ctr"/>
          <a:lstStyle/>
          <a:p>
            <a:pPr indent="0" marL="0">
              <a:buNone/>
            </a:pPr>
            <a:r>
              <a:rPr lang="en-US" sz="3100" b="1" dirty="0">
                <a:solidFill>
                  <a:srgbClr val="54D99B"/>
                </a:solidFill>
                <a:latin typeface="Aptos Display" pitchFamily="34" charset="0"/>
                <a:ea typeface="Aptos Display" pitchFamily="34" charset="-122"/>
                <a:cs typeface="Aptos Display" pitchFamily="34" charset="-120"/>
              </a:rPr>
              <a:t>6</a:t>
            </a:r>
            <a:endParaRPr lang="en-US" sz="3100" dirty="0"/>
          </a:p>
        </p:txBody>
      </p:sp>
      <p:sp>
        <p:nvSpPr>
          <p:cNvPr id="10" name="Text 8"/>
          <p:cNvSpPr/>
          <p:nvPr/>
        </p:nvSpPr>
        <p:spPr>
          <a:xfrm>
            <a:off x="4663440" y="2157984"/>
            <a:ext cx="1645920" cy="292608"/>
          </a:xfrm>
          <a:prstGeom prst="rect">
            <a:avLst/>
          </a:prstGeom>
          <a:noFill/>
          <a:ln/>
        </p:spPr>
        <p:txBody>
          <a:bodyPr wrap="square" lIns="0" tIns="0" rIns="0" bIns="0" rtlCol="0" anchor="ctr">
            <a:normAutofit/>
          </a:bodyPr>
          <a:lstStyle/>
          <a:p>
            <a:pPr indent="0" marL="0">
              <a:buNone/>
            </a:pPr>
            <a:r>
              <a:rPr lang="en-US" sz="1060" dirty="0">
                <a:solidFill>
                  <a:srgbClr val="53657A"/>
                </a:solidFill>
              </a:rPr>
              <a:t>perfiles diferenciados</a:t>
            </a:r>
            <a:endParaRPr lang="en-US" sz="1060" dirty="0"/>
          </a:p>
        </p:txBody>
      </p:sp>
      <p:sp>
        <p:nvSpPr>
          <p:cNvPr id="11" name="Text 9"/>
          <p:cNvSpPr/>
          <p:nvPr/>
        </p:nvSpPr>
        <p:spPr>
          <a:xfrm>
            <a:off x="6583680" y="1554480"/>
            <a:ext cx="1874520" cy="548640"/>
          </a:xfrm>
          <a:prstGeom prst="rect">
            <a:avLst/>
          </a:prstGeom>
          <a:noFill/>
          <a:ln/>
        </p:spPr>
        <p:txBody>
          <a:bodyPr wrap="square" lIns="0" tIns="0" rIns="0" bIns="0" rtlCol="0" anchor="ctr"/>
          <a:lstStyle/>
          <a:p>
            <a:pPr indent="0" marL="0">
              <a:buNone/>
            </a:pPr>
            <a:r>
              <a:rPr lang="en-US" sz="3100" b="1" dirty="0">
                <a:solidFill>
                  <a:srgbClr val="54D99B"/>
                </a:solidFill>
                <a:latin typeface="Aptos Display" pitchFamily="34" charset="0"/>
                <a:ea typeface="Aptos Display" pitchFamily="34" charset="-122"/>
                <a:cs typeface="Aptos Display" pitchFamily="34" charset="-120"/>
              </a:rPr>
              <a:t>0</a:t>
            </a:r>
            <a:endParaRPr lang="en-US" sz="3100" dirty="0"/>
          </a:p>
        </p:txBody>
      </p:sp>
      <p:sp>
        <p:nvSpPr>
          <p:cNvPr id="12" name="Text 10"/>
          <p:cNvSpPr/>
          <p:nvPr/>
        </p:nvSpPr>
        <p:spPr>
          <a:xfrm>
            <a:off x="6583680" y="2157984"/>
            <a:ext cx="1874520" cy="292608"/>
          </a:xfrm>
          <a:prstGeom prst="rect">
            <a:avLst/>
          </a:prstGeom>
          <a:noFill/>
          <a:ln/>
        </p:spPr>
        <p:txBody>
          <a:bodyPr wrap="square" lIns="0" tIns="0" rIns="0" bIns="0" rtlCol="0" anchor="ctr">
            <a:normAutofit/>
          </a:bodyPr>
          <a:lstStyle/>
          <a:p>
            <a:pPr indent="0" marL="0">
              <a:buNone/>
            </a:pPr>
            <a:r>
              <a:rPr lang="en-US" sz="1060" dirty="0">
                <a:solidFill>
                  <a:srgbClr val="53657A"/>
                </a:solidFill>
              </a:rPr>
              <a:t>deuda técnica bloqueante</a:t>
            </a:r>
            <a:endParaRPr lang="en-US" sz="1060" dirty="0"/>
          </a:p>
        </p:txBody>
      </p:sp>
      <p:sp>
        <p:nvSpPr>
          <p:cNvPr id="13" name="Text 11"/>
          <p:cNvSpPr/>
          <p:nvPr/>
        </p:nvSpPr>
        <p:spPr>
          <a:xfrm>
            <a:off x="749808" y="2971800"/>
            <a:ext cx="2834640" cy="201168"/>
          </a:xfrm>
          <a:prstGeom prst="rect">
            <a:avLst/>
          </a:prstGeom>
          <a:noFill/>
          <a:ln/>
        </p:spPr>
        <p:txBody>
          <a:bodyPr wrap="square" lIns="0" tIns="0" rIns="0" bIns="0" rtlCol="0" anchor="ctr"/>
          <a:lstStyle/>
          <a:p>
            <a:pPr indent="0" marL="0">
              <a:buNone/>
            </a:pPr>
            <a:r>
              <a:rPr lang="en-US" sz="850" b="1" dirty="0">
                <a:solidFill>
                  <a:srgbClr val="54D99B"/>
                </a:solidFill>
              </a:rPr>
              <a:t>CIERRE TÉCNICO</a:t>
            </a:r>
            <a:endParaRPr lang="en-US" sz="850" dirty="0"/>
          </a:p>
        </p:txBody>
      </p:sp>
      <p:sp>
        <p:nvSpPr>
          <p:cNvPr id="14" name="Text 12"/>
          <p:cNvSpPr/>
          <p:nvPr/>
        </p:nvSpPr>
        <p:spPr>
          <a:xfrm>
            <a:off x="777240" y="3310128"/>
            <a:ext cx="5577840" cy="1554480"/>
          </a:xfrm>
          <a:prstGeom prst="rect">
            <a:avLst/>
          </a:prstGeom>
          <a:noFill/>
          <a:ln/>
        </p:spPr>
        <p:txBody>
          <a:bodyPr wrap="square" lIns="254" tIns="254" rIns="254" bIns="254" rtlCol="0" anchor="t">
            <a:normAutofit/>
          </a:bodyPr>
          <a:lstStyle/>
          <a:p>
            <a:pPr indent="0" marL="0">
              <a:buNone/>
            </a:pPr>
            <a:r>
              <a:rPr lang="en-US" sz="1500" b="1" dirty="0">
                <a:solidFill>
                  <a:srgbClr val="FFFFFF"/>
                </a:solidFill>
              </a:rPr>
              <a:t>Logrado</a:t>
            </a:r>
            <a:pPr indent="0" marL="0">
              <a:buNone/>
            </a:pPr>
            <a:r>
              <a:rPr lang="en-US" sz="1500" dirty="0">
                <a:solidFill>
                  <a:srgbClr val="D5E6F5"/>
                </a:solidFill>
              </a:rPr>
              <a:t> — gestión académica, comunicación, permisos contextuales, AWS y pruebas.
</a:t>
            </a:r>
            <a:pPr indent="0" marL="0">
              <a:buNone/>
            </a:pPr>
            <a:r>
              <a:rPr lang="en-US" sz="1500" b="1" dirty="0">
                <a:solidFill>
                  <a:srgbClr val="FFFFFF"/>
                </a:solidFill>
              </a:rPr>
              <a:t>Aprendizaje</a:t>
            </a:r>
            <a:pPr indent="0" marL="0">
              <a:buNone/>
            </a:pPr>
            <a:r>
              <a:rPr lang="en-US" sz="1500" dirty="0">
                <a:solidFill>
                  <a:srgbClr val="D5E6F5"/>
                </a:solidFill>
              </a:rPr>
              <a:t> — la trazabilidad de defectos y evidencias fue tan importante como el desarrollo.
</a:t>
            </a:r>
            <a:pPr indent="0" marL="0">
              <a:buNone/>
            </a:pPr>
            <a:r>
              <a:rPr lang="en-US" sz="1500" b="1" dirty="0">
                <a:solidFill>
                  <a:srgbClr val="FFFFFF"/>
                </a:solidFill>
              </a:rPr>
              <a:t>Siguiente mejora</a:t>
            </a:r>
            <a:pPr indent="0" marL="0">
              <a:buNone/>
            </a:pPr>
            <a:r>
              <a:rPr lang="en-US" sz="1500" dirty="0">
                <a:solidFill>
                  <a:srgbClr val="D5E6F5"/>
                </a:solidFill>
              </a:rPr>
              <a:t> — CloudFront + HTTPS, WebSocket para chat, métricas ampliadas y cobertura de branches.</a:t>
            </a:r>
            <a:endParaRPr lang="en-US" sz="1500" dirty="0"/>
          </a:p>
        </p:txBody>
      </p:sp>
      <p:sp>
        <p:nvSpPr>
          <p:cNvPr id="15" name="Shape 13"/>
          <p:cNvSpPr/>
          <p:nvPr/>
        </p:nvSpPr>
        <p:spPr>
          <a:xfrm>
            <a:off x="6684264" y="2843784"/>
            <a:ext cx="4370832" cy="2039112"/>
          </a:xfrm>
          <a:prstGeom prst="roundRect">
            <a:avLst>
              <a:gd name="adj" fmla="val 1794"/>
            </a:avLst>
          </a:prstGeom>
          <a:solidFill>
            <a:srgbClr val="FFFFFF"/>
          </a:solidFill>
          <a:ln w="8890">
            <a:solidFill>
              <a:srgbClr val="D8E3EE"/>
            </a:solidFill>
            <a:prstDash val="solid"/>
          </a:ln>
        </p:spPr>
      </p:sp>
      <p:pic>
        <p:nvPicPr>
          <p:cNvPr id="16" name="Image 0" descr="/mnt/data/edc2d029-d106-4b2d-ba05-18d88924f3d3.png">    </p:cNvPr>
          <p:cNvPicPr>
            <a:picLocks noChangeAspect="1"/>
          </p:cNvPicPr>
          <p:nvPr/>
        </p:nvPicPr>
        <p:blipFill>
          <a:blip r:embed="rId1"/>
          <a:srcRect l="0" r="0" t="8325" b="8325"/>
          <a:stretch/>
        </p:blipFill>
        <p:spPr>
          <a:xfrm>
            <a:off x="6720840" y="2880360"/>
            <a:ext cx="4297680" cy="1965960"/>
          </a:xfrm>
          <a:prstGeom prst="rect">
            <a:avLst/>
          </a:prstGeom>
        </p:spPr>
      </p:pic>
      <p:sp>
        <p:nvSpPr>
          <p:cNvPr id="17" name="Text 14"/>
          <p:cNvSpPr/>
          <p:nvPr/>
        </p:nvSpPr>
        <p:spPr>
          <a:xfrm>
            <a:off x="749808" y="5669280"/>
            <a:ext cx="2377440" cy="411480"/>
          </a:xfrm>
          <a:prstGeom prst="rect">
            <a:avLst/>
          </a:prstGeom>
          <a:noFill/>
          <a:ln/>
        </p:spPr>
        <p:txBody>
          <a:bodyPr wrap="square" lIns="0" tIns="0" rIns="0" bIns="0" rtlCol="0" anchor="ctr"/>
          <a:lstStyle/>
          <a:p>
            <a:pPr indent="0" marL="0">
              <a:buNone/>
            </a:pPr>
            <a:r>
              <a:rPr lang="en-US" sz="3100" b="1" dirty="0">
                <a:solidFill>
                  <a:srgbClr val="FFFFFF"/>
                </a:solidFill>
                <a:latin typeface="Aptos Display" pitchFamily="34" charset="0"/>
                <a:ea typeface="Aptos Display" pitchFamily="34" charset="-122"/>
                <a:cs typeface="Aptos Display" pitchFamily="34" charset="-120"/>
              </a:rPr>
              <a:t>Gracias</a:t>
            </a:r>
            <a:endParaRPr lang="en-US" sz="3100" dirty="0"/>
          </a:p>
        </p:txBody>
      </p:sp>
      <p:sp>
        <p:nvSpPr>
          <p:cNvPr id="18" name="Text 15"/>
          <p:cNvSpPr/>
          <p:nvPr/>
        </p:nvSpPr>
        <p:spPr>
          <a:xfrm>
            <a:off x="502920" y="6565392"/>
            <a:ext cx="5120640" cy="164592"/>
          </a:xfrm>
          <a:prstGeom prst="rect">
            <a:avLst/>
          </a:prstGeom>
          <a:noFill/>
          <a:ln/>
        </p:spPr>
        <p:txBody>
          <a:bodyPr wrap="square" lIns="0" tIns="0" rIns="0" bIns="0" rtlCol="0" anchor="ctr"/>
          <a:lstStyle/>
          <a:p>
            <a:pPr indent="0" marL="0">
              <a:buNone/>
            </a:pPr>
            <a:r>
              <a:rPr lang="en-US" sz="780" dirty="0">
                <a:solidFill>
                  <a:srgbClr val="CFE5F5"/>
                </a:solidFill>
              </a:rPr>
              <a:t>Aulafy · EFT Taller Aplicado de Software</a:t>
            </a:r>
            <a:endParaRPr lang="en-US" sz="780" dirty="0"/>
          </a:p>
        </p:txBody>
      </p:sp>
      <p:sp>
        <p:nvSpPr>
          <p:cNvPr id="19" name="Text 16"/>
          <p:cNvSpPr/>
          <p:nvPr/>
        </p:nvSpPr>
        <p:spPr>
          <a:xfrm>
            <a:off x="11201400" y="6519672"/>
            <a:ext cx="502920" cy="201168"/>
          </a:xfrm>
          <a:prstGeom prst="rect">
            <a:avLst/>
          </a:prstGeom>
          <a:noFill/>
          <a:ln/>
        </p:spPr>
        <p:txBody>
          <a:bodyPr wrap="square" lIns="0" tIns="0" rIns="0" bIns="0" rtlCol="0" anchor="ctr"/>
          <a:lstStyle/>
          <a:p>
            <a:pPr algn="r" indent="0" marL="0">
              <a:buNone/>
            </a:pPr>
            <a:r>
              <a:rPr lang="en-US" sz="850" dirty="0">
                <a:solidFill>
                  <a:srgbClr val="CFE5F5"/>
                </a:solidFill>
              </a:rPr>
              <a:t>10</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Duoc UC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Aulafy - Presentación EFT</dc:title>
  <dc:subject>Aulafy - Presentación EFT</dc:subject>
  <dc:creator>Kath Valenzuela / Sebastián Briceño</dc:creator>
  <cp:lastModifiedBy>Kath Valenzuela / Sebastián Briceño</cp:lastModifiedBy>
  <cp:revision>1</cp:revision>
  <dcterms:created xsi:type="dcterms:W3CDTF">2026-07-17T02:04:42Z</dcterms:created>
  <dcterms:modified xsi:type="dcterms:W3CDTF">2026-07-17T02:04:42Z</dcterms:modified>
</cp:coreProperties>
</file>